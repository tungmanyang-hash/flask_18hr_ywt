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51" r:id="rId1"/>
  </p:sldMasterIdLst>
  <p:notesMasterIdLst>
    <p:notesMasterId r:id="rId20"/>
  </p:notesMasterIdLst>
  <p:handoutMasterIdLst>
    <p:handoutMasterId r:id="rId21"/>
  </p:handoutMasterIdLst>
  <p:sldIdLst>
    <p:sldId id="331" r:id="rId2"/>
    <p:sldId id="399" r:id="rId3"/>
    <p:sldId id="413" r:id="rId4"/>
    <p:sldId id="400" r:id="rId5"/>
    <p:sldId id="416" r:id="rId6"/>
    <p:sldId id="417" r:id="rId7"/>
    <p:sldId id="401" r:id="rId8"/>
    <p:sldId id="415" r:id="rId9"/>
    <p:sldId id="402" r:id="rId10"/>
    <p:sldId id="414" r:id="rId11"/>
    <p:sldId id="412" r:id="rId12"/>
    <p:sldId id="404" r:id="rId13"/>
    <p:sldId id="405" r:id="rId14"/>
    <p:sldId id="403" r:id="rId15"/>
    <p:sldId id="406" r:id="rId16"/>
    <p:sldId id="408" r:id="rId17"/>
    <p:sldId id="410" r:id="rId18"/>
    <p:sldId id="409" r:id="rId19"/>
  </p:sldIdLst>
  <p:sldSz cx="12192000" cy="6858000"/>
  <p:notesSz cx="6807200" cy="9939338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isaac" initials="i" lastIdx="1" clrIdx="0">
    <p:extLst>
      <p:ext uri="{19B8F6BF-5375-455C-9EA6-DF929625EA0E}">
        <p15:presenceInfo xmlns:p15="http://schemas.microsoft.com/office/powerpoint/2012/main" userId="isaac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AF8"/>
    <a:srgbClr val="0000FF"/>
    <a:srgbClr val="000000"/>
    <a:srgbClr val="FFFFFF"/>
    <a:srgbClr val="323E1A"/>
    <a:srgbClr val="003300"/>
    <a:srgbClr val="00009A"/>
    <a:srgbClr val="0000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D083AE6-46FA-4A59-8FB0-9F97EB10719F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B301B821-A1FF-4177-AEE7-76D212191A09}" styleName="中等深淺樣式 1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0660B408-B3CF-4A94-85FC-2B1E0A45F4A2}" styleName="深色樣式 2 - 輔色 1/輔色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ED083AE6-46FA-4A59-8FB0-9F97EB10719F}" styleName="淺色樣式 3 - 輔色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2298" y="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ommentAuthors" Target="commentAuthors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昱維 曹" userId="611d57ab1da5f08a" providerId="Windows Live" clId="Web-{87A714B4-D339-15F7-E7E9-FCA3DD99E208}"/>
    <pc:docChg chg="modSld">
      <pc:chgData name="昱維 曹" userId="611d57ab1da5f08a" providerId="Windows Live" clId="Web-{87A714B4-D339-15F7-E7E9-FCA3DD99E208}" dt="2026-05-30T02:55:09.479" v="14" actId="20577"/>
      <pc:docMkLst>
        <pc:docMk/>
      </pc:docMkLst>
      <pc:sldChg chg="modSp">
        <pc:chgData name="昱維 曹" userId="611d57ab1da5f08a" providerId="Windows Live" clId="Web-{87A714B4-D339-15F7-E7E9-FCA3DD99E208}" dt="2026-05-30T02:55:09.479" v="14" actId="20577"/>
        <pc:sldMkLst>
          <pc:docMk/>
          <pc:sldMk cId="1727537524" sldId="409"/>
        </pc:sldMkLst>
        <pc:spChg chg="mod">
          <ac:chgData name="昱維 曹" userId="611d57ab1da5f08a" providerId="Windows Live" clId="Web-{87A714B4-D339-15F7-E7E9-FCA3DD99E208}" dt="2026-05-30T02:55:09.479" v="14" actId="20577"/>
          <ac:spMkLst>
            <pc:docMk/>
            <pc:sldMk cId="1727537524" sldId="409"/>
            <ac:spMk id="6" creationId="{FEF97EE1-839A-4367-9BE5-064DDF4F240D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56038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BF5AB9-3463-4E65-AFD3-5431B79ADFDC}" type="datetimeFigureOut">
              <a:rPr lang="zh-TW" altLang="en-US" smtClean="0"/>
              <a:t>2026/6/6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56038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A0C45D-A6E0-411D-9D9F-B22D9F5136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52107376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9440863"/>
            <a:ext cx="376364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r"/>
            <a:r>
              <a:rPr lang="en-US" altLang="zh-TW"/>
              <a:t>© Institute for Information Industry. All rights reserved. </a:t>
            </a: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56038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TW"/>
              <a:t>1-</a:t>
            </a:r>
            <a:fld id="{6F9E9FB9-4D1E-4A88-8F87-B34AFE16905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7E4D81D0-FCC8-42FD-B0AF-6DA70B5F6E70}"/>
              </a:ext>
            </a:extLst>
          </p:cNvPr>
          <p:cNvSpPr/>
          <p:nvPr/>
        </p:nvSpPr>
        <p:spPr>
          <a:xfrm>
            <a:off x="91232" y="8110145"/>
            <a:ext cx="6623050" cy="110799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b="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【Key Points】</a:t>
            </a:r>
          </a:p>
          <a:p>
            <a:pPr algn="l"/>
            <a:endParaRPr lang="zh-TW" altLang="en-US"/>
          </a:p>
        </p:txBody>
      </p:sp>
      <p:sp>
        <p:nvSpPr>
          <p:cNvPr id="9" name="投影片圖像版面配置區 3">
            <a:extLst>
              <a:ext uri="{FF2B5EF4-FFF2-40B4-BE49-F238E27FC236}">
                <a16:creationId xmlns:a16="http://schemas.microsoft.com/office/drawing/2014/main" id="{3A6EF303-87EA-4AFE-8AF8-60DA97A171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6125"/>
            <a:ext cx="662305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13" name="備忘稿版面配置區 4">
            <a:extLst>
              <a:ext uri="{FF2B5EF4-FFF2-40B4-BE49-F238E27FC236}">
                <a16:creationId xmlns:a16="http://schemas.microsoft.com/office/drawing/2014/main" id="{8E303468-187E-49A8-9D33-C12B34DA2A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232" y="4609629"/>
            <a:ext cx="6623050" cy="3500516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91953023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lnSpc>
        <a:spcPts val="1600"/>
      </a:lnSpc>
      <a:defRPr sz="1200" kern="1200">
        <a:solidFill>
          <a:srgbClr val="000000"/>
        </a:solidFill>
        <a:latin typeface="Arial" panose="020B0604020202020204" pitchFamily="34" charset="0"/>
        <a:ea typeface="新細明體" panose="02020500000000000000" pitchFamily="18" charset="-120"/>
        <a:cs typeface="Arial" panose="020B0604020202020204" pitchFamily="34" charset="0"/>
      </a:defRPr>
    </a:lvl1pPr>
    <a:lvl2pPr marL="457200" algn="l" defTabSz="914400" rtl="0" eaLnBrk="1" latinLnBrk="0" hangingPunct="1">
      <a:lnSpc>
        <a:spcPts val="1600"/>
      </a:lnSpc>
      <a:defRPr sz="1200" kern="1200">
        <a:solidFill>
          <a:srgbClr val="000000"/>
        </a:solidFill>
        <a:latin typeface="Arial" panose="020B0604020202020204" pitchFamily="34" charset="0"/>
        <a:ea typeface="新細明體" panose="02020500000000000000" pitchFamily="18" charset="-120"/>
        <a:cs typeface="Arial" panose="020B0604020202020204" pitchFamily="34" charset="0"/>
      </a:defRPr>
    </a:lvl2pPr>
    <a:lvl3pPr marL="914400" algn="l" defTabSz="914400" rtl="0" eaLnBrk="1" latinLnBrk="0" hangingPunct="1">
      <a:lnSpc>
        <a:spcPts val="1600"/>
      </a:lnSpc>
      <a:defRPr sz="1200" kern="1200">
        <a:solidFill>
          <a:srgbClr val="000000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3pPr>
    <a:lvl4pPr marL="1371600" algn="l" defTabSz="914400" rtl="0" eaLnBrk="1" latinLnBrk="0" hangingPunct="1">
      <a:lnSpc>
        <a:spcPts val="1600"/>
      </a:lnSpc>
      <a:defRPr sz="1200" kern="1200">
        <a:solidFill>
          <a:srgbClr val="000000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4pPr>
    <a:lvl5pPr marL="1828800" algn="l" defTabSz="914400" rtl="0" eaLnBrk="1" latinLnBrk="0" hangingPunct="1">
      <a:lnSpc>
        <a:spcPts val="1600"/>
      </a:lnSpc>
      <a:defRPr sz="1200" kern="1200">
        <a:solidFill>
          <a:srgbClr val="000000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chih.sheng.huang821/%E6%A9%9F%E5%99%A8%E5%AD%B8%E7%BF%92-%E5%9F%BA%E7%A4%8E%E6%95%B8%E5%AD%B8-%E4%B8%89-%E6%A2%AF%E5%BA%A6%E6%9C%80%E4%BD%B3%E8%A7%A3%E7%9B%B8%E9%97%9C%E7%AE%97%E6%B3%95-gradient-descent-optimization-algorithms-b61ed1478bd7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chih.sheng.huang821/%E6%A9%9F%E5%99%A8%E5%AD%B8%E7%BF%92-%E5%9F%BA%E7%A4%8E%E6%95%B8%E5%AD%B8-%E4%B8%89-%E6%A2%AF%E5%BA%A6%E6%9C%80%E4%BD%B3%E8%A7%A3%E7%9B%B8%E9%97%9C%E7%AE%97%E6%B3%95-gradient-descent-optimization-algorithms-b61ed1478bd7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violin-tao.blogspot.com/2017/07/ml-backpropagation.html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www.zhihu.com/question/27239198" TargetMode="Externa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algn="r"/>
            <a:r>
              <a:rPr lang="en-US" altLang="zh-TW"/>
              <a:t>© Institute for Information Industry. All rights reserved. </a:t>
            </a:r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TW"/>
              <a:t>1-</a:t>
            </a:r>
            <a:fld id="{6F9E9FB9-4D1E-4A88-8F87-B34AFE16905A}" type="slidenum">
              <a:rPr lang="zh-TW" altLang="en-US" smtClean="0"/>
              <a:pPr/>
              <a:t>0</a:t>
            </a:fld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11BF7A2D-EE60-43A8-8E8A-1CA3E7F4432C}"/>
              </a:ext>
            </a:extLst>
          </p:cNvPr>
          <p:cNvSpPr txBox="1"/>
          <p:nvPr/>
        </p:nvSpPr>
        <p:spPr>
          <a:xfrm>
            <a:off x="91232" y="8426053"/>
            <a:ext cx="66230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>
                <a:solidFill>
                  <a:srgbClr val="0000FF"/>
                </a:solidFill>
              </a:rPr>
              <a:t>每一個章節預估用</a:t>
            </a:r>
            <a:r>
              <a:rPr lang="en-US" altLang="zh-TW" sz="1200">
                <a:solidFill>
                  <a:srgbClr val="0000FF"/>
                </a:solidFill>
              </a:rPr>
              <a:t>30</a:t>
            </a:r>
            <a:r>
              <a:rPr lang="zh-TW" altLang="en-US" sz="1200">
                <a:solidFill>
                  <a:srgbClr val="0000FF"/>
                </a:solidFill>
              </a:rPr>
              <a:t>分鐘講授課程內容，</a:t>
            </a:r>
            <a:r>
              <a:rPr lang="en-US" altLang="zh-TW" sz="1200">
                <a:solidFill>
                  <a:srgbClr val="0000FF"/>
                </a:solidFill>
              </a:rPr>
              <a:t>20</a:t>
            </a:r>
            <a:r>
              <a:rPr lang="zh-TW" altLang="en-US" sz="1200">
                <a:solidFill>
                  <a:srgbClr val="0000FF"/>
                </a:solidFill>
              </a:rPr>
              <a:t>分鐘讓學員實做</a:t>
            </a:r>
            <a:r>
              <a:rPr lang="en-US" altLang="zh-TW" sz="1200">
                <a:solidFill>
                  <a:srgbClr val="0000FF"/>
                </a:solidFill>
              </a:rPr>
              <a:t>Lab</a:t>
            </a:r>
            <a:r>
              <a:rPr lang="zh-TW" altLang="en-US" sz="1200">
                <a:solidFill>
                  <a:srgbClr val="0000FF"/>
                </a:solidFill>
              </a:rPr>
              <a:t>，</a:t>
            </a:r>
            <a:r>
              <a:rPr lang="en-US" altLang="zh-TW" sz="1200">
                <a:solidFill>
                  <a:srgbClr val="0000FF"/>
                </a:solidFill>
              </a:rPr>
              <a:t>10</a:t>
            </a:r>
            <a:r>
              <a:rPr lang="zh-TW" altLang="en-US" sz="1200">
                <a:solidFill>
                  <a:srgbClr val="0000FF"/>
                </a:solidFill>
              </a:rPr>
              <a:t>分鐘討論或休息。</a:t>
            </a:r>
          </a:p>
          <a:p>
            <a:endParaRPr lang="zh-TW" altLang="en-US" sz="120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22316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algn="r"/>
            <a:r>
              <a:rPr lang="en-US" altLang="zh-TW"/>
              <a:t>© Institute for Information Industry. All rights reserved. </a:t>
            </a:r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TW"/>
              <a:t>1-</a:t>
            </a:r>
            <a:fld id="{6F9E9FB9-4D1E-4A88-8F87-B34AFE16905A}" type="slidenum">
              <a:rPr lang="zh-TW" altLang="en-US" smtClean="0"/>
              <a:pPr/>
              <a:t>1</a:t>
            </a:fld>
            <a:endParaRPr lang="zh-TW" altLang="en-US"/>
          </a:p>
        </p:txBody>
      </p:sp>
      <p:sp>
        <p:nvSpPr>
          <p:cNvPr id="7" name="文字方塊 5">
            <a:extLst>
              <a:ext uri="{FF2B5EF4-FFF2-40B4-BE49-F238E27FC236}">
                <a16:creationId xmlns:a16="http://schemas.microsoft.com/office/drawing/2014/main" id="{1D05AC55-597A-4D2A-AE03-3E3DA8F10BBC}"/>
              </a:ext>
            </a:extLst>
          </p:cNvPr>
          <p:cNvSpPr txBox="1"/>
          <p:nvPr/>
        </p:nvSpPr>
        <p:spPr>
          <a:xfrm>
            <a:off x="91232" y="8354045"/>
            <a:ext cx="662305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AutoNum type="arabicPeriod"/>
            </a:pPr>
            <a:r>
              <a:rPr lang="en-US" altLang="zh-TW" sz="1200">
                <a:solidFill>
                  <a:srgbClr val="0000FF"/>
                </a:solidFill>
              </a:rPr>
              <a:t>Backpropagation</a:t>
            </a:r>
            <a:r>
              <a:rPr lang="zh-TW" altLang="en-US" sz="1200">
                <a:solidFill>
                  <a:srgbClr val="0000FF"/>
                </a:solidFill>
              </a:rPr>
              <a:t>是一種與最優化方結合使用的，用來訓練神經網路的常見方法</a:t>
            </a:r>
            <a:endParaRPr lang="en-US" altLang="zh-TW" sz="1200">
              <a:solidFill>
                <a:srgbClr val="0000FF"/>
              </a:solidFill>
            </a:endParaRPr>
          </a:p>
          <a:p>
            <a:pPr marL="228600" indent="-228600">
              <a:buAutoNum type="arabicPeriod"/>
            </a:pPr>
            <a:r>
              <a:rPr lang="en-US" altLang="zh-TW" sz="1200">
                <a:hlinkClick r:id="rId3"/>
              </a:rPr>
              <a:t>https://medium.com/@chih.sheng.huang821/%E6%A9%9F%E5%99%A8%E5%AD%B8%E7%BF%92-%E5%9F%BA%E7%A4%8E%E6%95%B8%E5%AD%B8-%E4%B8%89-%E6%A2%AF%E5%BA%A6%E6%9C%80%E4%BD%B3%E8%A7%A3%E7%9B%B8%E9%97%9C%E7%AE%97%E6%B3%95-gradient-descent-optimization-algorithms-b61ed1478bd7 </a:t>
            </a:r>
            <a:endParaRPr lang="en-US" altLang="zh-TW" sz="1200"/>
          </a:p>
          <a:p>
            <a:pPr marL="228600" indent="-228600">
              <a:buAutoNum type="arabicPeriod"/>
            </a:pPr>
            <a:r>
              <a:rPr lang="en-US" altLang="zh-TW" sz="1200">
                <a:solidFill>
                  <a:srgbClr val="0000FF"/>
                </a:solidFill>
              </a:rPr>
              <a:t>Learning rate </a:t>
            </a:r>
            <a:r>
              <a:rPr lang="zh-TW" altLang="en-US" sz="1200">
                <a:solidFill>
                  <a:srgbClr val="0000FF"/>
                </a:solidFill>
              </a:rPr>
              <a:t>調整會對訓練有很大影響</a:t>
            </a:r>
          </a:p>
        </p:txBody>
      </p:sp>
    </p:spTree>
    <p:extLst>
      <p:ext uri="{BB962C8B-B14F-4D97-AF65-F5344CB8AC3E}">
        <p14:creationId xmlns:p14="http://schemas.microsoft.com/office/powerpoint/2010/main" val="16186878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1200" spc="-1" dirty="0" err="1">
                <a:solidFill>
                  <a:schemeClr val="bg1"/>
                </a:solidFill>
                <a:ea typeface="+mn-lt"/>
                <a:cs typeface="+mn-lt"/>
              </a:rPr>
              <a:t>Werkzeug</a:t>
            </a:r>
            <a:r>
              <a:rPr lang="zh-TW" altLang="en-US" sz="1200" spc="-1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altLang="zh-TW" b="0" i="0">
                <a:solidFill>
                  <a:srgbClr val="202122"/>
                </a:solidFill>
                <a:effectLst/>
                <a:latin typeface="Gentium"/>
              </a:rPr>
              <a:t>/</a:t>
            </a:r>
            <a:r>
              <a:rPr lang="en-US" altLang="zh-TW" b="0" i="0" dirty="0">
                <a:solidFill>
                  <a:srgbClr val="202122"/>
                </a:solidFill>
                <a:effectLst/>
                <a:latin typeface="Gentium"/>
              </a:rPr>
              <a:t>ˈ</a:t>
            </a:r>
            <a:r>
              <a:rPr lang="en-US" altLang="zh-TW" b="0" i="0" dirty="0" err="1">
                <a:solidFill>
                  <a:srgbClr val="202122"/>
                </a:solidFill>
                <a:effectLst/>
                <a:latin typeface="Gentium"/>
              </a:rPr>
              <a:t>vɛʁkˌtsɔʏ̯k</a:t>
            </a:r>
            <a:r>
              <a:rPr lang="en-US" altLang="zh-TW" b="0" i="0" dirty="0">
                <a:solidFill>
                  <a:srgbClr val="202122"/>
                </a:solidFill>
                <a:effectLst/>
                <a:latin typeface="Gentium"/>
              </a:rPr>
              <a:t>/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algn="r"/>
            <a:r>
              <a:rPr lang="en-US" altLang="zh-TW"/>
              <a:t>© Institute for Information Industry. All rights reserved. </a:t>
            </a:r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TW"/>
              <a:t>1-</a:t>
            </a:r>
            <a:fld id="{6F9E9FB9-4D1E-4A88-8F87-B34AFE16905A}" type="slidenum">
              <a:rPr lang="zh-TW" altLang="en-US" smtClean="0"/>
              <a:pPr/>
              <a:t>2</a:t>
            </a:fld>
            <a:endParaRPr lang="zh-TW" altLang="en-US"/>
          </a:p>
        </p:txBody>
      </p:sp>
      <p:sp>
        <p:nvSpPr>
          <p:cNvPr id="7" name="文字方塊 5">
            <a:extLst>
              <a:ext uri="{FF2B5EF4-FFF2-40B4-BE49-F238E27FC236}">
                <a16:creationId xmlns:a16="http://schemas.microsoft.com/office/drawing/2014/main" id="{1D05AC55-597A-4D2A-AE03-3E3DA8F10BBC}"/>
              </a:ext>
            </a:extLst>
          </p:cNvPr>
          <p:cNvSpPr txBox="1"/>
          <p:nvPr/>
        </p:nvSpPr>
        <p:spPr>
          <a:xfrm>
            <a:off x="91232" y="8354045"/>
            <a:ext cx="662305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AutoNum type="arabicPeriod"/>
            </a:pPr>
            <a:r>
              <a:rPr lang="en-US" altLang="zh-TW" sz="1200">
                <a:solidFill>
                  <a:srgbClr val="0000FF"/>
                </a:solidFill>
              </a:rPr>
              <a:t>Backpropagation</a:t>
            </a:r>
            <a:r>
              <a:rPr lang="zh-TW" altLang="en-US" sz="1200">
                <a:solidFill>
                  <a:srgbClr val="0000FF"/>
                </a:solidFill>
              </a:rPr>
              <a:t>是一種與最優化方結合使用的，用來訓練神經網路的常見方法</a:t>
            </a:r>
            <a:endParaRPr lang="en-US" altLang="zh-TW" sz="1200">
              <a:solidFill>
                <a:srgbClr val="0000FF"/>
              </a:solidFill>
            </a:endParaRPr>
          </a:p>
          <a:p>
            <a:pPr marL="228600" indent="-228600">
              <a:buAutoNum type="arabicPeriod"/>
            </a:pPr>
            <a:r>
              <a:rPr lang="en-US" altLang="zh-TW" sz="1200">
                <a:hlinkClick r:id="rId3"/>
              </a:rPr>
              <a:t>https://medium.com/@chih.sheng.huang821/%E6%A9%9F%E5%99%A8%E5%AD%B8%E7%BF%92-%E5%9F%BA%E7%A4%8E%E6%95%B8%E5%AD%B8-%E4%B8%89-%E6%A2%AF%E5%BA%A6%E6%9C%80%E4%BD%B3%E8%A7%A3%E7%9B%B8%E9%97%9C%E7%AE%97%E6%B3%95-gradient-descent-optimization-algorithms-b61ed1478bd7 </a:t>
            </a:r>
            <a:endParaRPr lang="en-US" altLang="zh-TW" sz="1200"/>
          </a:p>
          <a:p>
            <a:pPr marL="228600" indent="-228600">
              <a:buAutoNum type="arabicPeriod"/>
            </a:pPr>
            <a:r>
              <a:rPr lang="en-US" altLang="zh-TW" sz="1200">
                <a:solidFill>
                  <a:srgbClr val="0000FF"/>
                </a:solidFill>
              </a:rPr>
              <a:t>Learning rate </a:t>
            </a:r>
            <a:r>
              <a:rPr lang="zh-TW" altLang="en-US" sz="1200">
                <a:solidFill>
                  <a:srgbClr val="0000FF"/>
                </a:solidFill>
              </a:rPr>
              <a:t>調整會對訓練有很大影響</a:t>
            </a:r>
          </a:p>
        </p:txBody>
      </p:sp>
    </p:spTree>
    <p:extLst>
      <p:ext uri="{BB962C8B-B14F-4D97-AF65-F5344CB8AC3E}">
        <p14:creationId xmlns:p14="http://schemas.microsoft.com/office/powerpoint/2010/main" val="33702352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algn="r"/>
            <a:r>
              <a:rPr lang="en-US" altLang="zh-TW"/>
              <a:t>© Institute for Information Industry. All rights reserved. </a:t>
            </a:r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TW"/>
              <a:t>1-</a:t>
            </a:r>
            <a:fld id="{6F9E9FB9-4D1E-4A88-8F87-B34AFE16905A}" type="slidenum">
              <a:rPr lang="zh-TW" altLang="en-US" smtClean="0"/>
              <a:pPr/>
              <a:t>3</a:t>
            </a:fld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20E4DDA4-E70E-4F2F-991C-AE6749A9BEA7}"/>
              </a:ext>
            </a:extLst>
          </p:cNvPr>
          <p:cNvSpPr txBox="1"/>
          <p:nvPr/>
        </p:nvSpPr>
        <p:spPr>
          <a:xfrm>
            <a:off x="91232" y="8426053"/>
            <a:ext cx="66230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AutoNum type="arabicPeriod"/>
            </a:pPr>
            <a:r>
              <a:rPr lang="en-US" altLang="zh-TW" sz="1200">
                <a:hlinkClick r:id="rId3"/>
              </a:rPr>
              <a:t>http://violin-tao.blogspot.com/2017/07/ml-backpropagation.html</a:t>
            </a:r>
            <a:endParaRPr lang="en-US" altLang="zh-TW" sz="1200"/>
          </a:p>
          <a:p>
            <a:pPr marL="228600" indent="-228600">
              <a:buAutoNum type="arabicPeriod"/>
            </a:pPr>
            <a:r>
              <a:rPr lang="en-US" altLang="zh-TW" sz="1200">
                <a:hlinkClick r:id="rId4"/>
              </a:rPr>
              <a:t>https://www.zhihu.com/question/27239198</a:t>
            </a:r>
            <a:endParaRPr lang="en-US" altLang="zh-TW" sz="1200"/>
          </a:p>
          <a:p>
            <a:pPr marL="228600" indent="-228600">
              <a:buAutoNum type="arabicPeriod"/>
            </a:pPr>
            <a:r>
              <a:rPr lang="zh-TW" altLang="en-US" sz="1200">
                <a:solidFill>
                  <a:srgbClr val="0000FF"/>
                </a:solidFill>
              </a:rPr>
              <a:t>更新權重的方法</a:t>
            </a:r>
          </a:p>
        </p:txBody>
      </p:sp>
    </p:spTree>
    <p:extLst>
      <p:ext uri="{BB962C8B-B14F-4D97-AF65-F5344CB8AC3E}">
        <p14:creationId xmlns:p14="http://schemas.microsoft.com/office/powerpoint/2010/main" val="16568918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algn="r"/>
            <a:r>
              <a:rPr lang="en-US" altLang="zh-TW"/>
              <a:t>© Institute for Information Industry. All rights reserved. </a:t>
            </a:r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TW"/>
              <a:t>1-</a:t>
            </a:r>
            <a:fld id="{6F9E9FB9-4D1E-4A88-8F87-B34AFE16905A}" type="slidenum">
              <a:rPr lang="zh-TW" altLang="en-US" smtClean="0"/>
              <a:pPr/>
              <a:t>4</a:t>
            </a:fld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FC6B90E-64C2-4328-B98F-17735C42B6AA}"/>
              </a:ext>
            </a:extLst>
          </p:cNvPr>
          <p:cNvSpPr txBox="1"/>
          <p:nvPr/>
        </p:nvSpPr>
        <p:spPr>
          <a:xfrm>
            <a:off x="91232" y="8426053"/>
            <a:ext cx="66230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>
                <a:solidFill>
                  <a:srgbClr val="0000FF"/>
                </a:solidFill>
              </a:rPr>
              <a:t>1.Z</a:t>
            </a:r>
            <a:r>
              <a:rPr lang="zh-TW" altLang="en-US" sz="1200">
                <a:solidFill>
                  <a:srgbClr val="0000FF"/>
                </a:solidFill>
              </a:rPr>
              <a:t>值為權重相加</a:t>
            </a:r>
            <a:endParaRPr lang="en-US" altLang="zh-TW" sz="1200">
              <a:solidFill>
                <a:srgbClr val="0000FF"/>
              </a:solidFill>
            </a:endParaRPr>
          </a:p>
          <a:p>
            <a:r>
              <a:rPr lang="en-US" altLang="zh-TW" sz="1200">
                <a:solidFill>
                  <a:srgbClr val="0000FF"/>
                </a:solidFill>
              </a:rPr>
              <a:t>2.</a:t>
            </a:r>
            <a:r>
              <a:rPr lang="zh-TW" altLang="en-US" sz="1200">
                <a:solidFill>
                  <a:srgbClr val="0000FF"/>
                </a:solidFill>
              </a:rPr>
              <a:t>通常 </a:t>
            </a:r>
            <a:r>
              <a:rPr lang="en-US" altLang="zh-TW" sz="1200">
                <a:solidFill>
                  <a:srgbClr val="0000FF"/>
                </a:solidFill>
              </a:rPr>
              <a:t>activation function </a:t>
            </a:r>
            <a:r>
              <a:rPr lang="zh-TW" altLang="en-US" sz="1200">
                <a:solidFill>
                  <a:srgbClr val="0000FF"/>
                </a:solidFill>
              </a:rPr>
              <a:t>會根據訓練的目的而定</a:t>
            </a:r>
            <a:endParaRPr lang="en-US" altLang="zh-TW" sz="1200">
              <a:solidFill>
                <a:srgbClr val="0000FF"/>
              </a:solidFill>
            </a:endParaRPr>
          </a:p>
          <a:p>
            <a:r>
              <a:rPr lang="en-US" altLang="zh-TW" sz="1200">
                <a:solidFill>
                  <a:srgbClr val="0000FF"/>
                </a:solidFill>
              </a:rPr>
              <a:t>3. activation function</a:t>
            </a:r>
            <a:r>
              <a:rPr lang="zh-TW" altLang="en-US" sz="1200">
                <a:solidFill>
                  <a:srgbClr val="0000FF"/>
                </a:solidFill>
              </a:rPr>
              <a:t>是為了讓神經網路變為非線性</a:t>
            </a:r>
            <a:endParaRPr lang="en-US" altLang="zh-TW" sz="1200">
              <a:solidFill>
                <a:srgbClr val="0000FF"/>
              </a:solidFill>
            </a:endParaRPr>
          </a:p>
          <a:p>
            <a:endParaRPr lang="zh-TW" altLang="en-US" sz="120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28794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algn="r"/>
            <a:r>
              <a:rPr lang="en-US" altLang="zh-TW"/>
              <a:t>© Institute for Information Industry. All rights reserved. </a:t>
            </a:r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TW"/>
              <a:t>1-</a:t>
            </a:r>
            <a:fld id="{6F9E9FB9-4D1E-4A88-8F87-B34AFE16905A}" type="slidenum">
              <a:rPr lang="zh-TW" altLang="en-US" smtClean="0"/>
              <a:pPr/>
              <a:t>5</a:t>
            </a:fld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FC6B90E-64C2-4328-B98F-17735C42B6AA}"/>
              </a:ext>
            </a:extLst>
          </p:cNvPr>
          <p:cNvSpPr txBox="1"/>
          <p:nvPr/>
        </p:nvSpPr>
        <p:spPr>
          <a:xfrm>
            <a:off x="91232" y="8426053"/>
            <a:ext cx="66230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>
                <a:solidFill>
                  <a:srgbClr val="0000FF"/>
                </a:solidFill>
              </a:rPr>
              <a:t>1.Z</a:t>
            </a:r>
            <a:r>
              <a:rPr lang="zh-TW" altLang="en-US" sz="1200">
                <a:solidFill>
                  <a:srgbClr val="0000FF"/>
                </a:solidFill>
              </a:rPr>
              <a:t>值為權重相加</a:t>
            </a:r>
            <a:endParaRPr lang="en-US" altLang="zh-TW" sz="1200">
              <a:solidFill>
                <a:srgbClr val="0000FF"/>
              </a:solidFill>
            </a:endParaRPr>
          </a:p>
          <a:p>
            <a:r>
              <a:rPr lang="en-US" altLang="zh-TW" sz="1200">
                <a:solidFill>
                  <a:srgbClr val="0000FF"/>
                </a:solidFill>
              </a:rPr>
              <a:t>2.</a:t>
            </a:r>
            <a:r>
              <a:rPr lang="zh-TW" altLang="en-US" sz="1200">
                <a:solidFill>
                  <a:srgbClr val="0000FF"/>
                </a:solidFill>
              </a:rPr>
              <a:t>通常 </a:t>
            </a:r>
            <a:r>
              <a:rPr lang="en-US" altLang="zh-TW" sz="1200">
                <a:solidFill>
                  <a:srgbClr val="0000FF"/>
                </a:solidFill>
              </a:rPr>
              <a:t>activation function </a:t>
            </a:r>
            <a:r>
              <a:rPr lang="zh-TW" altLang="en-US" sz="1200">
                <a:solidFill>
                  <a:srgbClr val="0000FF"/>
                </a:solidFill>
              </a:rPr>
              <a:t>會根據訓練的目的而定</a:t>
            </a:r>
            <a:endParaRPr lang="en-US" altLang="zh-TW" sz="1200">
              <a:solidFill>
                <a:srgbClr val="0000FF"/>
              </a:solidFill>
            </a:endParaRPr>
          </a:p>
          <a:p>
            <a:r>
              <a:rPr lang="en-US" altLang="zh-TW" sz="1200">
                <a:solidFill>
                  <a:srgbClr val="0000FF"/>
                </a:solidFill>
              </a:rPr>
              <a:t>3. activation function</a:t>
            </a:r>
            <a:r>
              <a:rPr lang="zh-TW" altLang="en-US" sz="1200">
                <a:solidFill>
                  <a:srgbClr val="0000FF"/>
                </a:solidFill>
              </a:rPr>
              <a:t>是為了讓神經網路變為非線性</a:t>
            </a:r>
            <a:endParaRPr lang="en-US" altLang="zh-TW" sz="1200">
              <a:solidFill>
                <a:srgbClr val="0000FF"/>
              </a:solidFill>
            </a:endParaRPr>
          </a:p>
          <a:p>
            <a:endParaRPr lang="zh-TW" altLang="en-US" sz="120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68619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algn="r"/>
            <a:r>
              <a:rPr lang="en-US" altLang="zh-TW"/>
              <a:t>© Institute for Information Industry. All rights reserved. </a:t>
            </a:r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TW"/>
              <a:t>1-</a:t>
            </a:r>
            <a:fld id="{6F9E9FB9-4D1E-4A88-8F87-B34AFE16905A}" type="slidenum">
              <a:rPr lang="zh-TW" altLang="en-US" smtClean="0"/>
              <a:pPr/>
              <a:t>6</a:t>
            </a:fld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FC6B90E-64C2-4328-B98F-17735C42B6AA}"/>
              </a:ext>
            </a:extLst>
          </p:cNvPr>
          <p:cNvSpPr txBox="1"/>
          <p:nvPr/>
        </p:nvSpPr>
        <p:spPr>
          <a:xfrm>
            <a:off x="91232" y="8426053"/>
            <a:ext cx="66230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>
                <a:solidFill>
                  <a:srgbClr val="0000FF"/>
                </a:solidFill>
              </a:rPr>
              <a:t>1.Z</a:t>
            </a:r>
            <a:r>
              <a:rPr lang="zh-TW" altLang="en-US" sz="1200">
                <a:solidFill>
                  <a:srgbClr val="0000FF"/>
                </a:solidFill>
              </a:rPr>
              <a:t>值為權重相加</a:t>
            </a:r>
            <a:endParaRPr lang="en-US" altLang="zh-TW" sz="1200">
              <a:solidFill>
                <a:srgbClr val="0000FF"/>
              </a:solidFill>
            </a:endParaRPr>
          </a:p>
          <a:p>
            <a:r>
              <a:rPr lang="en-US" altLang="zh-TW" sz="1200">
                <a:solidFill>
                  <a:srgbClr val="0000FF"/>
                </a:solidFill>
              </a:rPr>
              <a:t>2.</a:t>
            </a:r>
            <a:r>
              <a:rPr lang="zh-TW" altLang="en-US" sz="1200">
                <a:solidFill>
                  <a:srgbClr val="0000FF"/>
                </a:solidFill>
              </a:rPr>
              <a:t>通常 </a:t>
            </a:r>
            <a:r>
              <a:rPr lang="en-US" altLang="zh-TW" sz="1200">
                <a:solidFill>
                  <a:srgbClr val="0000FF"/>
                </a:solidFill>
              </a:rPr>
              <a:t>activation function </a:t>
            </a:r>
            <a:r>
              <a:rPr lang="zh-TW" altLang="en-US" sz="1200">
                <a:solidFill>
                  <a:srgbClr val="0000FF"/>
                </a:solidFill>
              </a:rPr>
              <a:t>會根據訓練的目的而定</a:t>
            </a:r>
            <a:endParaRPr lang="en-US" altLang="zh-TW" sz="1200">
              <a:solidFill>
                <a:srgbClr val="0000FF"/>
              </a:solidFill>
            </a:endParaRPr>
          </a:p>
          <a:p>
            <a:r>
              <a:rPr lang="en-US" altLang="zh-TW" sz="1200">
                <a:solidFill>
                  <a:srgbClr val="0000FF"/>
                </a:solidFill>
              </a:rPr>
              <a:t>3. activation function</a:t>
            </a:r>
            <a:r>
              <a:rPr lang="zh-TW" altLang="en-US" sz="1200">
                <a:solidFill>
                  <a:srgbClr val="0000FF"/>
                </a:solidFill>
              </a:rPr>
              <a:t>是為了讓神經網路變為非線性</a:t>
            </a:r>
            <a:endParaRPr lang="en-US" altLang="zh-TW" sz="1200">
              <a:solidFill>
                <a:srgbClr val="0000FF"/>
              </a:solidFill>
            </a:endParaRPr>
          </a:p>
          <a:p>
            <a:endParaRPr lang="zh-TW" altLang="en-US" sz="120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79668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algn="r"/>
            <a:r>
              <a:rPr lang="en-US" altLang="zh-TW"/>
              <a:t>© Institute for Information Industry. All rights reserved. </a:t>
            </a:r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TW"/>
              <a:t>1-</a:t>
            </a:r>
            <a:fld id="{6F9E9FB9-4D1E-4A88-8F87-B34AFE16905A}" type="slidenum">
              <a:rPr lang="zh-TW" altLang="en-US" smtClean="0"/>
              <a:pPr/>
              <a:t>7</a:t>
            </a:fld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FC6B90E-64C2-4328-B98F-17735C42B6AA}"/>
              </a:ext>
            </a:extLst>
          </p:cNvPr>
          <p:cNvSpPr txBox="1"/>
          <p:nvPr/>
        </p:nvSpPr>
        <p:spPr>
          <a:xfrm>
            <a:off x="91232" y="8426053"/>
            <a:ext cx="66230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>
                <a:solidFill>
                  <a:srgbClr val="0000FF"/>
                </a:solidFill>
              </a:rPr>
              <a:t>1.Z</a:t>
            </a:r>
            <a:r>
              <a:rPr lang="zh-TW" altLang="en-US" sz="1200">
                <a:solidFill>
                  <a:srgbClr val="0000FF"/>
                </a:solidFill>
              </a:rPr>
              <a:t>值為權重相加</a:t>
            </a:r>
            <a:endParaRPr lang="en-US" altLang="zh-TW" sz="1200">
              <a:solidFill>
                <a:srgbClr val="0000FF"/>
              </a:solidFill>
            </a:endParaRPr>
          </a:p>
          <a:p>
            <a:r>
              <a:rPr lang="en-US" altLang="zh-TW" sz="1200">
                <a:solidFill>
                  <a:srgbClr val="0000FF"/>
                </a:solidFill>
              </a:rPr>
              <a:t>2.</a:t>
            </a:r>
            <a:r>
              <a:rPr lang="zh-TW" altLang="en-US" sz="1200">
                <a:solidFill>
                  <a:srgbClr val="0000FF"/>
                </a:solidFill>
              </a:rPr>
              <a:t>通常 </a:t>
            </a:r>
            <a:r>
              <a:rPr lang="en-US" altLang="zh-TW" sz="1200">
                <a:solidFill>
                  <a:srgbClr val="0000FF"/>
                </a:solidFill>
              </a:rPr>
              <a:t>activation function </a:t>
            </a:r>
            <a:r>
              <a:rPr lang="zh-TW" altLang="en-US" sz="1200">
                <a:solidFill>
                  <a:srgbClr val="0000FF"/>
                </a:solidFill>
              </a:rPr>
              <a:t>會根據訓練的目的而定</a:t>
            </a:r>
            <a:endParaRPr lang="en-US" altLang="zh-TW" sz="1200">
              <a:solidFill>
                <a:srgbClr val="0000FF"/>
              </a:solidFill>
            </a:endParaRPr>
          </a:p>
          <a:p>
            <a:r>
              <a:rPr lang="en-US" altLang="zh-TW" sz="1200">
                <a:solidFill>
                  <a:srgbClr val="0000FF"/>
                </a:solidFill>
              </a:rPr>
              <a:t>3. activation function</a:t>
            </a:r>
            <a:r>
              <a:rPr lang="zh-TW" altLang="en-US" sz="1200">
                <a:solidFill>
                  <a:srgbClr val="0000FF"/>
                </a:solidFill>
              </a:rPr>
              <a:t>是為了讓神經網路變為非線性</a:t>
            </a:r>
            <a:endParaRPr lang="en-US" altLang="zh-TW" sz="1200">
              <a:solidFill>
                <a:srgbClr val="0000FF"/>
              </a:solidFill>
            </a:endParaRPr>
          </a:p>
          <a:p>
            <a:endParaRPr lang="zh-TW" altLang="en-US" sz="120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4150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algn="r"/>
            <a:r>
              <a:rPr lang="en-US" altLang="zh-TW"/>
              <a:t>© Institute for Information Industry. All rights reserved. </a:t>
            </a:r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TW"/>
              <a:t>1-</a:t>
            </a:r>
            <a:fld id="{6F9E9FB9-4D1E-4A88-8F87-B34AFE16905A}" type="slidenum">
              <a:rPr lang="zh-TW" altLang="en-US" smtClean="0"/>
              <a:pPr/>
              <a:t>8</a:t>
            </a:fld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FC6B90E-64C2-4328-B98F-17735C42B6AA}"/>
              </a:ext>
            </a:extLst>
          </p:cNvPr>
          <p:cNvSpPr txBox="1"/>
          <p:nvPr/>
        </p:nvSpPr>
        <p:spPr>
          <a:xfrm>
            <a:off x="91232" y="8426053"/>
            <a:ext cx="66230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>
                <a:solidFill>
                  <a:srgbClr val="0000FF"/>
                </a:solidFill>
              </a:rPr>
              <a:t>1.Z</a:t>
            </a:r>
            <a:r>
              <a:rPr lang="zh-TW" altLang="en-US" sz="1200">
                <a:solidFill>
                  <a:srgbClr val="0000FF"/>
                </a:solidFill>
              </a:rPr>
              <a:t>值為權重相加</a:t>
            </a:r>
            <a:endParaRPr lang="en-US" altLang="zh-TW" sz="1200">
              <a:solidFill>
                <a:srgbClr val="0000FF"/>
              </a:solidFill>
            </a:endParaRPr>
          </a:p>
          <a:p>
            <a:r>
              <a:rPr lang="en-US" altLang="zh-TW" sz="1200">
                <a:solidFill>
                  <a:srgbClr val="0000FF"/>
                </a:solidFill>
              </a:rPr>
              <a:t>2.</a:t>
            </a:r>
            <a:r>
              <a:rPr lang="zh-TW" altLang="en-US" sz="1200">
                <a:solidFill>
                  <a:srgbClr val="0000FF"/>
                </a:solidFill>
              </a:rPr>
              <a:t>通常 </a:t>
            </a:r>
            <a:r>
              <a:rPr lang="en-US" altLang="zh-TW" sz="1200">
                <a:solidFill>
                  <a:srgbClr val="0000FF"/>
                </a:solidFill>
              </a:rPr>
              <a:t>activation function </a:t>
            </a:r>
            <a:r>
              <a:rPr lang="zh-TW" altLang="en-US" sz="1200">
                <a:solidFill>
                  <a:srgbClr val="0000FF"/>
                </a:solidFill>
              </a:rPr>
              <a:t>會根據訓練的目的而定</a:t>
            </a:r>
            <a:endParaRPr lang="en-US" altLang="zh-TW" sz="1200">
              <a:solidFill>
                <a:srgbClr val="0000FF"/>
              </a:solidFill>
            </a:endParaRPr>
          </a:p>
          <a:p>
            <a:r>
              <a:rPr lang="en-US" altLang="zh-TW" sz="1200">
                <a:solidFill>
                  <a:srgbClr val="0000FF"/>
                </a:solidFill>
              </a:rPr>
              <a:t>3. activation function</a:t>
            </a:r>
            <a:r>
              <a:rPr lang="zh-TW" altLang="en-US" sz="1200">
                <a:solidFill>
                  <a:srgbClr val="0000FF"/>
                </a:solidFill>
              </a:rPr>
              <a:t>是為了讓神經網路變為非線性</a:t>
            </a:r>
            <a:endParaRPr lang="en-US" altLang="zh-TW" sz="1200">
              <a:solidFill>
                <a:srgbClr val="0000FF"/>
              </a:solidFill>
            </a:endParaRPr>
          </a:p>
          <a:p>
            <a:endParaRPr lang="zh-TW" altLang="en-US" sz="120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04759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algn="r"/>
            <a:r>
              <a:rPr lang="en-US" altLang="zh-TW"/>
              <a:t>© Institute for Information Industry. All rights reserved. </a:t>
            </a:r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TW"/>
              <a:t>1-</a:t>
            </a:r>
            <a:fld id="{6F9E9FB9-4D1E-4A88-8F87-B34AFE16905A}" type="slidenum">
              <a:rPr lang="zh-TW" altLang="en-US" smtClean="0"/>
              <a:pPr/>
              <a:t>9</a:t>
            </a:fld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FC6B90E-64C2-4328-B98F-17735C42B6AA}"/>
              </a:ext>
            </a:extLst>
          </p:cNvPr>
          <p:cNvSpPr txBox="1"/>
          <p:nvPr/>
        </p:nvSpPr>
        <p:spPr>
          <a:xfrm>
            <a:off x="91232" y="8426053"/>
            <a:ext cx="66230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>
                <a:solidFill>
                  <a:srgbClr val="0000FF"/>
                </a:solidFill>
              </a:rPr>
              <a:t>1.Z</a:t>
            </a:r>
            <a:r>
              <a:rPr lang="zh-TW" altLang="en-US" sz="1200">
                <a:solidFill>
                  <a:srgbClr val="0000FF"/>
                </a:solidFill>
              </a:rPr>
              <a:t>值為權重相加</a:t>
            </a:r>
            <a:endParaRPr lang="en-US" altLang="zh-TW" sz="1200">
              <a:solidFill>
                <a:srgbClr val="0000FF"/>
              </a:solidFill>
            </a:endParaRPr>
          </a:p>
          <a:p>
            <a:r>
              <a:rPr lang="en-US" altLang="zh-TW" sz="1200">
                <a:solidFill>
                  <a:srgbClr val="0000FF"/>
                </a:solidFill>
              </a:rPr>
              <a:t>2.</a:t>
            </a:r>
            <a:r>
              <a:rPr lang="zh-TW" altLang="en-US" sz="1200">
                <a:solidFill>
                  <a:srgbClr val="0000FF"/>
                </a:solidFill>
              </a:rPr>
              <a:t>通常 </a:t>
            </a:r>
            <a:r>
              <a:rPr lang="en-US" altLang="zh-TW" sz="1200">
                <a:solidFill>
                  <a:srgbClr val="0000FF"/>
                </a:solidFill>
              </a:rPr>
              <a:t>activation function </a:t>
            </a:r>
            <a:r>
              <a:rPr lang="zh-TW" altLang="en-US" sz="1200">
                <a:solidFill>
                  <a:srgbClr val="0000FF"/>
                </a:solidFill>
              </a:rPr>
              <a:t>會根據訓練的目的而定</a:t>
            </a:r>
            <a:endParaRPr lang="en-US" altLang="zh-TW" sz="1200">
              <a:solidFill>
                <a:srgbClr val="0000FF"/>
              </a:solidFill>
            </a:endParaRPr>
          </a:p>
          <a:p>
            <a:r>
              <a:rPr lang="en-US" altLang="zh-TW" sz="1200">
                <a:solidFill>
                  <a:srgbClr val="0000FF"/>
                </a:solidFill>
              </a:rPr>
              <a:t>3. activation function</a:t>
            </a:r>
            <a:r>
              <a:rPr lang="zh-TW" altLang="en-US" sz="1200">
                <a:solidFill>
                  <a:srgbClr val="0000FF"/>
                </a:solidFill>
              </a:rPr>
              <a:t>是為了讓神經網路變為非線性</a:t>
            </a:r>
            <a:endParaRPr lang="en-US" altLang="zh-TW" sz="1200">
              <a:solidFill>
                <a:srgbClr val="0000FF"/>
              </a:solidFill>
            </a:endParaRPr>
          </a:p>
          <a:p>
            <a:endParaRPr lang="zh-TW" altLang="en-US" sz="120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45106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algn="r"/>
            <a:r>
              <a:rPr lang="en-US" altLang="zh-TW"/>
              <a:t>© Institute for Information Industry. All rights reserved. </a:t>
            </a:r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TW"/>
              <a:t>1-</a:t>
            </a:r>
            <a:fld id="{6F9E9FB9-4D1E-4A88-8F87-B34AFE16905A}" type="slidenum">
              <a:rPr lang="zh-TW" altLang="en-US" smtClean="0"/>
              <a:pPr/>
              <a:t>10</a:t>
            </a:fld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FC6B90E-64C2-4328-B98F-17735C42B6AA}"/>
              </a:ext>
            </a:extLst>
          </p:cNvPr>
          <p:cNvSpPr txBox="1"/>
          <p:nvPr/>
        </p:nvSpPr>
        <p:spPr>
          <a:xfrm>
            <a:off x="91232" y="8426053"/>
            <a:ext cx="66230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>
                <a:solidFill>
                  <a:srgbClr val="0000FF"/>
                </a:solidFill>
              </a:rPr>
              <a:t>1.Z</a:t>
            </a:r>
            <a:r>
              <a:rPr lang="zh-TW" altLang="en-US" sz="1200">
                <a:solidFill>
                  <a:srgbClr val="0000FF"/>
                </a:solidFill>
              </a:rPr>
              <a:t>值為權重相加</a:t>
            </a:r>
            <a:endParaRPr lang="en-US" altLang="zh-TW" sz="1200">
              <a:solidFill>
                <a:srgbClr val="0000FF"/>
              </a:solidFill>
            </a:endParaRPr>
          </a:p>
          <a:p>
            <a:r>
              <a:rPr lang="en-US" altLang="zh-TW" sz="1200">
                <a:solidFill>
                  <a:srgbClr val="0000FF"/>
                </a:solidFill>
              </a:rPr>
              <a:t>2.</a:t>
            </a:r>
            <a:r>
              <a:rPr lang="zh-TW" altLang="en-US" sz="1200">
                <a:solidFill>
                  <a:srgbClr val="0000FF"/>
                </a:solidFill>
              </a:rPr>
              <a:t>通常 </a:t>
            </a:r>
            <a:r>
              <a:rPr lang="en-US" altLang="zh-TW" sz="1200">
                <a:solidFill>
                  <a:srgbClr val="0000FF"/>
                </a:solidFill>
              </a:rPr>
              <a:t>activation function </a:t>
            </a:r>
            <a:r>
              <a:rPr lang="zh-TW" altLang="en-US" sz="1200">
                <a:solidFill>
                  <a:srgbClr val="0000FF"/>
                </a:solidFill>
              </a:rPr>
              <a:t>會根據訓練的目的而定</a:t>
            </a:r>
            <a:endParaRPr lang="en-US" altLang="zh-TW" sz="1200">
              <a:solidFill>
                <a:srgbClr val="0000FF"/>
              </a:solidFill>
            </a:endParaRPr>
          </a:p>
          <a:p>
            <a:r>
              <a:rPr lang="en-US" altLang="zh-TW" sz="1200">
                <a:solidFill>
                  <a:srgbClr val="0000FF"/>
                </a:solidFill>
              </a:rPr>
              <a:t>3. activation function</a:t>
            </a:r>
            <a:r>
              <a:rPr lang="zh-TW" altLang="en-US" sz="1200">
                <a:solidFill>
                  <a:srgbClr val="0000FF"/>
                </a:solidFill>
              </a:rPr>
              <a:t>是為了讓神經網路變為非線性</a:t>
            </a:r>
            <a:endParaRPr lang="en-US" altLang="zh-TW" sz="1200">
              <a:solidFill>
                <a:srgbClr val="0000FF"/>
              </a:solidFill>
            </a:endParaRPr>
          </a:p>
          <a:p>
            <a:endParaRPr lang="zh-TW" altLang="en-US" sz="120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18025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algn="r"/>
            <a:r>
              <a:rPr lang="en-US" altLang="zh-TW"/>
              <a:t>© Institute for Information Industry. All rights reserved. </a:t>
            </a:r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TW"/>
              <a:t>1-</a:t>
            </a:r>
            <a:fld id="{6F9E9FB9-4D1E-4A88-8F87-B34AFE16905A}" type="slidenum">
              <a:rPr lang="zh-TW" altLang="en-US" smtClean="0"/>
              <a:pPr/>
              <a:t>11</a:t>
            </a:fld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FC6B90E-64C2-4328-B98F-17735C42B6AA}"/>
              </a:ext>
            </a:extLst>
          </p:cNvPr>
          <p:cNvSpPr txBox="1"/>
          <p:nvPr/>
        </p:nvSpPr>
        <p:spPr>
          <a:xfrm>
            <a:off x="91232" y="8426053"/>
            <a:ext cx="66230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>
                <a:solidFill>
                  <a:srgbClr val="0000FF"/>
                </a:solidFill>
              </a:rPr>
              <a:t>1.Z</a:t>
            </a:r>
            <a:r>
              <a:rPr lang="zh-TW" altLang="en-US" sz="1200">
                <a:solidFill>
                  <a:srgbClr val="0000FF"/>
                </a:solidFill>
              </a:rPr>
              <a:t>值為權重相加</a:t>
            </a:r>
            <a:endParaRPr lang="en-US" altLang="zh-TW" sz="1200">
              <a:solidFill>
                <a:srgbClr val="0000FF"/>
              </a:solidFill>
            </a:endParaRPr>
          </a:p>
          <a:p>
            <a:r>
              <a:rPr lang="en-US" altLang="zh-TW" sz="1200">
                <a:solidFill>
                  <a:srgbClr val="0000FF"/>
                </a:solidFill>
              </a:rPr>
              <a:t>2.</a:t>
            </a:r>
            <a:r>
              <a:rPr lang="zh-TW" altLang="en-US" sz="1200">
                <a:solidFill>
                  <a:srgbClr val="0000FF"/>
                </a:solidFill>
              </a:rPr>
              <a:t>通常 </a:t>
            </a:r>
            <a:r>
              <a:rPr lang="en-US" altLang="zh-TW" sz="1200">
                <a:solidFill>
                  <a:srgbClr val="0000FF"/>
                </a:solidFill>
              </a:rPr>
              <a:t>activation function </a:t>
            </a:r>
            <a:r>
              <a:rPr lang="zh-TW" altLang="en-US" sz="1200">
                <a:solidFill>
                  <a:srgbClr val="0000FF"/>
                </a:solidFill>
              </a:rPr>
              <a:t>會根據訓練的目的而定</a:t>
            </a:r>
            <a:endParaRPr lang="en-US" altLang="zh-TW" sz="1200">
              <a:solidFill>
                <a:srgbClr val="0000FF"/>
              </a:solidFill>
            </a:endParaRPr>
          </a:p>
          <a:p>
            <a:r>
              <a:rPr lang="en-US" altLang="zh-TW" sz="1200">
                <a:solidFill>
                  <a:srgbClr val="0000FF"/>
                </a:solidFill>
              </a:rPr>
              <a:t>3. activation function</a:t>
            </a:r>
            <a:r>
              <a:rPr lang="zh-TW" altLang="en-US" sz="1200">
                <a:solidFill>
                  <a:srgbClr val="0000FF"/>
                </a:solidFill>
              </a:rPr>
              <a:t>是為了讓神經網路變為非線性</a:t>
            </a:r>
            <a:endParaRPr lang="en-US" altLang="zh-TW" sz="1200">
              <a:solidFill>
                <a:srgbClr val="0000FF"/>
              </a:solidFill>
            </a:endParaRPr>
          </a:p>
          <a:p>
            <a:endParaRPr lang="zh-TW" altLang="en-US" sz="120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85778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algn="r"/>
            <a:r>
              <a:rPr lang="en-US" altLang="zh-TW"/>
              <a:t>© Institute for Information Industry. All rights reserved. </a:t>
            </a:r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TW"/>
              <a:t>1-</a:t>
            </a:r>
            <a:fld id="{6F9E9FB9-4D1E-4A88-8F87-B34AFE16905A}" type="slidenum">
              <a:rPr lang="zh-TW" altLang="en-US" smtClean="0"/>
              <a:pPr/>
              <a:t>12</a:t>
            </a:fld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FC6B90E-64C2-4328-B98F-17735C42B6AA}"/>
              </a:ext>
            </a:extLst>
          </p:cNvPr>
          <p:cNvSpPr txBox="1"/>
          <p:nvPr/>
        </p:nvSpPr>
        <p:spPr>
          <a:xfrm>
            <a:off x="91232" y="8426053"/>
            <a:ext cx="66230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>
                <a:solidFill>
                  <a:srgbClr val="0000FF"/>
                </a:solidFill>
              </a:rPr>
              <a:t>1.Z</a:t>
            </a:r>
            <a:r>
              <a:rPr lang="zh-TW" altLang="en-US" sz="1200">
                <a:solidFill>
                  <a:srgbClr val="0000FF"/>
                </a:solidFill>
              </a:rPr>
              <a:t>值為權重相加</a:t>
            </a:r>
            <a:endParaRPr lang="en-US" altLang="zh-TW" sz="1200">
              <a:solidFill>
                <a:srgbClr val="0000FF"/>
              </a:solidFill>
            </a:endParaRPr>
          </a:p>
          <a:p>
            <a:r>
              <a:rPr lang="en-US" altLang="zh-TW" sz="1200">
                <a:solidFill>
                  <a:srgbClr val="0000FF"/>
                </a:solidFill>
              </a:rPr>
              <a:t>2.</a:t>
            </a:r>
            <a:r>
              <a:rPr lang="zh-TW" altLang="en-US" sz="1200">
                <a:solidFill>
                  <a:srgbClr val="0000FF"/>
                </a:solidFill>
              </a:rPr>
              <a:t>通常 </a:t>
            </a:r>
            <a:r>
              <a:rPr lang="en-US" altLang="zh-TW" sz="1200">
                <a:solidFill>
                  <a:srgbClr val="0000FF"/>
                </a:solidFill>
              </a:rPr>
              <a:t>activation function </a:t>
            </a:r>
            <a:r>
              <a:rPr lang="zh-TW" altLang="en-US" sz="1200">
                <a:solidFill>
                  <a:srgbClr val="0000FF"/>
                </a:solidFill>
              </a:rPr>
              <a:t>會根據訓練的目的而定</a:t>
            </a:r>
            <a:endParaRPr lang="en-US" altLang="zh-TW" sz="1200">
              <a:solidFill>
                <a:srgbClr val="0000FF"/>
              </a:solidFill>
            </a:endParaRPr>
          </a:p>
          <a:p>
            <a:r>
              <a:rPr lang="en-US" altLang="zh-TW" sz="1200">
                <a:solidFill>
                  <a:srgbClr val="0000FF"/>
                </a:solidFill>
              </a:rPr>
              <a:t>3. activation function</a:t>
            </a:r>
            <a:r>
              <a:rPr lang="zh-TW" altLang="en-US" sz="1200">
                <a:solidFill>
                  <a:srgbClr val="0000FF"/>
                </a:solidFill>
              </a:rPr>
              <a:t>是為了讓神經網路變為非線性</a:t>
            </a:r>
            <a:endParaRPr lang="en-US" altLang="zh-TW" sz="1200">
              <a:solidFill>
                <a:srgbClr val="0000FF"/>
              </a:solidFill>
            </a:endParaRPr>
          </a:p>
          <a:p>
            <a:endParaRPr lang="zh-TW" altLang="en-US" sz="120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384995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algn="r"/>
            <a:r>
              <a:rPr lang="en-US" altLang="zh-TW"/>
              <a:t>© Institute for Information Industry. All rights reserved. </a:t>
            </a:r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TW"/>
              <a:t>1-</a:t>
            </a:r>
            <a:fld id="{6F9E9FB9-4D1E-4A88-8F87-B34AFE16905A}" type="slidenum">
              <a:rPr lang="zh-TW" altLang="en-US" smtClean="0"/>
              <a:pPr/>
              <a:t>13</a:t>
            </a:fld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FC6B90E-64C2-4328-B98F-17735C42B6AA}"/>
              </a:ext>
            </a:extLst>
          </p:cNvPr>
          <p:cNvSpPr txBox="1"/>
          <p:nvPr/>
        </p:nvSpPr>
        <p:spPr>
          <a:xfrm>
            <a:off x="91232" y="8426053"/>
            <a:ext cx="66230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>
                <a:solidFill>
                  <a:srgbClr val="0000FF"/>
                </a:solidFill>
              </a:rPr>
              <a:t>1.Z</a:t>
            </a:r>
            <a:r>
              <a:rPr lang="zh-TW" altLang="en-US" sz="1200">
                <a:solidFill>
                  <a:srgbClr val="0000FF"/>
                </a:solidFill>
              </a:rPr>
              <a:t>值為權重相加</a:t>
            </a:r>
            <a:endParaRPr lang="en-US" altLang="zh-TW" sz="1200">
              <a:solidFill>
                <a:srgbClr val="0000FF"/>
              </a:solidFill>
            </a:endParaRPr>
          </a:p>
          <a:p>
            <a:r>
              <a:rPr lang="en-US" altLang="zh-TW" sz="1200">
                <a:solidFill>
                  <a:srgbClr val="0000FF"/>
                </a:solidFill>
              </a:rPr>
              <a:t>2.</a:t>
            </a:r>
            <a:r>
              <a:rPr lang="zh-TW" altLang="en-US" sz="1200">
                <a:solidFill>
                  <a:srgbClr val="0000FF"/>
                </a:solidFill>
              </a:rPr>
              <a:t>通常 </a:t>
            </a:r>
            <a:r>
              <a:rPr lang="en-US" altLang="zh-TW" sz="1200">
                <a:solidFill>
                  <a:srgbClr val="0000FF"/>
                </a:solidFill>
              </a:rPr>
              <a:t>activation function </a:t>
            </a:r>
            <a:r>
              <a:rPr lang="zh-TW" altLang="en-US" sz="1200">
                <a:solidFill>
                  <a:srgbClr val="0000FF"/>
                </a:solidFill>
              </a:rPr>
              <a:t>會根據訓練的目的而定</a:t>
            </a:r>
            <a:endParaRPr lang="en-US" altLang="zh-TW" sz="1200">
              <a:solidFill>
                <a:srgbClr val="0000FF"/>
              </a:solidFill>
            </a:endParaRPr>
          </a:p>
          <a:p>
            <a:r>
              <a:rPr lang="en-US" altLang="zh-TW" sz="1200">
                <a:solidFill>
                  <a:srgbClr val="0000FF"/>
                </a:solidFill>
              </a:rPr>
              <a:t>3. activation function</a:t>
            </a:r>
            <a:r>
              <a:rPr lang="zh-TW" altLang="en-US" sz="1200">
                <a:solidFill>
                  <a:srgbClr val="0000FF"/>
                </a:solidFill>
              </a:rPr>
              <a:t>是為了讓神經網路變為非線性</a:t>
            </a:r>
            <a:endParaRPr lang="en-US" altLang="zh-TW" sz="1200">
              <a:solidFill>
                <a:srgbClr val="0000FF"/>
              </a:solidFill>
            </a:endParaRPr>
          </a:p>
          <a:p>
            <a:endParaRPr lang="zh-TW" altLang="en-US" sz="120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033101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algn="r"/>
            <a:r>
              <a:rPr lang="en-US" altLang="zh-TW"/>
              <a:t>© Institute for Information Industry. All rights reserved. </a:t>
            </a:r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TW"/>
              <a:t>1-</a:t>
            </a:r>
            <a:fld id="{6F9E9FB9-4D1E-4A88-8F87-B34AFE16905A}" type="slidenum">
              <a:rPr lang="zh-TW" altLang="en-US" smtClean="0"/>
              <a:pPr/>
              <a:t>14</a:t>
            </a:fld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FC6B90E-64C2-4328-B98F-17735C42B6AA}"/>
              </a:ext>
            </a:extLst>
          </p:cNvPr>
          <p:cNvSpPr txBox="1"/>
          <p:nvPr/>
        </p:nvSpPr>
        <p:spPr>
          <a:xfrm>
            <a:off x="91232" y="8426053"/>
            <a:ext cx="66230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>
                <a:solidFill>
                  <a:srgbClr val="0000FF"/>
                </a:solidFill>
              </a:rPr>
              <a:t>1.Z</a:t>
            </a:r>
            <a:r>
              <a:rPr lang="zh-TW" altLang="en-US" sz="1200">
                <a:solidFill>
                  <a:srgbClr val="0000FF"/>
                </a:solidFill>
              </a:rPr>
              <a:t>值為權重相加</a:t>
            </a:r>
            <a:endParaRPr lang="en-US" altLang="zh-TW" sz="1200">
              <a:solidFill>
                <a:srgbClr val="0000FF"/>
              </a:solidFill>
            </a:endParaRPr>
          </a:p>
          <a:p>
            <a:r>
              <a:rPr lang="en-US" altLang="zh-TW" sz="1200">
                <a:solidFill>
                  <a:srgbClr val="0000FF"/>
                </a:solidFill>
              </a:rPr>
              <a:t>2.</a:t>
            </a:r>
            <a:r>
              <a:rPr lang="zh-TW" altLang="en-US" sz="1200">
                <a:solidFill>
                  <a:srgbClr val="0000FF"/>
                </a:solidFill>
              </a:rPr>
              <a:t>通常 </a:t>
            </a:r>
            <a:r>
              <a:rPr lang="en-US" altLang="zh-TW" sz="1200">
                <a:solidFill>
                  <a:srgbClr val="0000FF"/>
                </a:solidFill>
              </a:rPr>
              <a:t>activation function </a:t>
            </a:r>
            <a:r>
              <a:rPr lang="zh-TW" altLang="en-US" sz="1200">
                <a:solidFill>
                  <a:srgbClr val="0000FF"/>
                </a:solidFill>
              </a:rPr>
              <a:t>會根據訓練的目的而定</a:t>
            </a:r>
            <a:endParaRPr lang="en-US" altLang="zh-TW" sz="1200">
              <a:solidFill>
                <a:srgbClr val="0000FF"/>
              </a:solidFill>
            </a:endParaRPr>
          </a:p>
          <a:p>
            <a:r>
              <a:rPr lang="en-US" altLang="zh-TW" sz="1200">
                <a:solidFill>
                  <a:srgbClr val="0000FF"/>
                </a:solidFill>
              </a:rPr>
              <a:t>3. activation function</a:t>
            </a:r>
            <a:r>
              <a:rPr lang="zh-TW" altLang="en-US" sz="1200">
                <a:solidFill>
                  <a:srgbClr val="0000FF"/>
                </a:solidFill>
              </a:rPr>
              <a:t>是為了讓神經網路變為非線性</a:t>
            </a:r>
            <a:endParaRPr lang="en-US" altLang="zh-TW" sz="1200">
              <a:solidFill>
                <a:srgbClr val="0000FF"/>
              </a:solidFill>
            </a:endParaRPr>
          </a:p>
          <a:p>
            <a:endParaRPr lang="zh-TW" altLang="en-US" sz="120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392214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algn="r"/>
            <a:r>
              <a:rPr lang="en-US" altLang="zh-TW"/>
              <a:t>© Institute for Information Industry. All rights reserved. </a:t>
            </a:r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TW"/>
              <a:t>1-</a:t>
            </a:r>
            <a:fld id="{6F9E9FB9-4D1E-4A88-8F87-B34AFE16905A}" type="slidenum">
              <a:rPr lang="zh-TW" altLang="en-US" smtClean="0"/>
              <a:pPr/>
              <a:t>15</a:t>
            </a:fld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FC6B90E-64C2-4328-B98F-17735C42B6AA}"/>
              </a:ext>
            </a:extLst>
          </p:cNvPr>
          <p:cNvSpPr txBox="1"/>
          <p:nvPr/>
        </p:nvSpPr>
        <p:spPr>
          <a:xfrm>
            <a:off x="91232" y="8426053"/>
            <a:ext cx="66230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>
                <a:solidFill>
                  <a:srgbClr val="0000FF"/>
                </a:solidFill>
              </a:rPr>
              <a:t>1.Z</a:t>
            </a:r>
            <a:r>
              <a:rPr lang="zh-TW" altLang="en-US" sz="1200">
                <a:solidFill>
                  <a:srgbClr val="0000FF"/>
                </a:solidFill>
              </a:rPr>
              <a:t>值為權重相加</a:t>
            </a:r>
            <a:endParaRPr lang="en-US" altLang="zh-TW" sz="1200">
              <a:solidFill>
                <a:srgbClr val="0000FF"/>
              </a:solidFill>
            </a:endParaRPr>
          </a:p>
          <a:p>
            <a:r>
              <a:rPr lang="en-US" altLang="zh-TW" sz="1200">
                <a:solidFill>
                  <a:srgbClr val="0000FF"/>
                </a:solidFill>
              </a:rPr>
              <a:t>2.</a:t>
            </a:r>
            <a:r>
              <a:rPr lang="zh-TW" altLang="en-US" sz="1200">
                <a:solidFill>
                  <a:srgbClr val="0000FF"/>
                </a:solidFill>
              </a:rPr>
              <a:t>通常 </a:t>
            </a:r>
            <a:r>
              <a:rPr lang="en-US" altLang="zh-TW" sz="1200">
                <a:solidFill>
                  <a:srgbClr val="0000FF"/>
                </a:solidFill>
              </a:rPr>
              <a:t>activation function </a:t>
            </a:r>
            <a:r>
              <a:rPr lang="zh-TW" altLang="en-US" sz="1200">
                <a:solidFill>
                  <a:srgbClr val="0000FF"/>
                </a:solidFill>
              </a:rPr>
              <a:t>會根據訓練的目的而定</a:t>
            </a:r>
            <a:endParaRPr lang="en-US" altLang="zh-TW" sz="1200">
              <a:solidFill>
                <a:srgbClr val="0000FF"/>
              </a:solidFill>
            </a:endParaRPr>
          </a:p>
          <a:p>
            <a:r>
              <a:rPr lang="en-US" altLang="zh-TW" sz="1200">
                <a:solidFill>
                  <a:srgbClr val="0000FF"/>
                </a:solidFill>
              </a:rPr>
              <a:t>3. activation function</a:t>
            </a:r>
            <a:r>
              <a:rPr lang="zh-TW" altLang="en-US" sz="1200">
                <a:solidFill>
                  <a:srgbClr val="0000FF"/>
                </a:solidFill>
              </a:rPr>
              <a:t>是為了讓神經網路變為非線性</a:t>
            </a:r>
            <a:endParaRPr lang="en-US" altLang="zh-TW" sz="1200">
              <a:solidFill>
                <a:srgbClr val="0000FF"/>
              </a:solidFill>
            </a:endParaRPr>
          </a:p>
          <a:p>
            <a:endParaRPr lang="zh-TW" altLang="en-US" sz="120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410606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algn="r"/>
            <a:r>
              <a:rPr lang="en-US" altLang="zh-TW"/>
              <a:t>© Institute for Information Industry. All rights reserved. </a:t>
            </a:r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TW"/>
              <a:t>1-</a:t>
            </a:r>
            <a:fld id="{6F9E9FB9-4D1E-4A88-8F87-B34AFE16905A}" type="slidenum">
              <a:rPr lang="zh-TW" altLang="en-US" smtClean="0"/>
              <a:pPr/>
              <a:t>16</a:t>
            </a:fld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FC6B90E-64C2-4328-B98F-17735C42B6AA}"/>
              </a:ext>
            </a:extLst>
          </p:cNvPr>
          <p:cNvSpPr txBox="1"/>
          <p:nvPr/>
        </p:nvSpPr>
        <p:spPr>
          <a:xfrm>
            <a:off x="91232" y="8426053"/>
            <a:ext cx="66230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>
                <a:solidFill>
                  <a:srgbClr val="0000FF"/>
                </a:solidFill>
              </a:rPr>
              <a:t>1.Z</a:t>
            </a:r>
            <a:r>
              <a:rPr lang="zh-TW" altLang="en-US" sz="1200">
                <a:solidFill>
                  <a:srgbClr val="0000FF"/>
                </a:solidFill>
              </a:rPr>
              <a:t>值為權重相加</a:t>
            </a:r>
            <a:endParaRPr lang="en-US" altLang="zh-TW" sz="1200">
              <a:solidFill>
                <a:srgbClr val="0000FF"/>
              </a:solidFill>
            </a:endParaRPr>
          </a:p>
          <a:p>
            <a:r>
              <a:rPr lang="en-US" altLang="zh-TW" sz="1200">
                <a:solidFill>
                  <a:srgbClr val="0000FF"/>
                </a:solidFill>
              </a:rPr>
              <a:t>2.</a:t>
            </a:r>
            <a:r>
              <a:rPr lang="zh-TW" altLang="en-US" sz="1200">
                <a:solidFill>
                  <a:srgbClr val="0000FF"/>
                </a:solidFill>
              </a:rPr>
              <a:t>通常 </a:t>
            </a:r>
            <a:r>
              <a:rPr lang="en-US" altLang="zh-TW" sz="1200">
                <a:solidFill>
                  <a:srgbClr val="0000FF"/>
                </a:solidFill>
              </a:rPr>
              <a:t>activation function </a:t>
            </a:r>
            <a:r>
              <a:rPr lang="zh-TW" altLang="en-US" sz="1200">
                <a:solidFill>
                  <a:srgbClr val="0000FF"/>
                </a:solidFill>
              </a:rPr>
              <a:t>會根據訓練的目的而定</a:t>
            </a:r>
            <a:endParaRPr lang="en-US" altLang="zh-TW" sz="1200">
              <a:solidFill>
                <a:srgbClr val="0000FF"/>
              </a:solidFill>
            </a:endParaRPr>
          </a:p>
          <a:p>
            <a:r>
              <a:rPr lang="en-US" altLang="zh-TW" sz="1200">
                <a:solidFill>
                  <a:srgbClr val="0000FF"/>
                </a:solidFill>
              </a:rPr>
              <a:t>3. activation function</a:t>
            </a:r>
            <a:r>
              <a:rPr lang="zh-TW" altLang="en-US" sz="1200">
                <a:solidFill>
                  <a:srgbClr val="0000FF"/>
                </a:solidFill>
              </a:rPr>
              <a:t>是為了讓神經網路變為非線性</a:t>
            </a:r>
            <a:endParaRPr lang="en-US" altLang="zh-TW" sz="1200">
              <a:solidFill>
                <a:srgbClr val="0000FF"/>
              </a:solidFill>
            </a:endParaRPr>
          </a:p>
          <a:p>
            <a:endParaRPr lang="zh-TW" altLang="en-US" sz="120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185661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algn="r"/>
            <a:r>
              <a:rPr lang="en-US" altLang="zh-TW"/>
              <a:t>© Institute for Information Industry. All rights reserved. </a:t>
            </a:r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TW"/>
              <a:t>1-</a:t>
            </a:r>
            <a:fld id="{6F9E9FB9-4D1E-4A88-8F87-B34AFE16905A}" type="slidenum">
              <a:rPr lang="zh-TW" altLang="en-US" smtClean="0"/>
              <a:pPr/>
              <a:t>17</a:t>
            </a:fld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FC6B90E-64C2-4328-B98F-17735C42B6AA}"/>
              </a:ext>
            </a:extLst>
          </p:cNvPr>
          <p:cNvSpPr txBox="1"/>
          <p:nvPr/>
        </p:nvSpPr>
        <p:spPr>
          <a:xfrm>
            <a:off x="91232" y="8426053"/>
            <a:ext cx="66230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>
                <a:solidFill>
                  <a:srgbClr val="0000FF"/>
                </a:solidFill>
              </a:rPr>
              <a:t>1.Z</a:t>
            </a:r>
            <a:r>
              <a:rPr lang="zh-TW" altLang="en-US" sz="1200">
                <a:solidFill>
                  <a:srgbClr val="0000FF"/>
                </a:solidFill>
              </a:rPr>
              <a:t>值為權重相加</a:t>
            </a:r>
            <a:endParaRPr lang="en-US" altLang="zh-TW" sz="1200">
              <a:solidFill>
                <a:srgbClr val="0000FF"/>
              </a:solidFill>
            </a:endParaRPr>
          </a:p>
          <a:p>
            <a:r>
              <a:rPr lang="en-US" altLang="zh-TW" sz="1200">
                <a:solidFill>
                  <a:srgbClr val="0000FF"/>
                </a:solidFill>
              </a:rPr>
              <a:t>2.</a:t>
            </a:r>
            <a:r>
              <a:rPr lang="zh-TW" altLang="en-US" sz="1200">
                <a:solidFill>
                  <a:srgbClr val="0000FF"/>
                </a:solidFill>
              </a:rPr>
              <a:t>通常 </a:t>
            </a:r>
            <a:r>
              <a:rPr lang="en-US" altLang="zh-TW" sz="1200">
                <a:solidFill>
                  <a:srgbClr val="0000FF"/>
                </a:solidFill>
              </a:rPr>
              <a:t>activation function </a:t>
            </a:r>
            <a:r>
              <a:rPr lang="zh-TW" altLang="en-US" sz="1200">
                <a:solidFill>
                  <a:srgbClr val="0000FF"/>
                </a:solidFill>
              </a:rPr>
              <a:t>會根據訓練的目的而定</a:t>
            </a:r>
            <a:endParaRPr lang="en-US" altLang="zh-TW" sz="1200">
              <a:solidFill>
                <a:srgbClr val="0000FF"/>
              </a:solidFill>
            </a:endParaRPr>
          </a:p>
          <a:p>
            <a:r>
              <a:rPr lang="en-US" altLang="zh-TW" sz="1200">
                <a:solidFill>
                  <a:srgbClr val="0000FF"/>
                </a:solidFill>
              </a:rPr>
              <a:t>3. activation function</a:t>
            </a:r>
            <a:r>
              <a:rPr lang="zh-TW" altLang="en-US" sz="1200">
                <a:solidFill>
                  <a:srgbClr val="0000FF"/>
                </a:solidFill>
              </a:rPr>
              <a:t>是為了讓神經網路變為非線性</a:t>
            </a:r>
            <a:endParaRPr lang="en-US" altLang="zh-TW" sz="1200">
              <a:solidFill>
                <a:srgbClr val="0000FF"/>
              </a:solidFill>
            </a:endParaRPr>
          </a:p>
          <a:p>
            <a:endParaRPr lang="zh-TW" altLang="en-US" sz="120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82478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 hasCustomPrompt="1"/>
          </p:nvPr>
        </p:nvSpPr>
        <p:spPr>
          <a:xfrm>
            <a:off x="453940" y="2852936"/>
            <a:ext cx="11247040" cy="692696"/>
          </a:xfrm>
        </p:spPr>
        <p:txBody>
          <a:bodyPr/>
          <a:lstStyle>
            <a:lvl1pPr algn="ctr">
              <a:defRPr sz="5000">
                <a:solidFill>
                  <a:srgbClr val="0000FF"/>
                </a:solidFill>
              </a:defRPr>
            </a:lvl1pPr>
          </a:lstStyle>
          <a:p>
            <a:r>
              <a:rPr lang="zh-TW" altLang="en-US"/>
              <a:t>封面</a:t>
            </a:r>
          </a:p>
        </p:txBody>
      </p:sp>
      <p:sp>
        <p:nvSpPr>
          <p:cNvPr id="5" name="副標題 2"/>
          <p:cNvSpPr>
            <a:spLocks noGrp="1"/>
          </p:cNvSpPr>
          <p:nvPr>
            <p:ph type="subTitle" idx="1"/>
          </p:nvPr>
        </p:nvSpPr>
        <p:spPr>
          <a:xfrm>
            <a:off x="1828800" y="3861048"/>
            <a:ext cx="8534400" cy="1752600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00FF"/>
                </a:solidFill>
              </a:defRPr>
            </a:lvl1pPr>
            <a:lvl2pPr marL="5627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1254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88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2508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8136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3763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9390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5017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BA592F39-E5A5-4CE6-B04B-B4DCCEDFCE8D}"/>
              </a:ext>
            </a:extLst>
          </p:cNvPr>
          <p:cNvSpPr txBox="1"/>
          <p:nvPr userDrawn="1"/>
        </p:nvSpPr>
        <p:spPr>
          <a:xfrm>
            <a:off x="4677996" y="1536002"/>
            <a:ext cx="2836007" cy="774058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endParaRPr lang="en-US" altLang="zh-TW" sz="2215">
              <a:solidFill>
                <a:schemeClr val="tx1">
                  <a:lumMod val="75000"/>
                </a:schemeClr>
              </a:solidFill>
            </a:endParaRPr>
          </a:p>
          <a:p>
            <a:endParaRPr lang="zh-TW" altLang="en-US" sz="2215" err="1">
              <a:solidFill>
                <a:schemeClr val="tx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606502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>
              <a:defRPr sz="5000">
                <a:solidFill>
                  <a:srgbClr val="0000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61048"/>
            <a:ext cx="8534400" cy="1752600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00FF"/>
                </a:solidFill>
              </a:defRPr>
            </a:lvl1pPr>
            <a:lvl2pPr marL="5627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1254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88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2508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8136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3763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9390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5017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8D46DC4E-74EA-4FF4-9DAA-ED2D59AFB0F9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32346371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spcBef>
                <a:spcPts val="738"/>
              </a:spcBef>
              <a:spcAft>
                <a:spcPts val="738"/>
              </a:spcAft>
              <a:defRPr b="1">
                <a:solidFill>
                  <a:srgbClr val="000000"/>
                </a:solidFill>
              </a:defRPr>
            </a:lvl1pPr>
            <a:lvl2pPr>
              <a:lnSpc>
                <a:spcPct val="100000"/>
              </a:lnSpc>
              <a:spcBef>
                <a:spcPts val="738"/>
              </a:spcBef>
              <a:spcAft>
                <a:spcPts val="738"/>
              </a:spcAft>
              <a:defRPr>
                <a:solidFill>
                  <a:srgbClr val="000000"/>
                </a:solidFill>
              </a:defRPr>
            </a:lvl2pPr>
            <a:lvl3pPr marL="1324741" indent="-328254">
              <a:lnSpc>
                <a:spcPct val="100000"/>
              </a:lnSpc>
              <a:spcBef>
                <a:spcPts val="738"/>
              </a:spcBef>
              <a:spcAft>
                <a:spcPts val="738"/>
              </a:spcAft>
              <a:defRPr>
                <a:solidFill>
                  <a:srgbClr val="000000"/>
                </a:solidFill>
              </a:defRPr>
            </a:lvl3pPr>
            <a:lvl4pPr marL="1652995" indent="-222744">
              <a:lnSpc>
                <a:spcPct val="100000"/>
              </a:lnSpc>
              <a:spcBef>
                <a:spcPts val="738"/>
              </a:spcBef>
              <a:spcAft>
                <a:spcPts val="738"/>
              </a:spcAft>
              <a:defRPr>
                <a:solidFill>
                  <a:srgbClr val="000000"/>
                </a:solidFill>
              </a:defRPr>
            </a:lvl4pPr>
            <a:lvl5pPr marL="1992973" indent="-339978">
              <a:lnSpc>
                <a:spcPct val="100000"/>
              </a:lnSpc>
              <a:spcBef>
                <a:spcPts val="738"/>
              </a:spcBef>
              <a:spcAft>
                <a:spcPts val="738"/>
              </a:spcAft>
              <a:tabLst>
                <a:tab pos="9824184" algn="l"/>
              </a:tabLst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B5418C1F-6B55-4A71-AFFD-089A51282D0F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106461826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72008"/>
            <a:ext cx="11247040" cy="548680"/>
          </a:xfrm>
        </p:spPr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335360" y="764704"/>
            <a:ext cx="6558267" cy="5616624"/>
          </a:xfrm>
        </p:spPr>
        <p:txBody>
          <a:bodyPr/>
          <a:lstStyle>
            <a:lvl1pPr>
              <a:defRPr sz="3446">
                <a:solidFill>
                  <a:srgbClr val="000000"/>
                </a:solidFill>
              </a:defRPr>
            </a:lvl1pPr>
            <a:lvl2pPr>
              <a:defRPr sz="2954">
                <a:solidFill>
                  <a:srgbClr val="000000"/>
                </a:solidFill>
              </a:defRPr>
            </a:lvl2pPr>
            <a:lvl3pPr>
              <a:defRPr sz="2462">
                <a:solidFill>
                  <a:srgbClr val="000000"/>
                </a:solidFill>
              </a:defRPr>
            </a:lvl3pPr>
            <a:lvl4pPr>
              <a:defRPr sz="2215">
                <a:solidFill>
                  <a:srgbClr val="000000"/>
                </a:solidFill>
              </a:defRPr>
            </a:lvl4pPr>
            <a:lvl5pPr>
              <a:defRPr sz="2215">
                <a:solidFill>
                  <a:srgbClr val="000000"/>
                </a:solidFill>
              </a:defRPr>
            </a:lvl5pPr>
            <a:lvl6pPr>
              <a:defRPr sz="2215"/>
            </a:lvl6pPr>
            <a:lvl7pPr>
              <a:defRPr sz="2215"/>
            </a:lvl7pPr>
            <a:lvl8pPr>
              <a:defRPr sz="2215"/>
            </a:lvl8pPr>
            <a:lvl9pPr>
              <a:defRPr sz="2215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 hasCustomPrompt="1"/>
          </p:nvPr>
        </p:nvSpPr>
        <p:spPr>
          <a:xfrm>
            <a:off x="7070878" y="764704"/>
            <a:ext cx="4785762" cy="5616624"/>
          </a:xfrm>
        </p:spPr>
        <p:txBody>
          <a:bodyPr/>
          <a:lstStyle>
            <a:lvl1pPr>
              <a:defRPr sz="3446">
                <a:solidFill>
                  <a:srgbClr val="000000"/>
                </a:solidFill>
              </a:defRPr>
            </a:lvl1pPr>
            <a:lvl2pPr>
              <a:defRPr sz="2954">
                <a:solidFill>
                  <a:srgbClr val="000000"/>
                </a:solidFill>
              </a:defRPr>
            </a:lvl2pPr>
            <a:lvl3pPr>
              <a:defRPr sz="2462">
                <a:solidFill>
                  <a:srgbClr val="000000"/>
                </a:solidFill>
              </a:defRPr>
            </a:lvl3pPr>
            <a:lvl4pPr>
              <a:defRPr sz="2215">
                <a:solidFill>
                  <a:srgbClr val="000000"/>
                </a:solidFill>
              </a:defRPr>
            </a:lvl4pPr>
            <a:lvl5pPr>
              <a:defRPr sz="2215">
                <a:solidFill>
                  <a:srgbClr val="000000"/>
                </a:solidFill>
              </a:defRPr>
            </a:lvl5pPr>
            <a:lvl6pPr>
              <a:defRPr sz="2215"/>
            </a:lvl6pPr>
            <a:lvl7pPr>
              <a:defRPr sz="2215"/>
            </a:lvl7pPr>
            <a:lvl8pPr>
              <a:defRPr sz="2215"/>
            </a:lvl8pPr>
            <a:lvl9pPr>
              <a:defRPr sz="2215"/>
            </a:lvl9pPr>
          </a:lstStyle>
          <a:p>
            <a:pPr lvl="0"/>
            <a:r>
              <a:rPr lang="zh-TW" altLang="en-US"/>
              <a:t>按一下編輯文字樣式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0FAE68B8-99C7-40B9-B8F1-A798C021C439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116067170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246735" y="764704"/>
            <a:ext cx="6558267" cy="504056"/>
          </a:xfrm>
        </p:spPr>
        <p:txBody>
          <a:bodyPr anchor="b"/>
          <a:lstStyle>
            <a:lvl1pPr marL="0" indent="0">
              <a:buNone/>
              <a:defRPr sz="2954" b="1">
                <a:solidFill>
                  <a:srgbClr val="000000"/>
                </a:solidFill>
              </a:defRPr>
            </a:lvl1pPr>
            <a:lvl2pPr marL="562722" indent="0">
              <a:buNone/>
              <a:defRPr sz="2462" b="1"/>
            </a:lvl2pPr>
            <a:lvl3pPr marL="1125444" indent="0">
              <a:buNone/>
              <a:defRPr sz="2215" b="1"/>
            </a:lvl3pPr>
            <a:lvl4pPr marL="1688165" indent="0">
              <a:buNone/>
              <a:defRPr sz="1969" b="1"/>
            </a:lvl4pPr>
            <a:lvl5pPr marL="2250887" indent="0">
              <a:buNone/>
              <a:defRPr sz="1969" b="1"/>
            </a:lvl5pPr>
            <a:lvl6pPr marL="2813609" indent="0">
              <a:buNone/>
              <a:defRPr sz="1969" b="1"/>
            </a:lvl6pPr>
            <a:lvl7pPr marL="3376331" indent="0">
              <a:buNone/>
              <a:defRPr sz="1969" b="1"/>
            </a:lvl7pPr>
            <a:lvl8pPr marL="3939052" indent="0">
              <a:buNone/>
              <a:defRPr sz="1969" b="1"/>
            </a:lvl8pPr>
            <a:lvl9pPr marL="4501774" indent="0">
              <a:buNone/>
              <a:defRPr sz="1969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246735" y="1340768"/>
            <a:ext cx="6558267" cy="5112568"/>
          </a:xfrm>
        </p:spPr>
        <p:txBody>
          <a:bodyPr/>
          <a:lstStyle>
            <a:lvl1pPr>
              <a:defRPr sz="2954">
                <a:solidFill>
                  <a:srgbClr val="000000"/>
                </a:solidFill>
              </a:defRPr>
            </a:lvl1pPr>
            <a:lvl2pPr>
              <a:defRPr sz="2462">
                <a:solidFill>
                  <a:srgbClr val="000000"/>
                </a:solidFill>
              </a:defRPr>
            </a:lvl2pPr>
            <a:lvl3pPr>
              <a:defRPr sz="2215">
                <a:solidFill>
                  <a:srgbClr val="000000"/>
                </a:solidFill>
              </a:defRPr>
            </a:lvl3pPr>
            <a:lvl4pPr>
              <a:defRPr sz="1969">
                <a:solidFill>
                  <a:srgbClr val="000000"/>
                </a:solidFill>
              </a:defRPr>
            </a:lvl4pPr>
            <a:lvl5pPr>
              <a:defRPr sz="1969">
                <a:solidFill>
                  <a:srgbClr val="000000"/>
                </a:solidFill>
              </a:defRPr>
            </a:lvl5pPr>
            <a:lvl6pPr>
              <a:defRPr sz="1969"/>
            </a:lvl6pPr>
            <a:lvl7pPr>
              <a:defRPr sz="1969"/>
            </a:lvl7pPr>
            <a:lvl8pPr>
              <a:defRPr sz="1969"/>
            </a:lvl8pPr>
            <a:lvl9pPr>
              <a:defRPr sz="1969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893627" y="764704"/>
            <a:ext cx="4945582" cy="504056"/>
          </a:xfrm>
        </p:spPr>
        <p:txBody>
          <a:bodyPr anchor="b"/>
          <a:lstStyle>
            <a:lvl1pPr marL="0" indent="0">
              <a:buNone/>
              <a:defRPr sz="2954" b="1">
                <a:solidFill>
                  <a:srgbClr val="000000"/>
                </a:solidFill>
              </a:defRPr>
            </a:lvl1pPr>
            <a:lvl2pPr marL="562722" indent="0">
              <a:buNone/>
              <a:defRPr sz="2462" b="1"/>
            </a:lvl2pPr>
            <a:lvl3pPr marL="1125444" indent="0">
              <a:buNone/>
              <a:defRPr sz="2215" b="1"/>
            </a:lvl3pPr>
            <a:lvl4pPr marL="1688165" indent="0">
              <a:buNone/>
              <a:defRPr sz="1969" b="1"/>
            </a:lvl4pPr>
            <a:lvl5pPr marL="2250887" indent="0">
              <a:buNone/>
              <a:defRPr sz="1969" b="1"/>
            </a:lvl5pPr>
            <a:lvl6pPr marL="2813609" indent="0">
              <a:buNone/>
              <a:defRPr sz="1969" b="1"/>
            </a:lvl6pPr>
            <a:lvl7pPr marL="3376331" indent="0">
              <a:buNone/>
              <a:defRPr sz="1969" b="1"/>
            </a:lvl7pPr>
            <a:lvl8pPr marL="3939052" indent="0">
              <a:buNone/>
              <a:defRPr sz="1969" b="1"/>
            </a:lvl8pPr>
            <a:lvl9pPr marL="4501774" indent="0">
              <a:buNone/>
              <a:defRPr sz="1969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 hasCustomPrompt="1"/>
          </p:nvPr>
        </p:nvSpPr>
        <p:spPr>
          <a:xfrm>
            <a:off x="6893627" y="1340768"/>
            <a:ext cx="4945582" cy="5112568"/>
          </a:xfrm>
        </p:spPr>
        <p:txBody>
          <a:bodyPr/>
          <a:lstStyle>
            <a:lvl1pPr>
              <a:defRPr sz="2954">
                <a:solidFill>
                  <a:srgbClr val="000000"/>
                </a:solidFill>
              </a:defRPr>
            </a:lvl1pPr>
            <a:lvl2pPr>
              <a:defRPr sz="2462">
                <a:solidFill>
                  <a:srgbClr val="000000"/>
                </a:solidFill>
              </a:defRPr>
            </a:lvl2pPr>
            <a:lvl3pPr>
              <a:defRPr sz="2215">
                <a:solidFill>
                  <a:srgbClr val="000000"/>
                </a:solidFill>
              </a:defRPr>
            </a:lvl3pPr>
            <a:lvl4pPr>
              <a:defRPr sz="1969">
                <a:solidFill>
                  <a:srgbClr val="000000"/>
                </a:solidFill>
              </a:defRPr>
            </a:lvl4pPr>
            <a:lvl5pPr>
              <a:defRPr sz="1969">
                <a:solidFill>
                  <a:srgbClr val="000000"/>
                </a:solidFill>
              </a:defRPr>
            </a:lvl5pPr>
            <a:lvl6pPr>
              <a:defRPr sz="1969"/>
            </a:lvl6pPr>
            <a:lvl7pPr>
              <a:defRPr sz="1969"/>
            </a:lvl7pPr>
            <a:lvl8pPr>
              <a:defRPr sz="1969"/>
            </a:lvl8pPr>
            <a:lvl9pPr>
              <a:defRPr sz="1969"/>
            </a:lvl9pPr>
          </a:lstStyle>
          <a:p>
            <a:pPr lvl="0"/>
            <a:r>
              <a:rPr lang="zh-TW" altLang="en-US"/>
              <a:t>按一下以編輯文字樣式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22C7611D-A327-4D7A-B0CC-BD7C9B9F11E9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389333769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B56CA749-C98C-4DB3-9FF7-B1074AFD1EAF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591219130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784F4EE5-BCBD-459C-B67D-EBB22C6F76DF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543546685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35360" y="273050"/>
            <a:ext cx="4285487" cy="1162050"/>
          </a:xfrm>
        </p:spPr>
        <p:txBody>
          <a:bodyPr anchor="b"/>
          <a:lstStyle>
            <a:lvl1pPr algn="l">
              <a:defRPr sz="2462" b="1">
                <a:solidFill>
                  <a:srgbClr val="000000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7385" y="273050"/>
            <a:ext cx="7089255" cy="6180286"/>
          </a:xfrm>
        </p:spPr>
        <p:txBody>
          <a:bodyPr/>
          <a:lstStyle>
            <a:lvl1pPr>
              <a:defRPr sz="3939">
                <a:solidFill>
                  <a:srgbClr val="000000"/>
                </a:solidFill>
              </a:defRPr>
            </a:lvl1pPr>
            <a:lvl2pPr>
              <a:defRPr sz="3446">
                <a:solidFill>
                  <a:srgbClr val="000000"/>
                </a:solidFill>
              </a:defRPr>
            </a:lvl2pPr>
            <a:lvl3pPr>
              <a:defRPr sz="2954">
                <a:solidFill>
                  <a:srgbClr val="000000"/>
                </a:solidFill>
              </a:defRPr>
            </a:lvl3pPr>
            <a:lvl4pPr>
              <a:defRPr sz="2462">
                <a:solidFill>
                  <a:srgbClr val="000000"/>
                </a:solidFill>
              </a:defRPr>
            </a:lvl4pPr>
            <a:lvl5pPr>
              <a:defRPr sz="2462">
                <a:solidFill>
                  <a:srgbClr val="000000"/>
                </a:solidFill>
              </a:defRPr>
            </a:lvl5pPr>
            <a:lvl6pPr>
              <a:defRPr sz="2462"/>
            </a:lvl6pPr>
            <a:lvl7pPr>
              <a:defRPr sz="2462"/>
            </a:lvl7pPr>
            <a:lvl8pPr>
              <a:defRPr sz="2462"/>
            </a:lvl8pPr>
            <a:lvl9pPr>
              <a:defRPr sz="2462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335360" y="1435100"/>
            <a:ext cx="4285487" cy="5018236"/>
          </a:xfrm>
        </p:spPr>
        <p:txBody>
          <a:bodyPr/>
          <a:lstStyle>
            <a:lvl1pPr marL="0" indent="0">
              <a:buNone/>
              <a:defRPr sz="1723">
                <a:solidFill>
                  <a:srgbClr val="000000"/>
                </a:solidFill>
              </a:defRPr>
            </a:lvl1pPr>
            <a:lvl2pPr marL="562722" indent="0">
              <a:buNone/>
              <a:defRPr sz="1477"/>
            </a:lvl2pPr>
            <a:lvl3pPr marL="1125444" indent="0">
              <a:buNone/>
              <a:defRPr sz="1231"/>
            </a:lvl3pPr>
            <a:lvl4pPr marL="1688165" indent="0">
              <a:buNone/>
              <a:defRPr sz="1108"/>
            </a:lvl4pPr>
            <a:lvl5pPr marL="2250887" indent="0">
              <a:buNone/>
              <a:defRPr sz="1108"/>
            </a:lvl5pPr>
            <a:lvl6pPr marL="2813609" indent="0">
              <a:buNone/>
              <a:defRPr sz="1108"/>
            </a:lvl6pPr>
            <a:lvl7pPr marL="3376331" indent="0">
              <a:buNone/>
              <a:defRPr sz="1108"/>
            </a:lvl7pPr>
            <a:lvl8pPr marL="3939052" indent="0">
              <a:buNone/>
              <a:defRPr sz="1108"/>
            </a:lvl8pPr>
            <a:lvl9pPr marL="4501774" indent="0">
              <a:buNone/>
              <a:defRPr sz="1108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656EE654-F85C-488B-B06D-685A5EF03A3B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017160531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554" y="4800600"/>
            <a:ext cx="7315200" cy="566738"/>
          </a:xfrm>
        </p:spPr>
        <p:txBody>
          <a:bodyPr anchor="b"/>
          <a:lstStyle>
            <a:lvl1pPr algn="l">
              <a:defRPr sz="2462" b="1">
                <a:solidFill>
                  <a:srgbClr val="000000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554" y="612775"/>
            <a:ext cx="7315200" cy="4114800"/>
          </a:xfrm>
        </p:spPr>
        <p:txBody>
          <a:bodyPr/>
          <a:lstStyle>
            <a:lvl1pPr marL="0" indent="0">
              <a:buNone/>
              <a:defRPr sz="3939"/>
            </a:lvl1pPr>
            <a:lvl2pPr marL="562722" indent="0">
              <a:buNone/>
              <a:defRPr sz="3446"/>
            </a:lvl2pPr>
            <a:lvl3pPr marL="1125444" indent="0">
              <a:buNone/>
              <a:defRPr sz="2954"/>
            </a:lvl3pPr>
            <a:lvl4pPr marL="1688165" indent="0">
              <a:buNone/>
              <a:defRPr sz="2462"/>
            </a:lvl4pPr>
            <a:lvl5pPr marL="2250887" indent="0">
              <a:buNone/>
              <a:defRPr sz="2462"/>
            </a:lvl5pPr>
            <a:lvl6pPr marL="2813609" indent="0">
              <a:buNone/>
              <a:defRPr sz="2462"/>
            </a:lvl6pPr>
            <a:lvl7pPr marL="3376331" indent="0">
              <a:buNone/>
              <a:defRPr sz="2462"/>
            </a:lvl7pPr>
            <a:lvl8pPr marL="3939052" indent="0">
              <a:buNone/>
              <a:defRPr sz="2462"/>
            </a:lvl8pPr>
            <a:lvl9pPr marL="4501774" indent="0">
              <a:buNone/>
              <a:defRPr sz="2462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554" y="5367338"/>
            <a:ext cx="7315200" cy="804862"/>
          </a:xfrm>
        </p:spPr>
        <p:txBody>
          <a:bodyPr/>
          <a:lstStyle>
            <a:lvl1pPr marL="0" indent="0">
              <a:buNone/>
              <a:defRPr sz="1723">
                <a:solidFill>
                  <a:srgbClr val="000000"/>
                </a:solidFill>
              </a:defRPr>
            </a:lvl1pPr>
            <a:lvl2pPr marL="562722" indent="0">
              <a:buNone/>
              <a:defRPr sz="1477"/>
            </a:lvl2pPr>
            <a:lvl3pPr marL="1125444" indent="0">
              <a:buNone/>
              <a:defRPr sz="1231"/>
            </a:lvl3pPr>
            <a:lvl4pPr marL="1688165" indent="0">
              <a:buNone/>
              <a:defRPr sz="1108"/>
            </a:lvl4pPr>
            <a:lvl5pPr marL="2250887" indent="0">
              <a:buNone/>
              <a:defRPr sz="1108"/>
            </a:lvl5pPr>
            <a:lvl6pPr marL="2813609" indent="0">
              <a:buNone/>
              <a:defRPr sz="1108"/>
            </a:lvl6pPr>
            <a:lvl7pPr marL="3376331" indent="0">
              <a:buNone/>
              <a:defRPr sz="1108"/>
            </a:lvl7pPr>
            <a:lvl8pPr marL="3939052" indent="0">
              <a:buNone/>
              <a:defRPr sz="1108"/>
            </a:lvl8pPr>
            <a:lvl9pPr marL="4501774" indent="0">
              <a:buNone/>
              <a:defRPr sz="1108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A6EC7FDE-831C-4773-9CCD-4D6A877F542E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378515228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solidFill>
                  <a:srgbClr val="000000"/>
                </a:solidFill>
              </a:defRPr>
            </a:lvl1pPr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C7CAB5AA-8175-4E01-AC40-A371C4F50079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083834854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928815" cy="6106690"/>
          </a:xfrm>
        </p:spPr>
        <p:txBody>
          <a:bodyPr vert="eaVert"/>
          <a:lstStyle>
            <a:lvl1pPr>
              <a:defRPr sz="3939">
                <a:solidFill>
                  <a:srgbClr val="000000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335360" y="274638"/>
            <a:ext cx="8316271" cy="6106690"/>
          </a:xfrm>
        </p:spPr>
        <p:txBody>
          <a:bodyPr vert="eaVert"/>
          <a:lstStyle>
            <a:lvl1pPr>
              <a:defRPr>
                <a:solidFill>
                  <a:srgbClr val="000000"/>
                </a:solidFill>
              </a:defRPr>
            </a:lvl1pPr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8F3A9370-114B-41F5-9582-92E53FE088F4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733916010"/>
      </p:ext>
    </p:extLst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3E3FB43C-F578-4BAC-B008-B910508BFE59}"/>
              </a:ext>
            </a:extLst>
          </p:cNvPr>
          <p:cNvSpPr/>
          <p:nvPr userDrawn="1"/>
        </p:nvSpPr>
        <p:spPr>
          <a:xfrm>
            <a:off x="0" y="0"/>
            <a:ext cx="12299766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2542" tIns="56271" rIns="112542" bIns="5627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215"/>
          </a:p>
        </p:txBody>
      </p:sp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 bwMode="ltGray">
          <a:xfrm>
            <a:off x="609600" y="216024"/>
            <a:ext cx="11103024" cy="5486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altLang="zh-TW"/>
              <a:t>Arial(</a:t>
            </a:r>
            <a:r>
              <a:rPr lang="zh-TW" altLang="en-US"/>
              <a:t>標題</a:t>
            </a:r>
            <a:r>
              <a:rPr lang="en-US" altLang="zh-TW"/>
              <a:t>)</a:t>
            </a:r>
            <a:r>
              <a:rPr lang="zh-TW" altLang="en-US"/>
              <a:t> </a:t>
            </a:r>
            <a:r>
              <a:rPr lang="en-US" altLang="zh-TW"/>
              <a:t>40</a:t>
            </a:r>
            <a:r>
              <a:rPr lang="zh-TW" altLang="en-US"/>
              <a:t>號 粗體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 bwMode="ltGray">
          <a:xfrm>
            <a:off x="609600" y="980728"/>
            <a:ext cx="11103024" cy="53004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第一層 </a:t>
            </a:r>
            <a:r>
              <a:rPr lang="en-US" altLang="zh-TW"/>
              <a:t>28</a:t>
            </a:r>
            <a:r>
              <a:rPr lang="zh-TW" altLang="en-US"/>
              <a:t>號 粗體</a:t>
            </a:r>
          </a:p>
          <a:p>
            <a:pPr lvl="1"/>
            <a:r>
              <a:rPr lang="zh-TW" altLang="en-US"/>
              <a:t>第二層 </a:t>
            </a:r>
            <a:r>
              <a:rPr lang="en-US" altLang="zh-TW"/>
              <a:t>24</a:t>
            </a:r>
            <a:r>
              <a:rPr lang="zh-TW" altLang="en-US"/>
              <a:t>號 粗體</a:t>
            </a:r>
          </a:p>
          <a:p>
            <a:pPr lvl="2"/>
            <a:r>
              <a:rPr lang="zh-TW" altLang="en-US"/>
              <a:t>第三層 </a:t>
            </a:r>
            <a:r>
              <a:rPr lang="en-US" altLang="zh-TW"/>
              <a:t>20</a:t>
            </a:r>
            <a:r>
              <a:rPr lang="zh-TW" altLang="en-US"/>
              <a:t>號</a:t>
            </a:r>
          </a:p>
          <a:p>
            <a:pPr lvl="3"/>
            <a:r>
              <a:rPr lang="zh-TW" altLang="en-US"/>
              <a:t>第四層 </a:t>
            </a:r>
            <a:r>
              <a:rPr lang="en-US" altLang="zh-TW"/>
              <a:t>20</a:t>
            </a:r>
            <a:r>
              <a:rPr lang="zh-TW" altLang="en-US"/>
              <a:t>號</a:t>
            </a:r>
          </a:p>
          <a:p>
            <a:pPr lvl="4"/>
            <a:r>
              <a:rPr lang="zh-TW" altLang="en-US"/>
              <a:t>第五層 </a:t>
            </a:r>
            <a:r>
              <a:rPr lang="en-US" altLang="zh-TW"/>
              <a:t>20</a:t>
            </a:r>
            <a:r>
              <a:rPr lang="zh-TW" altLang="en-US"/>
              <a:t>號</a:t>
            </a:r>
          </a:p>
        </p:txBody>
      </p:sp>
    </p:spTree>
    <p:extLst>
      <p:ext uri="{BB962C8B-B14F-4D97-AF65-F5344CB8AC3E}">
        <p14:creationId xmlns:p14="http://schemas.microsoft.com/office/powerpoint/2010/main" val="1322232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52" r:id="rId2"/>
    <p:sldLayoutId id="2147483653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hf hdr="0" dt="0"/>
  <p:txStyles>
    <p:titleStyle>
      <a:lvl1pPr marL="0" indent="0" algn="ctr" defTabSz="914400" rtl="0" eaLnBrk="1" latinLnBrk="1" hangingPunct="1">
        <a:spcBef>
          <a:spcPct val="20000"/>
        </a:spcBef>
        <a:buFont typeface="Arial" pitchFamily="34" charset="0"/>
        <a:buNone/>
        <a:defRPr lang="zh-TW" altLang="en-US" sz="4000" b="1" kern="1200" spc="369" baseline="0" dirty="0">
          <a:solidFill>
            <a:srgbClr val="FF0000"/>
          </a:solidFill>
          <a:latin typeface="+mj-lt"/>
          <a:ea typeface="+mn-ea"/>
          <a:cs typeface="Arial" pitchFamily="34" charset="0"/>
        </a:defRPr>
      </a:lvl1pPr>
    </p:titleStyle>
    <p:bodyStyle>
      <a:lvl1pPr marL="422041" indent="-422041" algn="l" defTabSz="1125444" rtl="0" eaLnBrk="1" latinLnBrk="0" hangingPunct="1">
        <a:lnSpc>
          <a:spcPct val="100000"/>
        </a:lnSpc>
        <a:spcBef>
          <a:spcPts val="738"/>
        </a:spcBef>
        <a:spcAft>
          <a:spcPts val="738"/>
        </a:spcAft>
        <a:buClr>
          <a:schemeClr val="accent1"/>
        </a:buClr>
        <a:buFont typeface="Arial" pitchFamily="34" charset="0"/>
        <a:buChar char="•"/>
        <a:defRPr sz="2800" b="1" kern="1200">
          <a:solidFill>
            <a:srgbClr val="000000"/>
          </a:solidFill>
          <a:latin typeface="Arial" panose="020B0604020202020204" pitchFamily="34" charset="0"/>
          <a:ea typeface="微軟正黑體" pitchFamily="34" charset="-120"/>
          <a:cs typeface="Arial" panose="020B0604020202020204" pitchFamily="34" charset="0"/>
        </a:defRPr>
      </a:lvl1pPr>
      <a:lvl2pPr marL="879253" indent="-433765" algn="l" defTabSz="1125444" rtl="0" eaLnBrk="1" latinLnBrk="0" hangingPunct="1">
        <a:lnSpc>
          <a:spcPct val="100000"/>
        </a:lnSpc>
        <a:spcBef>
          <a:spcPts val="738"/>
        </a:spcBef>
        <a:spcAft>
          <a:spcPts val="738"/>
        </a:spcAft>
        <a:buClr>
          <a:schemeClr val="accent2"/>
        </a:buClr>
        <a:buFont typeface="Arial" pitchFamily="34" charset="0"/>
        <a:buChar char="–"/>
        <a:defRPr sz="2400" b="1" kern="1200">
          <a:solidFill>
            <a:srgbClr val="000000"/>
          </a:solidFill>
          <a:latin typeface="Arial" panose="020B0604020202020204" pitchFamily="34" charset="0"/>
          <a:ea typeface="微軟正黑體" pitchFamily="34" charset="-120"/>
          <a:cs typeface="Arial" panose="020B0604020202020204" pitchFamily="34" charset="0"/>
        </a:defRPr>
      </a:lvl2pPr>
      <a:lvl3pPr marL="1219230" indent="-339978" algn="l" defTabSz="1125444" rtl="0" eaLnBrk="1" latinLnBrk="0" hangingPunct="1">
        <a:lnSpc>
          <a:spcPct val="100000"/>
        </a:lnSpc>
        <a:spcBef>
          <a:spcPts val="738"/>
        </a:spcBef>
        <a:spcAft>
          <a:spcPts val="738"/>
        </a:spcAft>
        <a:buClr>
          <a:schemeClr val="accent3"/>
        </a:buClr>
        <a:buFont typeface="Arial" pitchFamily="34" charset="0"/>
        <a:buChar char="•"/>
        <a:defRPr sz="2000" kern="1200">
          <a:solidFill>
            <a:srgbClr val="000000"/>
          </a:solidFill>
          <a:latin typeface="Arial" panose="020B0604020202020204" pitchFamily="34" charset="0"/>
          <a:ea typeface="微軟正黑體" pitchFamily="34" charset="-120"/>
          <a:cs typeface="Arial" panose="020B0604020202020204" pitchFamily="34" charset="0"/>
        </a:defRPr>
      </a:lvl3pPr>
      <a:lvl4pPr marL="1547485" indent="-328254" algn="l" defTabSz="1125444" rtl="0" eaLnBrk="1" latinLnBrk="0" hangingPunct="1">
        <a:lnSpc>
          <a:spcPct val="100000"/>
        </a:lnSpc>
        <a:spcBef>
          <a:spcPts val="738"/>
        </a:spcBef>
        <a:spcAft>
          <a:spcPts val="738"/>
        </a:spcAft>
        <a:buClr>
          <a:schemeClr val="accent4"/>
        </a:buClr>
        <a:buFont typeface="Arial" pitchFamily="34" charset="0"/>
        <a:buChar char="–"/>
        <a:defRPr sz="2000" kern="1200">
          <a:solidFill>
            <a:srgbClr val="000000"/>
          </a:solidFill>
          <a:latin typeface="Arial" panose="020B0604020202020204" pitchFamily="34" charset="0"/>
          <a:ea typeface="微軟正黑體" pitchFamily="34" charset="-120"/>
          <a:cs typeface="Arial" panose="020B0604020202020204" pitchFamily="34" charset="0"/>
        </a:defRPr>
      </a:lvl4pPr>
      <a:lvl5pPr marL="1875739" indent="-328254" algn="l" defTabSz="1125444" rtl="0" eaLnBrk="1" latinLnBrk="0" hangingPunct="1">
        <a:lnSpc>
          <a:spcPct val="100000"/>
        </a:lnSpc>
        <a:spcBef>
          <a:spcPts val="738"/>
        </a:spcBef>
        <a:spcAft>
          <a:spcPts val="738"/>
        </a:spcAft>
        <a:buClr>
          <a:schemeClr val="accent5"/>
        </a:buClr>
        <a:buFont typeface="Arial" pitchFamily="34" charset="0"/>
        <a:buChar char="»"/>
        <a:defRPr sz="2000" kern="1200">
          <a:solidFill>
            <a:srgbClr val="000000"/>
          </a:solidFill>
          <a:latin typeface="Arial" panose="020B0604020202020204" pitchFamily="34" charset="0"/>
          <a:ea typeface="微軟正黑體" pitchFamily="34" charset="-120"/>
          <a:cs typeface="Arial" panose="020B0604020202020204" pitchFamily="34" charset="0"/>
        </a:defRPr>
      </a:lvl5pPr>
      <a:lvl6pPr marL="3094970" indent="-281361" algn="l" defTabSz="1125444" rtl="0" eaLnBrk="1" latinLnBrk="0" hangingPunct="1">
        <a:spcBef>
          <a:spcPct val="20000"/>
        </a:spcBef>
        <a:buFont typeface="Arial" pitchFamily="34" charset="0"/>
        <a:buChar char="•"/>
        <a:defRPr sz="2462" kern="1200">
          <a:solidFill>
            <a:schemeClr val="tx1"/>
          </a:solidFill>
          <a:latin typeface="+mn-lt"/>
          <a:ea typeface="+mn-ea"/>
          <a:cs typeface="+mn-cs"/>
        </a:defRPr>
      </a:lvl6pPr>
      <a:lvl7pPr marL="3657691" indent="-281361" algn="l" defTabSz="1125444" rtl="0" eaLnBrk="1" latinLnBrk="0" hangingPunct="1">
        <a:spcBef>
          <a:spcPct val="20000"/>
        </a:spcBef>
        <a:buFont typeface="Arial" pitchFamily="34" charset="0"/>
        <a:buChar char="•"/>
        <a:defRPr sz="2462" kern="1200">
          <a:solidFill>
            <a:schemeClr val="tx1"/>
          </a:solidFill>
          <a:latin typeface="+mn-lt"/>
          <a:ea typeface="+mn-ea"/>
          <a:cs typeface="+mn-cs"/>
        </a:defRPr>
      </a:lvl7pPr>
      <a:lvl8pPr marL="4220413" indent="-281361" algn="l" defTabSz="1125444" rtl="0" eaLnBrk="1" latinLnBrk="0" hangingPunct="1">
        <a:spcBef>
          <a:spcPct val="20000"/>
        </a:spcBef>
        <a:buFont typeface="Arial" pitchFamily="34" charset="0"/>
        <a:buChar char="•"/>
        <a:defRPr sz="2462" kern="1200">
          <a:solidFill>
            <a:schemeClr val="tx1"/>
          </a:solidFill>
          <a:latin typeface="+mn-lt"/>
          <a:ea typeface="+mn-ea"/>
          <a:cs typeface="+mn-cs"/>
        </a:defRPr>
      </a:lvl8pPr>
      <a:lvl9pPr marL="4783135" indent="-281361" algn="l" defTabSz="1125444" rtl="0" eaLnBrk="1" latinLnBrk="0" hangingPunct="1">
        <a:spcBef>
          <a:spcPct val="20000"/>
        </a:spcBef>
        <a:buFont typeface="Arial" pitchFamily="34" charset="0"/>
        <a:buChar char="•"/>
        <a:defRPr sz="246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1pPr>
      <a:lvl2pPr marL="562722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2pPr>
      <a:lvl3pPr marL="1125444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3pPr>
      <a:lvl4pPr marL="1688165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4pPr>
      <a:lvl5pPr marL="2250887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5pPr>
      <a:lvl6pPr marL="2813609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6pPr>
      <a:lvl7pPr marL="3376331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7pPr>
      <a:lvl8pPr marL="3939052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8pPr>
      <a:lvl9pPr marL="4501774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1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828D6BC7-90B7-48DA-BBBC-D1E248316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cs typeface="Arial"/>
              </a:rPr>
              <a:t>Flask簡介與app初始化</a:t>
            </a:r>
            <a:endParaRPr lang="zh-TW" altLang="en-US"/>
          </a:p>
        </p:txBody>
      </p:sp>
      <p:sp>
        <p:nvSpPr>
          <p:cNvPr id="7" name="Rectangle 131">
            <a:extLst>
              <a:ext uri="{FF2B5EF4-FFF2-40B4-BE49-F238E27FC236}">
                <a16:creationId xmlns:a16="http://schemas.microsoft.com/office/drawing/2014/main" id="{592B8426-F2A6-4FF0-975A-D6D584A66E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19580" y="5203874"/>
            <a:ext cx="2125663" cy="8240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eaLnBrk="0" hangingPunct="0">
              <a:lnSpc>
                <a:spcPct val="125000"/>
              </a:lnSpc>
            </a:pPr>
            <a:r>
              <a:rPr kumimoji="0" lang="en-US" altLang="zh-TW" sz="2000"/>
              <a:t>Estimated time: </a:t>
            </a:r>
          </a:p>
          <a:p>
            <a:pPr algn="ctr" eaLnBrk="0" hangingPunct="0">
              <a:lnSpc>
                <a:spcPct val="125000"/>
              </a:lnSpc>
            </a:pPr>
            <a:r>
              <a:rPr lang="en-US" altLang="zh-TW" sz="2000">
                <a:solidFill>
                  <a:srgbClr val="FF0000"/>
                </a:solidFill>
              </a:rPr>
              <a:t>45 </a:t>
            </a:r>
            <a:r>
              <a:rPr kumimoji="0" lang="en-US" altLang="zh-TW" sz="2000"/>
              <a:t>min.</a:t>
            </a:r>
          </a:p>
        </p:txBody>
      </p:sp>
      <p:sp>
        <p:nvSpPr>
          <p:cNvPr id="10" name="Rectangle 10">
            <a:extLst>
              <a:ext uri="{FF2B5EF4-FFF2-40B4-BE49-F238E27FC236}">
                <a16:creationId xmlns:a16="http://schemas.microsoft.com/office/drawing/2014/main" id="{5FF5C771-AC3B-4EBC-9701-A916CACBCC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3432" y="5172128"/>
            <a:ext cx="1687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7265" tIns="43632" rIns="87265" bIns="43632" anchor="t">
            <a:spAutoFit/>
          </a:bodyPr>
          <a:lstStyle/>
          <a:p>
            <a:pPr marL="279400" indent="-279400" algn="ctr" defTabSz="873125" eaLnBrk="0" hangingPunct="0">
              <a:spcBef>
                <a:spcPct val="15000"/>
              </a:spcBef>
              <a:buSzPct val="65000"/>
            </a:pPr>
            <a:r>
              <a:rPr lang="en-US" altLang="zh-TW" sz="2400" i="1" dirty="0">
                <a:solidFill>
                  <a:srgbClr val="0000FF"/>
                </a:solidFill>
                <a:latin typeface="Georgia"/>
                <a:ea typeface="標楷體"/>
              </a:rPr>
              <a:t>Module 01</a:t>
            </a:r>
            <a:endParaRPr lang="zh-TW" altLang="zh-TW" sz="2400" i="1" dirty="0">
              <a:solidFill>
                <a:srgbClr val="0000FF"/>
              </a:solidFill>
              <a:latin typeface="Georgia" pitchFamily="18" charset="0"/>
              <a:ea typeface="標楷體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71263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6B7A2-C859-4B36-A3C9-1FD50872A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ea typeface="+mj-lt"/>
                <a:cs typeface="+mj-lt"/>
              </a:rPr>
              <a:t>網頁開發架構</a:t>
            </a:r>
            <a:endParaRPr lang="zh-TW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E10B0F03-6BC4-4003-820A-4551B5D411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4331" y="984099"/>
            <a:ext cx="9951868" cy="5278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4500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6B7A2-C859-4B36-A3C9-1FD50872A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>
                <a:ea typeface="+mj-lt"/>
                <a:cs typeface="+mj-lt"/>
              </a:rPr>
              <a:t>flask簡介</a:t>
            </a:r>
            <a:endParaRPr lang="zh-TW"/>
          </a:p>
        </p:txBody>
      </p:sp>
      <p:sp>
        <p:nvSpPr>
          <p:cNvPr id="12" name="TextShape 3">
            <a:extLst>
              <a:ext uri="{FF2B5EF4-FFF2-40B4-BE49-F238E27FC236}">
                <a16:creationId xmlns:a16="http://schemas.microsoft.com/office/drawing/2014/main" id="{86774D70-246A-48AB-8731-3BAF91BC106E}"/>
              </a:ext>
            </a:extLst>
          </p:cNvPr>
          <p:cNvSpPr txBox="1"/>
          <p:nvPr/>
        </p:nvSpPr>
        <p:spPr>
          <a:xfrm>
            <a:off x="543880" y="927640"/>
            <a:ext cx="11100800" cy="13050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t">
            <a:no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90000"/>
              </a:lnSpc>
              <a:spcBef>
                <a:spcPts val="1103"/>
              </a:spcBef>
              <a:buFont typeface="Arial"/>
              <a:buChar char="•"/>
              <a:tabLst>
                <a:tab pos="0" algn="l"/>
              </a:tabLst>
            </a:pPr>
            <a:r>
              <a:rPr lang="en-US" altLang="zh-TW" sz="2400" spc="-1" dirty="0">
                <a:solidFill>
                  <a:schemeClr val="bg1"/>
                </a:solidFill>
                <a:ea typeface="+mn-lt"/>
                <a:cs typeface="+mn-lt"/>
              </a:rPr>
              <a:t>Flask</a:t>
            </a:r>
            <a:r>
              <a:rPr lang="zh-TW" altLang="en-US" sz="2400" spc="-1" dirty="0">
                <a:solidFill>
                  <a:schemeClr val="bg1"/>
                </a:solidFill>
                <a:ea typeface="+mn-lt"/>
                <a:cs typeface="+mn-lt"/>
              </a:rPr>
              <a:t>是一個使用</a:t>
            </a:r>
            <a:r>
              <a:rPr lang="en-US" altLang="zh-TW" sz="2400" spc="-1" dirty="0">
                <a:solidFill>
                  <a:schemeClr val="bg1"/>
                </a:solidFill>
                <a:ea typeface="+mn-lt"/>
                <a:cs typeface="+mn-lt"/>
              </a:rPr>
              <a:t>Python</a:t>
            </a:r>
            <a:r>
              <a:rPr lang="zh-TW" altLang="en-US" sz="2400" spc="-1" dirty="0">
                <a:solidFill>
                  <a:schemeClr val="bg1"/>
                </a:solidFill>
                <a:ea typeface="+mn-lt"/>
                <a:cs typeface="+mn-lt"/>
              </a:rPr>
              <a:t>編寫的輕量級</a:t>
            </a:r>
            <a:r>
              <a:rPr lang="en-US" altLang="zh-TW" sz="2400" spc="-1" dirty="0">
                <a:solidFill>
                  <a:schemeClr val="bg1"/>
                </a:solidFill>
                <a:ea typeface="+mn-lt"/>
                <a:cs typeface="+mn-lt"/>
              </a:rPr>
              <a:t>Web app</a:t>
            </a:r>
            <a:r>
              <a:rPr lang="zh-TW" altLang="en-US" sz="2400" spc="-1" dirty="0">
                <a:solidFill>
                  <a:schemeClr val="bg1"/>
                </a:solidFill>
                <a:ea typeface="+mn-lt"/>
                <a:cs typeface="+mn-lt"/>
              </a:rPr>
              <a:t>框架。基於</a:t>
            </a:r>
            <a:r>
              <a:rPr lang="en-US" altLang="zh-TW" sz="2400" spc="-1" dirty="0" err="1">
                <a:solidFill>
                  <a:schemeClr val="bg1"/>
                </a:solidFill>
                <a:ea typeface="+mn-lt"/>
                <a:cs typeface="+mn-lt"/>
              </a:rPr>
              <a:t>Werkzeug</a:t>
            </a:r>
            <a:r>
              <a:rPr lang="zh-TW" altLang="en-US" sz="2400" spc="-1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altLang="zh-TW" sz="2400" spc="-1" dirty="0">
                <a:solidFill>
                  <a:schemeClr val="bg1"/>
                </a:solidFill>
                <a:ea typeface="+mn-lt"/>
                <a:cs typeface="+mn-lt"/>
              </a:rPr>
              <a:t>WSGI(</a:t>
            </a:r>
            <a:r>
              <a:rPr lang="en-US" altLang="zh-TW" sz="2400" b="0" i="0" dirty="0">
                <a:solidFill>
                  <a:srgbClr val="EA4335"/>
                </a:solidFill>
                <a:effectLst/>
                <a:latin typeface="arial" panose="020B0604020202020204" pitchFamily="34" charset="0"/>
              </a:rPr>
              <a:t>Web Server Gateway Interface</a:t>
            </a:r>
            <a:r>
              <a:rPr lang="en-US" altLang="zh-TW" sz="2400" spc="-1" dirty="0">
                <a:solidFill>
                  <a:schemeClr val="bg1"/>
                </a:solidFill>
                <a:ea typeface="+mn-lt"/>
                <a:cs typeface="+mn-lt"/>
              </a:rPr>
              <a:t>)</a:t>
            </a:r>
            <a:r>
              <a:rPr lang="zh-TW" altLang="en-US" sz="2400" spc="-1" dirty="0">
                <a:solidFill>
                  <a:schemeClr val="bg1"/>
                </a:solidFill>
                <a:ea typeface="+mn-lt"/>
                <a:cs typeface="+mn-lt"/>
              </a:rPr>
              <a:t>工具箱和</a:t>
            </a:r>
            <a:r>
              <a:rPr lang="en-US" altLang="zh-TW" sz="2400" spc="-1" dirty="0">
                <a:solidFill>
                  <a:schemeClr val="bg1"/>
                </a:solidFill>
                <a:ea typeface="+mn-lt"/>
                <a:cs typeface="+mn-lt"/>
              </a:rPr>
              <a:t>Jinja2</a:t>
            </a:r>
            <a:r>
              <a:rPr lang="zh-TW" altLang="en-US" sz="2400" spc="-1" dirty="0">
                <a:solidFill>
                  <a:schemeClr val="bg1"/>
                </a:solidFill>
                <a:ea typeface="+mn-lt"/>
                <a:cs typeface="+mn-lt"/>
              </a:rPr>
              <a:t>模板引擎。</a:t>
            </a:r>
            <a:endParaRPr lang="zh-TW" dirty="0">
              <a:solidFill>
                <a:schemeClr val="bg1"/>
              </a:solidFill>
              <a:ea typeface="+mn-lt"/>
              <a:cs typeface="+mn-lt"/>
            </a:endParaRPr>
          </a:p>
        </p:txBody>
      </p:sp>
      <p:pic>
        <p:nvPicPr>
          <p:cNvPr id="3" name="圖片 3">
            <a:extLst>
              <a:ext uri="{FF2B5EF4-FFF2-40B4-BE49-F238E27FC236}">
                <a16:creationId xmlns:a16="http://schemas.microsoft.com/office/drawing/2014/main" id="{DD30D9A6-8D61-4510-B697-7391A0EDE2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6578" y="2319502"/>
            <a:ext cx="8381860" cy="3860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8897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D79D1-2D8D-4153-997D-65E5A6F6B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>
                <a:cs typeface="Arial"/>
              </a:rPr>
              <a:t>app初始化</a:t>
            </a:r>
            <a:endParaRPr lang="en-US" altLang="zh-TW" dirty="0"/>
          </a:p>
        </p:txBody>
      </p:sp>
      <p:sp>
        <p:nvSpPr>
          <p:cNvPr id="8" name="TextShape 2">
            <a:extLst>
              <a:ext uri="{FF2B5EF4-FFF2-40B4-BE49-F238E27FC236}">
                <a16:creationId xmlns:a16="http://schemas.microsoft.com/office/drawing/2014/main" id="{59A512D9-2474-42CE-87AF-527DE1393025}"/>
              </a:ext>
            </a:extLst>
          </p:cNvPr>
          <p:cNvSpPr txBox="1"/>
          <p:nvPr/>
        </p:nvSpPr>
        <p:spPr>
          <a:xfrm>
            <a:off x="690344" y="1039409"/>
            <a:ext cx="11119214" cy="52344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t">
            <a:no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spcBef>
                <a:spcPts val="1103"/>
              </a:spcBef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zh-TW" altLang="en-US" sz="2400" spc="-1" dirty="0">
                <a:ea typeface="+mn-lt"/>
                <a:cs typeface="+mn-lt"/>
              </a:rPr>
              <a:t>所</a:t>
            </a:r>
            <a:r>
              <a:rPr lang="zh-TW" sz="2400" spc="-1" dirty="0">
                <a:ea typeface="+mn-lt"/>
                <a:cs typeface="+mn-lt"/>
              </a:rPr>
              <a:t>有Flas</a:t>
            </a:r>
            <a:r>
              <a:rPr lang="en-US" altLang="zh-TW" sz="2400" spc="-1" dirty="0">
                <a:ea typeface="+mn-lt"/>
                <a:cs typeface="+mn-lt"/>
              </a:rPr>
              <a:t>k</a:t>
            </a:r>
            <a:r>
              <a:rPr lang="zh-TW" altLang="en-US" sz="2400" spc="-1" dirty="0">
                <a:ea typeface="+mn-lt"/>
                <a:cs typeface="+mn-lt"/>
              </a:rPr>
              <a:t>應用程序都必須創建一個應用程序實例(instance)。</a:t>
            </a:r>
            <a:endParaRPr lang="en-US" altLang="zh-TW" sz="2400" spc="-1" dirty="0">
              <a:ea typeface="+mn-lt"/>
              <a:cs typeface="+mn-lt"/>
            </a:endParaRPr>
          </a:p>
          <a:p>
            <a:pPr marL="342900" indent="-342900">
              <a:lnSpc>
                <a:spcPct val="150000"/>
              </a:lnSpc>
              <a:spcBef>
                <a:spcPts val="1103"/>
              </a:spcBef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altLang="zh-TW" sz="2400" spc="-1" dirty="0" err="1">
                <a:ea typeface="+mn-lt"/>
                <a:cs typeface="+mn-lt"/>
              </a:rPr>
              <a:t>Web伺服器</a:t>
            </a:r>
            <a:r>
              <a:rPr lang="zh-TW" sz="2400" spc="-1">
                <a:ea typeface="+mn-lt"/>
                <a:cs typeface="+mn-lt"/>
              </a:rPr>
              <a:t>使用</a:t>
            </a:r>
            <a:r>
              <a:rPr lang="zh-TW" altLang="en-US" sz="2400" spc="-1">
                <a:ea typeface="+mn-lt"/>
                <a:cs typeface="+mn-lt"/>
              </a:rPr>
              <a:t>一個稱為WSGI的介面，將從客戶端收到</a:t>
            </a:r>
            <a:r>
              <a:rPr lang="zh-TW" sz="2400" spc="-1">
                <a:ea typeface="+mn-lt"/>
                <a:cs typeface="+mn-lt"/>
              </a:rPr>
              <a:t>的</a:t>
            </a:r>
            <a:r>
              <a:rPr lang="zh-TW" altLang="en-US" sz="2400" spc="-1">
                <a:ea typeface="+mn-lt"/>
                <a:cs typeface="+mn-lt"/>
              </a:rPr>
              <a:t>所有請求傳遞給此</a:t>
            </a:r>
            <a:r>
              <a:rPr lang="zh-TW" sz="2400" spc="-1">
                <a:ea typeface="+mn-lt"/>
                <a:cs typeface="+mn-lt"/>
              </a:rPr>
              <a:t>實例(instance)</a:t>
            </a:r>
            <a:r>
              <a:rPr lang="zh-TW" altLang="en-US" sz="2400" spc="-1">
                <a:ea typeface="+mn-lt"/>
                <a:cs typeface="+mn-lt"/>
              </a:rPr>
              <a:t>進行處理。</a:t>
            </a:r>
          </a:p>
          <a:p>
            <a:pPr>
              <a:lnSpc>
                <a:spcPct val="150000"/>
              </a:lnSpc>
              <a:spcBef>
                <a:spcPts val="1103"/>
              </a:spcBef>
              <a:tabLst>
                <a:tab pos="0" algn="l"/>
              </a:tabLst>
            </a:pPr>
            <a:endParaRPr lang="zh-TW" sz="2400" spc="-1" dirty="0">
              <a:cs typeface="Arial"/>
            </a:endParaRPr>
          </a:p>
        </p:txBody>
      </p:sp>
      <p:grpSp>
        <p:nvGrpSpPr>
          <p:cNvPr id="6" name="群組 5">
            <a:extLst>
              <a:ext uri="{FF2B5EF4-FFF2-40B4-BE49-F238E27FC236}">
                <a16:creationId xmlns:a16="http://schemas.microsoft.com/office/drawing/2014/main" id="{61538813-6400-4B0C-A843-4DE6A9B01C16}"/>
              </a:ext>
            </a:extLst>
          </p:cNvPr>
          <p:cNvGrpSpPr/>
          <p:nvPr/>
        </p:nvGrpSpPr>
        <p:grpSpPr>
          <a:xfrm>
            <a:off x="3847610" y="3287196"/>
            <a:ext cx="4801314" cy="1505692"/>
            <a:chOff x="3462338" y="3742821"/>
            <a:chExt cx="4801314" cy="1505692"/>
          </a:xfrm>
        </p:grpSpPr>
        <p:pic>
          <p:nvPicPr>
            <p:cNvPr id="3" name="圖片 3" descr="一張含有 文字 的圖片&#10;&#10;自動產生的描述">
              <a:extLst>
                <a:ext uri="{FF2B5EF4-FFF2-40B4-BE49-F238E27FC236}">
                  <a16:creationId xmlns:a16="http://schemas.microsoft.com/office/drawing/2014/main" id="{7B24182C-66B6-415C-9B29-0815B2E20C5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831431" y="3742821"/>
              <a:ext cx="4064793" cy="943983"/>
            </a:xfrm>
            <a:prstGeom prst="rect">
              <a:avLst/>
            </a:prstGeom>
          </p:spPr>
        </p:pic>
        <p:sp>
          <p:nvSpPr>
            <p:cNvPr id="5" name="文字方塊 4">
              <a:extLst>
                <a:ext uri="{FF2B5EF4-FFF2-40B4-BE49-F238E27FC236}">
                  <a16:creationId xmlns:a16="http://schemas.microsoft.com/office/drawing/2014/main" id="{3CB435B2-0AB6-40B5-A8F1-3976E960D53F}"/>
                </a:ext>
              </a:extLst>
            </p:cNvPr>
            <p:cNvSpPr txBox="1"/>
            <p:nvPr/>
          </p:nvSpPr>
          <p:spPr>
            <a:xfrm>
              <a:off x="3462338" y="4879181"/>
              <a:ext cx="4801314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zh-TW" altLang="en-US"/>
                <a:t>必要參數是應用程序的主模組或套件的名稱。</a:t>
              </a:r>
              <a:endParaRPr lang="en-US" altLang="zh-TW"/>
            </a:p>
          </p:txBody>
        </p:sp>
      </p:grpSp>
    </p:spTree>
    <p:extLst>
      <p:ext uri="{BB962C8B-B14F-4D97-AF65-F5344CB8AC3E}">
        <p14:creationId xmlns:p14="http://schemas.microsoft.com/office/powerpoint/2010/main" val="7310087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0D50B-2A75-4639-91F0-3896672FC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+mj-lt"/>
                <a:cs typeface="+mj-lt"/>
              </a:rPr>
              <a:t>route</a:t>
            </a:r>
            <a:r>
              <a:rPr lang="zh-TW" altLang="en-US" dirty="0">
                <a:ea typeface="+mj-lt"/>
                <a:cs typeface="+mj-lt"/>
              </a:rPr>
              <a:t> </a:t>
            </a:r>
            <a:r>
              <a:rPr lang="en-US" altLang="zh-TW" dirty="0">
                <a:ea typeface="+mj-lt"/>
                <a:cs typeface="+mj-lt"/>
              </a:rPr>
              <a:t>an</a:t>
            </a:r>
            <a:r>
              <a:rPr lang="zh-TW">
                <a:ea typeface="+mj-lt"/>
                <a:cs typeface="+mj-lt"/>
              </a:rPr>
              <a:t>d vi</a:t>
            </a:r>
            <a:r>
              <a:rPr lang="en-US" dirty="0">
                <a:ea typeface="+mj-lt"/>
                <a:cs typeface="+mj-lt"/>
              </a:rPr>
              <a:t>e</a:t>
            </a:r>
            <a:r>
              <a:rPr lang="zh-TW">
                <a:ea typeface="+mj-lt"/>
                <a:cs typeface="+mj-lt"/>
              </a:rPr>
              <a:t>w</a:t>
            </a:r>
            <a:endParaRPr lang="zh-TW"/>
          </a:p>
        </p:txBody>
      </p:sp>
      <p:sp>
        <p:nvSpPr>
          <p:cNvPr id="17" name="CustomShape 4">
            <a:extLst>
              <a:ext uri="{FF2B5EF4-FFF2-40B4-BE49-F238E27FC236}">
                <a16:creationId xmlns:a16="http://schemas.microsoft.com/office/drawing/2014/main" id="{3A7F783E-0232-4C13-BB2F-DF9501D09037}"/>
              </a:ext>
            </a:extLst>
          </p:cNvPr>
          <p:cNvSpPr/>
          <p:nvPr/>
        </p:nvSpPr>
        <p:spPr>
          <a:xfrm>
            <a:off x="829195" y="717010"/>
            <a:ext cx="10973218" cy="22383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zh-TW" altLang="en-US" sz="2400" spc="-1">
                <a:ea typeface="+mn-lt"/>
                <a:cs typeface="+mn-lt"/>
              </a:rPr>
              <a:t>瀏覽器將客戶端的各種請求發送到</a:t>
            </a:r>
            <a:r>
              <a:rPr lang="en-US" altLang="zh-TW" sz="2400" spc="-1" dirty="0">
                <a:ea typeface="+mn-lt"/>
                <a:cs typeface="+mn-lt"/>
              </a:rPr>
              <a:t>Web</a:t>
            </a:r>
            <a:r>
              <a:rPr lang="zh-TW" altLang="en-US" sz="2400" spc="-1">
                <a:ea typeface="+mn-lt"/>
                <a:cs typeface="+mn-lt"/>
              </a:rPr>
              <a:t>服務器，然後</a:t>
            </a:r>
            <a:r>
              <a:rPr lang="en-US" altLang="zh-TW" sz="2400" spc="-1" dirty="0">
                <a:ea typeface="+mn-lt"/>
                <a:cs typeface="+mn-lt"/>
              </a:rPr>
              <a:t>Web</a:t>
            </a:r>
            <a:r>
              <a:rPr lang="zh-TW" altLang="en-US" sz="2400" spc="-1">
                <a:ea typeface="+mn-lt"/>
                <a:cs typeface="+mn-lt"/>
              </a:rPr>
              <a:t>服務器根據不同的請求進行相對應的處理。 </a:t>
            </a:r>
            <a:endParaRPr lang="zh-TW" altLang="en-US" sz="2400" spc="-1">
              <a:ea typeface="微軟正黑體"/>
              <a:cs typeface="+mn-lt"/>
            </a:endParaRP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endParaRPr lang="zh-TW" altLang="en-US" sz="2400" spc="-1" dirty="0">
              <a:ea typeface="+mn-lt"/>
              <a:cs typeface="+mn-lt"/>
            </a:endParaRP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endParaRPr lang="zh-TW" altLang="en-US" sz="2400" spc="-1" dirty="0">
              <a:ea typeface="+mn-lt"/>
              <a:cs typeface="+mn-lt"/>
            </a:endParaRPr>
          </a:p>
        </p:txBody>
      </p:sp>
      <p:pic>
        <p:nvPicPr>
          <p:cNvPr id="1026" name="Picture 2" descr="Python常用框架：Flask">
            <a:extLst>
              <a:ext uri="{FF2B5EF4-FFF2-40B4-BE49-F238E27FC236}">
                <a16:creationId xmlns:a16="http://schemas.microsoft.com/office/drawing/2014/main" id="{D2A9781B-9955-49C3-A940-B727F41B8D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8987" y="3036585"/>
            <a:ext cx="5534025" cy="3019425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42348053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0D50B-2A75-4639-91F0-3896672FC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+mj-lt"/>
                <a:cs typeface="+mj-lt"/>
              </a:rPr>
              <a:t>route</a:t>
            </a:r>
            <a:r>
              <a:rPr lang="zh-TW" altLang="en-US" dirty="0">
                <a:ea typeface="+mj-lt"/>
                <a:cs typeface="+mj-lt"/>
              </a:rPr>
              <a:t> </a:t>
            </a:r>
            <a:r>
              <a:rPr lang="en-US" altLang="zh-TW" dirty="0">
                <a:ea typeface="+mj-lt"/>
                <a:cs typeface="+mj-lt"/>
              </a:rPr>
              <a:t>an</a:t>
            </a:r>
            <a:r>
              <a:rPr lang="zh-TW">
                <a:ea typeface="+mj-lt"/>
                <a:cs typeface="+mj-lt"/>
              </a:rPr>
              <a:t>d vi</a:t>
            </a:r>
            <a:r>
              <a:rPr lang="en-US" dirty="0">
                <a:ea typeface="+mj-lt"/>
                <a:cs typeface="+mj-lt"/>
              </a:rPr>
              <a:t>e</a:t>
            </a:r>
            <a:r>
              <a:rPr lang="zh-TW">
                <a:ea typeface="+mj-lt"/>
                <a:cs typeface="+mj-lt"/>
              </a:rPr>
              <a:t>w</a:t>
            </a:r>
            <a:endParaRPr lang="zh-TW"/>
          </a:p>
        </p:txBody>
      </p:sp>
      <p:sp>
        <p:nvSpPr>
          <p:cNvPr id="17" name="CustomShape 4">
            <a:extLst>
              <a:ext uri="{FF2B5EF4-FFF2-40B4-BE49-F238E27FC236}">
                <a16:creationId xmlns:a16="http://schemas.microsoft.com/office/drawing/2014/main" id="{3A7F783E-0232-4C13-BB2F-DF9501D09037}"/>
              </a:ext>
            </a:extLst>
          </p:cNvPr>
          <p:cNvSpPr/>
          <p:nvPr/>
        </p:nvSpPr>
        <p:spPr>
          <a:xfrm>
            <a:off x="829195" y="814475"/>
            <a:ext cx="10973218" cy="22383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zh-TW" sz="2400" spc="-1">
                <a:ea typeface="微軟正黑體"/>
                <a:cs typeface="+mn-lt"/>
              </a:rPr>
              <a:t>瀏覽器將客戶端的各種請求發送到</a:t>
            </a:r>
            <a:r>
              <a:rPr lang="en-US" altLang="zh-TW" sz="2400" spc="-1" dirty="0">
                <a:ea typeface="+mn-lt"/>
                <a:cs typeface="+mn-lt"/>
              </a:rPr>
              <a:t>Web</a:t>
            </a:r>
            <a:r>
              <a:rPr lang="zh-TW" sz="2400" spc="-1">
                <a:ea typeface="微軟正黑體"/>
                <a:cs typeface="+mn-lt"/>
              </a:rPr>
              <a:t>服務器，然後</a:t>
            </a:r>
            <a:r>
              <a:rPr lang="en-US" altLang="zh-TW" sz="2400" spc="-1" dirty="0">
                <a:ea typeface="+mn-lt"/>
                <a:cs typeface="+mn-lt"/>
              </a:rPr>
              <a:t>Web</a:t>
            </a:r>
            <a:r>
              <a:rPr lang="zh-TW" sz="2400" spc="-1">
                <a:ea typeface="微軟正黑體"/>
                <a:cs typeface="+mn-lt"/>
              </a:rPr>
              <a:t>服務器根據不同的請求進行相對應的處理。 </a:t>
            </a:r>
            <a:endParaRPr lang="zh-TW" altLang="en-US" sz="2400" spc="-1" dirty="0">
              <a:ea typeface="微軟正黑體"/>
              <a:cs typeface="+mn-lt"/>
            </a:endParaRP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zh-TW" sz="2400" spc="-1">
                <a:ea typeface="微軟正黑體"/>
                <a:cs typeface="+mn-lt"/>
              </a:rPr>
              <a:t>客戶端可以</a:t>
            </a:r>
            <a:r>
              <a:rPr lang="zh-TW" sz="2400" b="1" spc="-1">
                <a:ea typeface="微軟正黑體"/>
                <a:cs typeface="+mn-lt"/>
              </a:rPr>
              <a:t>透過</a:t>
            </a:r>
            <a:r>
              <a:rPr lang="en-US" altLang="zh-TW" sz="2400" b="1" spc="-1" dirty="0" err="1">
                <a:ea typeface="微軟正黑體"/>
                <a:cs typeface="+mn-lt"/>
              </a:rPr>
              <a:t>url表達</a:t>
            </a:r>
            <a:r>
              <a:rPr lang="zh-TW" sz="2400" b="1" spc="-1">
                <a:ea typeface="微軟正黑體"/>
                <a:cs typeface="+mn-lt"/>
              </a:rPr>
              <a:t>不同的請求</a:t>
            </a:r>
            <a:endParaRPr lang="zh-TW" altLang="en-US" sz="2400" spc="-1">
              <a:ea typeface="微軟正黑體"/>
              <a:cs typeface="+mn-lt"/>
            </a:endParaRP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endParaRPr lang="zh-TW" altLang="en-US" sz="2400" spc="-1" dirty="0">
              <a:ea typeface="+mn-lt"/>
              <a:cs typeface="+mn-lt"/>
            </a:endParaRPr>
          </a:p>
        </p:txBody>
      </p:sp>
      <p:grpSp>
        <p:nvGrpSpPr>
          <p:cNvPr id="25" name="群組 24">
            <a:extLst>
              <a:ext uri="{FF2B5EF4-FFF2-40B4-BE49-F238E27FC236}">
                <a16:creationId xmlns:a16="http://schemas.microsoft.com/office/drawing/2014/main" id="{78EC5DD7-4309-6A81-41D8-91E984549F9A}"/>
              </a:ext>
            </a:extLst>
          </p:cNvPr>
          <p:cNvGrpSpPr/>
          <p:nvPr/>
        </p:nvGrpSpPr>
        <p:grpSpPr>
          <a:xfrm>
            <a:off x="1936376" y="2641899"/>
            <a:ext cx="7853084" cy="1699147"/>
            <a:chOff x="1631576" y="2659828"/>
            <a:chExt cx="8552331" cy="1950158"/>
          </a:xfrm>
        </p:grpSpPr>
        <p:pic>
          <p:nvPicPr>
            <p:cNvPr id="11" name="圖片 11" descr="一張含有 標誌 的圖片&#10;&#10;自動產生的描述">
              <a:extLst>
                <a:ext uri="{FF2B5EF4-FFF2-40B4-BE49-F238E27FC236}">
                  <a16:creationId xmlns:a16="http://schemas.microsoft.com/office/drawing/2014/main" id="{620C501D-B6CA-CD3A-D75F-81080B821D2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31576" y="3150534"/>
              <a:ext cx="1694330" cy="951381"/>
            </a:xfrm>
            <a:prstGeom prst="rect">
              <a:avLst/>
            </a:prstGeom>
          </p:spPr>
        </p:pic>
        <p:pic>
          <p:nvPicPr>
            <p:cNvPr id="12" name="圖片 12">
              <a:extLst>
                <a:ext uri="{FF2B5EF4-FFF2-40B4-BE49-F238E27FC236}">
                  <a16:creationId xmlns:a16="http://schemas.microsoft.com/office/drawing/2014/main" id="{693DCE26-CBCC-508F-F10A-308B80F0BEE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875059" y="2837329"/>
              <a:ext cx="1308848" cy="1317812"/>
            </a:xfrm>
            <a:prstGeom prst="rect">
              <a:avLst/>
            </a:prstGeom>
          </p:spPr>
        </p:pic>
        <p:sp>
          <p:nvSpPr>
            <p:cNvPr id="13" name="箭號: 弧形下彎 12">
              <a:extLst>
                <a:ext uri="{FF2B5EF4-FFF2-40B4-BE49-F238E27FC236}">
                  <a16:creationId xmlns:a16="http://schemas.microsoft.com/office/drawing/2014/main" id="{4EE5860C-16AE-95C6-734F-57FD55F4A26A}"/>
                </a:ext>
              </a:extLst>
            </p:cNvPr>
            <p:cNvSpPr/>
            <p:nvPr/>
          </p:nvSpPr>
          <p:spPr>
            <a:xfrm>
              <a:off x="2762655" y="2659828"/>
              <a:ext cx="6505326" cy="740484"/>
            </a:xfrm>
            <a:prstGeom prst="curvedDownArrow">
              <a:avLst/>
            </a:prstGeom>
            <a:ln/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altLang="zh-TW" sz="1600" dirty="0">
                  <a:ea typeface="+mn-lt"/>
                  <a:cs typeface="+mn-lt"/>
                </a:rPr>
                <a:t>https://linux.vbird.org/</a:t>
              </a:r>
              <a:r>
                <a:rPr lang="en-US" altLang="zh-TW" sz="1600" b="1" dirty="0">
                  <a:ea typeface="+mn-lt"/>
                  <a:cs typeface="+mn-lt"/>
                </a:rPr>
                <a:t>linux_basic/centos7/</a:t>
              </a:r>
              <a:endParaRPr lang="zh-TW" sz="1600" b="1">
                <a:ea typeface="+mn-lt"/>
                <a:cs typeface="+mn-lt"/>
              </a:endParaRPr>
            </a:p>
            <a:p>
              <a:pPr algn="ctr"/>
              <a:endParaRPr lang="zh-TW" altLang="en-US" dirty="0">
                <a:solidFill>
                  <a:schemeClr val="tx1"/>
                </a:solidFill>
                <a:cs typeface="Arial"/>
              </a:endParaRPr>
            </a:p>
          </p:txBody>
        </p:sp>
        <p:grpSp>
          <p:nvGrpSpPr>
            <p:cNvPr id="15" name="群組 14">
              <a:extLst>
                <a:ext uri="{FF2B5EF4-FFF2-40B4-BE49-F238E27FC236}">
                  <a16:creationId xmlns:a16="http://schemas.microsoft.com/office/drawing/2014/main" id="{0CC9294E-68E9-7F33-13FA-F80B38DE44DF}"/>
                </a:ext>
              </a:extLst>
            </p:cNvPr>
            <p:cNvGrpSpPr/>
            <p:nvPr/>
          </p:nvGrpSpPr>
          <p:grpSpPr>
            <a:xfrm>
              <a:off x="2636588" y="3618903"/>
              <a:ext cx="6559116" cy="991083"/>
              <a:chOff x="2627623" y="3726480"/>
              <a:chExt cx="6559116" cy="991083"/>
            </a:xfrm>
          </p:grpSpPr>
          <p:sp>
            <p:nvSpPr>
              <p:cNvPr id="14" name="箭號: 弧形左彎 13">
                <a:extLst>
                  <a:ext uri="{FF2B5EF4-FFF2-40B4-BE49-F238E27FC236}">
                    <a16:creationId xmlns:a16="http://schemas.microsoft.com/office/drawing/2014/main" id="{A465F8EB-05EE-7427-3F25-0244D83ABD05}"/>
                  </a:ext>
                </a:extLst>
              </p:cNvPr>
              <p:cNvSpPr/>
              <p:nvPr/>
            </p:nvSpPr>
            <p:spPr>
              <a:xfrm rot="5400000">
                <a:off x="5545903" y="1076727"/>
                <a:ext cx="722556" cy="6559116"/>
              </a:xfrm>
              <a:prstGeom prst="curvedLeftArrow">
                <a:avLst/>
              </a:prstGeom>
              <a:ln/>
            </p:spPr>
            <p:style>
              <a:lnRef idx="1">
                <a:schemeClr val="accent4"/>
              </a:lnRef>
              <a:fillRef idx="3">
                <a:schemeClr val="accent4"/>
              </a:fillRef>
              <a:effectRef idx="2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tx1"/>
                  </a:solidFill>
                </a:endParaRPr>
              </a:p>
            </p:txBody>
          </p:sp>
          <p:pic>
            <p:nvPicPr>
              <p:cNvPr id="7" name="圖片 8" descr="一張含有 文字 的圖片&#10;&#10;自動產生的描述">
                <a:extLst>
                  <a:ext uri="{FF2B5EF4-FFF2-40B4-BE49-F238E27FC236}">
                    <a16:creationId xmlns:a16="http://schemas.microsoft.com/office/drawing/2014/main" id="{CA4CA0AA-24CC-9D31-C9D5-C669295326C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984377" y="3726480"/>
                <a:ext cx="2348754" cy="839390"/>
              </a:xfrm>
              <a:prstGeom prst="rect">
                <a:avLst/>
              </a:prstGeom>
              <a:ln>
                <a:solidFill>
                  <a:schemeClr val="bg1"/>
                </a:solidFill>
              </a:ln>
            </p:spPr>
          </p:pic>
        </p:grpSp>
      </p:grpSp>
      <p:grpSp>
        <p:nvGrpSpPr>
          <p:cNvPr id="24" name="群組 23">
            <a:extLst>
              <a:ext uri="{FF2B5EF4-FFF2-40B4-BE49-F238E27FC236}">
                <a16:creationId xmlns:a16="http://schemas.microsoft.com/office/drawing/2014/main" id="{90711101-DFD3-0749-4E02-93CBC824329B}"/>
              </a:ext>
            </a:extLst>
          </p:cNvPr>
          <p:cNvGrpSpPr/>
          <p:nvPr/>
        </p:nvGrpSpPr>
        <p:grpSpPr>
          <a:xfrm>
            <a:off x="2178423" y="4748605"/>
            <a:ext cx="7548284" cy="1582605"/>
            <a:chOff x="1909482" y="4730675"/>
            <a:chExt cx="8552331" cy="1851546"/>
          </a:xfrm>
        </p:grpSpPr>
        <p:pic>
          <p:nvPicPr>
            <p:cNvPr id="16" name="圖片 11" descr="一張含有 標誌 的圖片&#10;&#10;自動產生的描述">
              <a:extLst>
                <a:ext uri="{FF2B5EF4-FFF2-40B4-BE49-F238E27FC236}">
                  <a16:creationId xmlns:a16="http://schemas.microsoft.com/office/drawing/2014/main" id="{B945DA14-4233-397A-1CAC-6428E52DF5B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09482" y="5122769"/>
              <a:ext cx="1694330" cy="951381"/>
            </a:xfrm>
            <a:prstGeom prst="rect">
              <a:avLst/>
            </a:prstGeom>
          </p:spPr>
        </p:pic>
        <p:pic>
          <p:nvPicPr>
            <p:cNvPr id="18" name="圖片 12" descr="一張含有 文字 的圖片&#10;&#10;自動產生的描述">
              <a:extLst>
                <a:ext uri="{FF2B5EF4-FFF2-40B4-BE49-F238E27FC236}">
                  <a16:creationId xmlns:a16="http://schemas.microsoft.com/office/drawing/2014/main" id="{A67B4CE4-F40A-FFFA-8CD7-7F75ED270AB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152965" y="4809564"/>
              <a:ext cx="1308848" cy="1317812"/>
            </a:xfrm>
            <a:prstGeom prst="rect">
              <a:avLst/>
            </a:prstGeom>
          </p:spPr>
        </p:pic>
        <p:sp>
          <p:nvSpPr>
            <p:cNvPr id="19" name="箭號: 弧形下彎 18">
              <a:extLst>
                <a:ext uri="{FF2B5EF4-FFF2-40B4-BE49-F238E27FC236}">
                  <a16:creationId xmlns:a16="http://schemas.microsoft.com/office/drawing/2014/main" id="{4D1665F0-ED32-D936-9353-F625C24CD8E3}"/>
                </a:ext>
              </a:extLst>
            </p:cNvPr>
            <p:cNvSpPr/>
            <p:nvPr/>
          </p:nvSpPr>
          <p:spPr>
            <a:xfrm>
              <a:off x="3022632" y="4730675"/>
              <a:ext cx="6505326" cy="740484"/>
            </a:xfrm>
            <a:prstGeom prst="curvedDownArrow">
              <a:avLst/>
            </a:prstGeom>
            <a:ln/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lIns="91440" tIns="45720" rIns="91440" bIns="45720" rtlCol="0" anchor="ctr"/>
            <a:lstStyle/>
            <a:p>
              <a:r>
                <a:rPr lang="en-US" sz="1600" dirty="0">
                  <a:ea typeface="+mn-lt"/>
                  <a:cs typeface="+mn-lt"/>
                </a:rPr>
                <a:t>https://linux.vbird.org</a:t>
              </a:r>
              <a:r>
                <a:rPr lang="en-US" sz="1600" b="1" dirty="0">
                  <a:ea typeface="+mn-lt"/>
                  <a:cs typeface="+mn-lt"/>
                </a:rPr>
                <a:t>/events/</a:t>
              </a:r>
            </a:p>
            <a:p>
              <a:endParaRPr lang="en-US" altLang="zh-TW" sz="1600" b="1" dirty="0">
                <a:ea typeface="+mn-lt"/>
                <a:cs typeface="+mn-lt"/>
              </a:endParaRPr>
            </a:p>
            <a:p>
              <a:pPr algn="ctr"/>
              <a:endParaRPr lang="zh-TW" altLang="en-US" dirty="0">
                <a:solidFill>
                  <a:schemeClr val="tx1"/>
                </a:solidFill>
                <a:cs typeface="Arial"/>
              </a:endParaRPr>
            </a:p>
          </p:txBody>
        </p:sp>
        <p:grpSp>
          <p:nvGrpSpPr>
            <p:cNvPr id="23" name="群組 22">
              <a:extLst>
                <a:ext uri="{FF2B5EF4-FFF2-40B4-BE49-F238E27FC236}">
                  <a16:creationId xmlns:a16="http://schemas.microsoft.com/office/drawing/2014/main" id="{27D85B2F-C235-8CE7-4658-B2EC8C84F9CA}"/>
                </a:ext>
              </a:extLst>
            </p:cNvPr>
            <p:cNvGrpSpPr/>
            <p:nvPr/>
          </p:nvGrpSpPr>
          <p:grpSpPr>
            <a:xfrm>
              <a:off x="2914494" y="5600332"/>
              <a:ext cx="6559116" cy="981889"/>
              <a:chOff x="2914494" y="5600332"/>
              <a:chExt cx="6559116" cy="981889"/>
            </a:xfrm>
          </p:grpSpPr>
          <p:pic>
            <p:nvPicPr>
              <p:cNvPr id="10" name="圖片 10" descr="一張含有 日曆 的圖片&#10;&#10;自動產生的描述">
                <a:extLst>
                  <a:ext uri="{FF2B5EF4-FFF2-40B4-BE49-F238E27FC236}">
                    <a16:creationId xmlns:a16="http://schemas.microsoft.com/office/drawing/2014/main" id="{62AD4FB0-88C1-A0F9-84A7-43119472203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020236" y="5600332"/>
                <a:ext cx="2743200" cy="856865"/>
              </a:xfrm>
              <a:prstGeom prst="rect">
                <a:avLst/>
              </a:prstGeom>
            </p:spPr>
          </p:pic>
          <p:sp>
            <p:nvSpPr>
              <p:cNvPr id="21" name="箭號: 弧形左彎 20">
                <a:extLst>
                  <a:ext uri="{FF2B5EF4-FFF2-40B4-BE49-F238E27FC236}">
                    <a16:creationId xmlns:a16="http://schemas.microsoft.com/office/drawing/2014/main" id="{6EA0B841-4977-4AA6-EAC2-53968234FF82}"/>
                  </a:ext>
                </a:extLst>
              </p:cNvPr>
              <p:cNvSpPr/>
              <p:nvPr/>
            </p:nvSpPr>
            <p:spPr>
              <a:xfrm rot="5400000">
                <a:off x="5832774" y="2941385"/>
                <a:ext cx="722556" cy="6559116"/>
              </a:xfrm>
              <a:prstGeom prst="curvedLeftArrow">
                <a:avLst/>
              </a:prstGeom>
              <a:ln/>
            </p:spPr>
            <p:style>
              <a:lnRef idx="1">
                <a:schemeClr val="accent4"/>
              </a:lnRef>
              <a:fillRef idx="3">
                <a:schemeClr val="accent4"/>
              </a:fillRef>
              <a:effectRef idx="2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3421785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0D50B-2A75-4639-91F0-3896672FC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+mj-lt"/>
                <a:cs typeface="+mj-lt"/>
              </a:rPr>
              <a:t>route</a:t>
            </a:r>
            <a:r>
              <a:rPr lang="zh-TW" altLang="en-US" dirty="0">
                <a:ea typeface="+mj-lt"/>
                <a:cs typeface="+mj-lt"/>
              </a:rPr>
              <a:t> </a:t>
            </a:r>
            <a:r>
              <a:rPr lang="en-US" altLang="zh-TW" dirty="0">
                <a:ea typeface="+mj-lt"/>
                <a:cs typeface="+mj-lt"/>
              </a:rPr>
              <a:t>an</a:t>
            </a:r>
            <a:r>
              <a:rPr lang="zh-TW">
                <a:ea typeface="+mj-lt"/>
                <a:cs typeface="+mj-lt"/>
              </a:rPr>
              <a:t>d vi</a:t>
            </a:r>
            <a:r>
              <a:rPr lang="en-US" dirty="0">
                <a:ea typeface="+mj-lt"/>
                <a:cs typeface="+mj-lt"/>
              </a:rPr>
              <a:t>e</a:t>
            </a:r>
            <a:r>
              <a:rPr lang="zh-TW">
                <a:ea typeface="+mj-lt"/>
                <a:cs typeface="+mj-lt"/>
              </a:rPr>
              <a:t>w</a:t>
            </a:r>
            <a:endParaRPr lang="zh-TW"/>
          </a:p>
        </p:txBody>
      </p:sp>
      <p:sp>
        <p:nvSpPr>
          <p:cNvPr id="17" name="CustomShape 4">
            <a:extLst>
              <a:ext uri="{FF2B5EF4-FFF2-40B4-BE49-F238E27FC236}">
                <a16:creationId xmlns:a16="http://schemas.microsoft.com/office/drawing/2014/main" id="{3A7F783E-0232-4C13-BB2F-DF9501D09037}"/>
              </a:ext>
            </a:extLst>
          </p:cNvPr>
          <p:cNvSpPr/>
          <p:nvPr/>
        </p:nvSpPr>
        <p:spPr>
          <a:xfrm>
            <a:off x="829195" y="814475"/>
            <a:ext cx="10973218" cy="334638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zh-TW" sz="2400" spc="-1">
                <a:ea typeface="+mn-lt"/>
                <a:cs typeface="+mn-lt"/>
              </a:rPr>
              <a:t>瀏覽器將客戶端的各種請求發送到</a:t>
            </a:r>
            <a:r>
              <a:rPr lang="en-US" sz="2400" spc="-1" dirty="0">
                <a:ea typeface="+mn-lt"/>
                <a:cs typeface="+mn-lt"/>
              </a:rPr>
              <a:t>Web</a:t>
            </a:r>
            <a:r>
              <a:rPr lang="zh-TW" sz="2400" spc="-1">
                <a:ea typeface="+mn-lt"/>
                <a:cs typeface="+mn-lt"/>
              </a:rPr>
              <a:t>服務器，</a:t>
            </a:r>
            <a:r>
              <a:rPr lang="zh-TW" altLang="en-US" sz="2400" spc="-1">
                <a:ea typeface="+mn-lt"/>
                <a:cs typeface="+mn-lt"/>
              </a:rPr>
              <a:t>然後</a:t>
            </a:r>
            <a:r>
              <a:rPr lang="en-US" altLang="zh-TW" sz="2400" b="1" spc="-1" dirty="0">
                <a:ea typeface="+mn-lt"/>
                <a:cs typeface="+mn-lt"/>
              </a:rPr>
              <a:t>Web</a:t>
            </a:r>
            <a:r>
              <a:rPr lang="zh-TW" altLang="en-US" sz="2400" b="1" spc="-1">
                <a:ea typeface="+mn-lt"/>
                <a:cs typeface="+mn-lt"/>
              </a:rPr>
              <a:t>服務器將它們發送到</a:t>
            </a:r>
            <a:r>
              <a:rPr lang="en-US" altLang="zh-TW" sz="2400" b="1" spc="-1" dirty="0">
                <a:ea typeface="+mn-lt"/>
                <a:cs typeface="+mn-lt"/>
              </a:rPr>
              <a:t>Flask</a:t>
            </a:r>
            <a:r>
              <a:rPr lang="zh-TW" altLang="en-US" sz="2400" b="1" spc="-1">
                <a:ea typeface="+mn-lt"/>
                <a:cs typeface="+mn-lt"/>
              </a:rPr>
              <a:t>應用程序實例。</a:t>
            </a:r>
            <a:endParaRPr lang="zh-TW" altLang="en-US" sz="2400" b="1">
              <a:ea typeface="微軟正黑體"/>
              <a:cs typeface="+mn-lt"/>
            </a:endParaRP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zh-TW" sz="2400" spc="-1">
                <a:ea typeface="微軟正黑體"/>
                <a:cs typeface="+mn-lt"/>
              </a:rPr>
              <a:t>客戶端可以透過</a:t>
            </a:r>
            <a:r>
              <a:rPr lang="en-US" altLang="zh-TW" sz="2400" spc="-1" dirty="0" err="1">
                <a:ea typeface="微軟正黑體"/>
                <a:cs typeface="+mn-lt"/>
              </a:rPr>
              <a:t>url表達</a:t>
            </a:r>
            <a:r>
              <a:rPr lang="zh-TW" sz="2400" spc="-1">
                <a:ea typeface="微軟正黑體"/>
                <a:cs typeface="+mn-lt"/>
              </a:rPr>
              <a:t>不同的請求，</a:t>
            </a:r>
            <a:r>
              <a:rPr lang="zh-TW" altLang="en-US" sz="2400" spc="-1">
                <a:ea typeface="微軟正黑體"/>
                <a:cs typeface="+mn-lt"/>
              </a:rPr>
              <a:t>而</a:t>
            </a:r>
            <a:r>
              <a:rPr lang="en-US" altLang="zh-TW" sz="2400" b="1" spc="-1" dirty="0">
                <a:ea typeface="+mn-lt"/>
                <a:cs typeface="+mn-lt"/>
              </a:rPr>
              <a:t>Flask</a:t>
            </a:r>
            <a:r>
              <a:rPr lang="zh-TW" altLang="en-US" sz="2400" b="1" spc="-1">
                <a:ea typeface="微軟正黑體"/>
                <a:cs typeface="+mn-lt"/>
              </a:rPr>
              <a:t>應用程序實例需要</a:t>
            </a:r>
            <a:r>
              <a:rPr lang="zh-TW" sz="2400" b="1" spc="-1">
                <a:ea typeface="微軟正黑體"/>
                <a:cs typeface="+mn-lt"/>
              </a:rPr>
              <a:t>根據不同的</a:t>
            </a:r>
            <a:r>
              <a:rPr lang="zh-TW" altLang="en-US" sz="2400" b="1" spc="-1">
                <a:ea typeface="微軟正黑體"/>
                <a:cs typeface="+mn-lt"/>
              </a:rPr>
              <a:t>請求進行相對應的處理</a:t>
            </a:r>
            <a:r>
              <a:rPr lang="zh-TW" sz="2400" spc="-1">
                <a:ea typeface="微軟正黑體"/>
                <a:cs typeface="+mn-lt"/>
              </a:rPr>
              <a:t>。 </a:t>
            </a:r>
            <a:endParaRPr lang="zh-TW" altLang="en-US" sz="2400" spc="-1">
              <a:ea typeface="微軟正黑體"/>
              <a:cs typeface="+mn-lt"/>
            </a:endParaRP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endParaRPr lang="zh-TW" altLang="en-US" sz="2400" spc="-1" dirty="0">
              <a:ea typeface="+mn-lt"/>
              <a:cs typeface="+mn-lt"/>
            </a:endParaRP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endParaRPr lang="zh-TW" altLang="en-US" sz="2400" spc="-1" dirty="0">
              <a:ea typeface="+mn-lt"/>
              <a:cs typeface="+mn-lt"/>
            </a:endParaRPr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DE23DCA9-4F5E-440F-8656-B9F218947EA1}"/>
              </a:ext>
            </a:extLst>
          </p:cNvPr>
          <p:cNvGrpSpPr/>
          <p:nvPr/>
        </p:nvGrpSpPr>
        <p:grpSpPr>
          <a:xfrm>
            <a:off x="1906093" y="3753404"/>
            <a:ext cx="8370289" cy="2036460"/>
            <a:chOff x="2625777" y="1715477"/>
            <a:chExt cx="7065364" cy="1322085"/>
          </a:xfrm>
        </p:grpSpPr>
        <p:pic>
          <p:nvPicPr>
            <p:cNvPr id="4" name="圖片 4" descr="一張含有 文字 的圖片&#10;&#10;自動產生的描述">
              <a:extLst>
                <a:ext uri="{FF2B5EF4-FFF2-40B4-BE49-F238E27FC236}">
                  <a16:creationId xmlns:a16="http://schemas.microsoft.com/office/drawing/2014/main" id="{82D1B59F-074D-4560-8ED3-62025275D12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625777" y="1715478"/>
              <a:ext cx="7065364" cy="1322084"/>
            </a:xfrm>
            <a:prstGeom prst="rect">
              <a:avLst/>
            </a:prstGeom>
          </p:spPr>
        </p:pic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F1AE5168-49A7-42A3-8552-120108F96B1C}"/>
                </a:ext>
              </a:extLst>
            </p:cNvPr>
            <p:cNvSpPr/>
            <p:nvPr/>
          </p:nvSpPr>
          <p:spPr>
            <a:xfrm>
              <a:off x="5175682" y="1715477"/>
              <a:ext cx="4515459" cy="1322085"/>
            </a:xfrm>
            <a:prstGeom prst="rect">
              <a:avLst/>
            </a:prstGeom>
            <a:noFill/>
            <a:ln w="38100">
              <a:solidFill>
                <a:srgbClr val="FF0000"/>
              </a:solidFill>
              <a:prstDash val="dash"/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B9F6AF35-5531-4596-8670-546B4A37B46C}"/>
                </a:ext>
              </a:extLst>
            </p:cNvPr>
            <p:cNvSpPr/>
            <p:nvPr/>
          </p:nvSpPr>
          <p:spPr>
            <a:xfrm>
              <a:off x="7963270" y="2388093"/>
              <a:ext cx="1473693" cy="257453"/>
            </a:xfrm>
            <a:prstGeom prst="rect">
              <a:avLst/>
            </a:prstGeom>
            <a:noFill/>
            <a:ln w="38100">
              <a:solidFill>
                <a:srgbClr val="4472C4"/>
              </a:solidFill>
              <a:prstDash val="dash"/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pic>
        <p:nvPicPr>
          <p:cNvPr id="7" name="圖片 12" descr="一張含有 螢幕擷取畫面, 設計 的圖片&#10;&#10;自動產生的描述">
            <a:extLst>
              <a:ext uri="{FF2B5EF4-FFF2-40B4-BE49-F238E27FC236}">
                <a16:creationId xmlns:a16="http://schemas.microsoft.com/office/drawing/2014/main" id="{B443DDE3-C920-989C-477C-C0824D8DE9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7113" y="2852309"/>
            <a:ext cx="1201835" cy="1148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6156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0D50B-2A75-4639-91F0-3896672FC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+mj-lt"/>
                <a:cs typeface="+mj-lt"/>
              </a:rPr>
              <a:t>route</a:t>
            </a:r>
            <a:r>
              <a:rPr lang="zh-TW" altLang="en-US" dirty="0">
                <a:ea typeface="+mj-lt"/>
                <a:cs typeface="+mj-lt"/>
              </a:rPr>
              <a:t> </a:t>
            </a:r>
            <a:r>
              <a:rPr lang="en-US" altLang="zh-TW" dirty="0">
                <a:ea typeface="+mj-lt"/>
                <a:cs typeface="+mj-lt"/>
              </a:rPr>
              <a:t>an</a:t>
            </a:r>
            <a:r>
              <a:rPr lang="zh-TW">
                <a:ea typeface="+mj-lt"/>
                <a:cs typeface="+mj-lt"/>
              </a:rPr>
              <a:t>d vi</a:t>
            </a:r>
            <a:r>
              <a:rPr lang="en-US" dirty="0">
                <a:ea typeface="+mj-lt"/>
                <a:cs typeface="+mj-lt"/>
              </a:rPr>
              <a:t>e</a:t>
            </a:r>
            <a:r>
              <a:rPr lang="zh-TW">
                <a:ea typeface="+mj-lt"/>
                <a:cs typeface="+mj-lt"/>
              </a:rPr>
              <a:t>w</a:t>
            </a:r>
            <a:endParaRPr lang="zh-TW"/>
          </a:p>
        </p:txBody>
      </p:sp>
      <p:sp>
        <p:nvSpPr>
          <p:cNvPr id="17" name="CustomShape 4">
            <a:extLst>
              <a:ext uri="{FF2B5EF4-FFF2-40B4-BE49-F238E27FC236}">
                <a16:creationId xmlns:a16="http://schemas.microsoft.com/office/drawing/2014/main" id="{3A7F783E-0232-4C13-BB2F-DF9501D09037}"/>
              </a:ext>
            </a:extLst>
          </p:cNvPr>
          <p:cNvSpPr/>
          <p:nvPr/>
        </p:nvSpPr>
        <p:spPr>
          <a:xfrm>
            <a:off x="829195" y="814475"/>
            <a:ext cx="10973218" cy="55628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altLang="zh-TW" sz="2400" spc="-1" dirty="0">
                <a:ea typeface="+mn-lt"/>
                <a:cs typeface="+mn-lt"/>
              </a:rPr>
              <a:t>Flask</a:t>
            </a:r>
            <a:r>
              <a:rPr lang="zh-TW" altLang="en-US" sz="2400" spc="-1">
                <a:ea typeface="+mn-lt"/>
                <a:cs typeface="+mn-lt"/>
              </a:rPr>
              <a:t>應用程序實例需要知道該為每個請求的</a:t>
            </a:r>
            <a:r>
              <a:rPr lang="en-US" altLang="zh-TW" sz="2400" spc="-1" dirty="0">
                <a:ea typeface="+mn-lt"/>
                <a:cs typeface="+mn-lt"/>
              </a:rPr>
              <a:t>URL</a:t>
            </a:r>
            <a:r>
              <a:rPr lang="zh-TW" altLang="en-US" sz="2400" spc="-1">
                <a:ea typeface="+mn-lt"/>
                <a:cs typeface="+mn-lt"/>
              </a:rPr>
              <a:t>運行什麼程式碼，因此它紀錄了</a:t>
            </a:r>
            <a:r>
              <a:rPr lang="en-US" altLang="zh-TW" sz="2400" spc="-1" dirty="0">
                <a:ea typeface="+mn-lt"/>
                <a:cs typeface="+mn-lt"/>
              </a:rPr>
              <a:t>URL</a:t>
            </a:r>
            <a:r>
              <a:rPr lang="zh-TW" altLang="en-US" sz="2400" spc="-1">
                <a:ea typeface="+mn-lt"/>
                <a:cs typeface="+mn-lt"/>
              </a:rPr>
              <a:t>到view函數的映射(map)。</a:t>
            </a: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endParaRPr lang="zh-TW" altLang="en-US" sz="2400" spc="-1" dirty="0">
              <a:cs typeface="Arial"/>
            </a:endParaRP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endParaRPr lang="zh-TW" altLang="en-US" sz="2400" spc="-1" dirty="0">
              <a:cs typeface="Arial"/>
            </a:endParaRP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endParaRPr lang="zh-TW" altLang="en-US" sz="2400" spc="-1" dirty="0">
              <a:cs typeface="Arial"/>
            </a:endParaRP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endParaRPr lang="en-US" altLang="zh-TW" sz="2400" spc="-1" dirty="0">
              <a:cs typeface="Arial"/>
            </a:endParaRP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endParaRPr lang="en-US" altLang="zh-TW" sz="2400" spc="-1" dirty="0">
              <a:cs typeface="Arial"/>
            </a:endParaRP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endParaRPr lang="en-US" altLang="zh-TW" sz="2400" spc="-1" dirty="0">
              <a:cs typeface="Arial"/>
            </a:endParaRPr>
          </a:p>
          <a:p>
            <a:pPr>
              <a:lnSpc>
                <a:spcPct val="150000"/>
              </a:lnSpc>
            </a:pPr>
            <a:endParaRPr lang="en-US" altLang="zh-TW" sz="2400" spc="-1" dirty="0">
              <a:cs typeface="Arial"/>
            </a:endParaRP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zh-TW" altLang="en-US" sz="2400" spc="-1">
                <a:cs typeface="Arial"/>
              </a:rPr>
              <a:t>URL與處理它的</a:t>
            </a:r>
            <a:r>
              <a:rPr lang="zh-TW" sz="2400" spc="-1">
                <a:cs typeface="Arial"/>
              </a:rPr>
              <a:t>view函數之間的關係稱為</a:t>
            </a:r>
            <a:r>
              <a:rPr lang="en-US" altLang="zh-TW" sz="2400" spc="-1" dirty="0">
                <a:cs typeface="Arial"/>
              </a:rPr>
              <a:t>route</a:t>
            </a:r>
            <a:endParaRPr lang="zh-TW" sz="2400" spc="-1" dirty="0">
              <a:cs typeface="Arial"/>
            </a:endParaRPr>
          </a:p>
        </p:txBody>
      </p:sp>
      <p:pic>
        <p:nvPicPr>
          <p:cNvPr id="3" name="圖片 3" descr="一張含有 文字 的圖片&#10;&#10;自動產生的描述">
            <a:extLst>
              <a:ext uri="{FF2B5EF4-FFF2-40B4-BE49-F238E27FC236}">
                <a16:creationId xmlns:a16="http://schemas.microsoft.com/office/drawing/2014/main" id="{1A76CB45-04BC-44E2-89DA-94582AE4C87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7022" b="22286"/>
          <a:stretch/>
        </p:blipFill>
        <p:spPr>
          <a:xfrm>
            <a:off x="3475914" y="1997476"/>
            <a:ext cx="5370395" cy="1003177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3A822399-F7CF-4C6A-9DC0-788E095CC34A}"/>
              </a:ext>
            </a:extLst>
          </p:cNvPr>
          <p:cNvSpPr/>
          <p:nvPr/>
        </p:nvSpPr>
        <p:spPr>
          <a:xfrm>
            <a:off x="6019060" y="1890945"/>
            <a:ext cx="2917630" cy="1180730"/>
          </a:xfrm>
          <a:prstGeom prst="rect">
            <a:avLst/>
          </a:prstGeom>
          <a:noFill/>
          <a:ln w="12700">
            <a:solidFill>
              <a:srgbClr val="FF0000"/>
            </a:solidFill>
            <a:prstDash val="dash"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6" name="圖片 7" descr="一張含有 圖表 的圖片&#10;&#10;自動產生的描述">
            <a:extLst>
              <a:ext uri="{FF2B5EF4-FFF2-40B4-BE49-F238E27FC236}">
                <a16:creationId xmlns:a16="http://schemas.microsoft.com/office/drawing/2014/main" id="{575989D7-72A1-C5A1-EEDA-8E0A13D9E9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5200" y="3179354"/>
            <a:ext cx="5316070" cy="2668752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979552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0D50B-2A75-4639-91F0-3896672FC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err="1">
                <a:ea typeface="+mj-lt"/>
                <a:cs typeface="+mj-lt"/>
              </a:rPr>
              <a:t>cre</a:t>
            </a:r>
            <a:r>
              <a:rPr lang="zh-TW">
                <a:ea typeface="+mj-lt"/>
                <a:cs typeface="+mj-lt"/>
              </a:rPr>
              <a:t>a</a:t>
            </a:r>
            <a:r>
              <a:rPr lang="en-US" altLang="zh-TW" err="1">
                <a:ea typeface="+mj-lt"/>
                <a:cs typeface="+mj-lt"/>
              </a:rPr>
              <a:t>te</a:t>
            </a:r>
            <a:r>
              <a:rPr lang="zh-TW">
                <a:ea typeface="+mj-lt"/>
                <a:cs typeface="+mj-lt"/>
              </a:rPr>
              <a:t> </a:t>
            </a:r>
            <a:r>
              <a:rPr lang="en-US">
                <a:ea typeface="+mj-lt"/>
                <a:cs typeface="+mj-lt"/>
              </a:rPr>
              <a:t>rou</a:t>
            </a:r>
            <a:r>
              <a:rPr lang="en-US" altLang="zh-TW">
                <a:ea typeface="+mj-lt"/>
                <a:cs typeface="+mj-lt"/>
              </a:rPr>
              <a:t>te</a:t>
            </a:r>
            <a:endParaRPr lang="zh-TW" altLang="en-US">
              <a:ea typeface="+mj-lt"/>
              <a:cs typeface="+mj-lt"/>
            </a:endParaRPr>
          </a:p>
        </p:txBody>
      </p:sp>
      <p:sp>
        <p:nvSpPr>
          <p:cNvPr id="10" name="文字版面配置區 9">
            <a:extLst>
              <a:ext uri="{FF2B5EF4-FFF2-40B4-BE49-F238E27FC236}">
                <a16:creationId xmlns:a16="http://schemas.microsoft.com/office/drawing/2014/main" id="{E02915EA-6739-44A2-9756-50272A650B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79608" y="3640616"/>
            <a:ext cx="1798890" cy="529039"/>
          </a:xfrm>
        </p:spPr>
        <p:txBody>
          <a:bodyPr>
            <a:normAutofit lnSpcReduction="10000"/>
          </a:bodyPr>
          <a:lstStyle/>
          <a:p>
            <a:r>
              <a:rPr lang="zh-TW" sz="2950" b="0">
                <a:latin typeface="Arial"/>
                <a:ea typeface="微軟正黑體"/>
                <a:cs typeface="Arial"/>
              </a:rPr>
              <a:t>method1</a:t>
            </a:r>
            <a:endParaRPr lang="zh-TW">
              <a:latin typeface="Arial"/>
              <a:ea typeface="微軟正黑體"/>
              <a:cs typeface="Arial"/>
            </a:endParaRPr>
          </a:p>
        </p:txBody>
      </p:sp>
      <p:sp>
        <p:nvSpPr>
          <p:cNvPr id="11" name="文字版面配置區 10">
            <a:extLst>
              <a:ext uri="{FF2B5EF4-FFF2-40B4-BE49-F238E27FC236}">
                <a16:creationId xmlns:a16="http://schemas.microsoft.com/office/drawing/2014/main" id="{8433CF2C-6983-45B3-A568-8352114D61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264368" y="3590648"/>
            <a:ext cx="1785155" cy="641465"/>
          </a:xfrm>
        </p:spPr>
        <p:txBody>
          <a:bodyPr>
            <a:noAutofit/>
          </a:bodyPr>
          <a:lstStyle/>
          <a:p>
            <a:r>
              <a:rPr lang="zh-TW" sz="2950" b="0">
                <a:latin typeface="Arial"/>
                <a:ea typeface="微軟正黑體"/>
                <a:cs typeface="Arial"/>
              </a:rPr>
              <a:t>method</a:t>
            </a:r>
            <a:r>
              <a:rPr lang="en-US" altLang="zh-TW" sz="2950" b="0">
                <a:latin typeface="Arial"/>
                <a:ea typeface="微軟正黑體"/>
                <a:cs typeface="Arial"/>
              </a:rPr>
              <a:t>2</a:t>
            </a:r>
            <a:endParaRPr lang="zh-TW"/>
          </a:p>
        </p:txBody>
      </p:sp>
      <p:pic>
        <p:nvPicPr>
          <p:cNvPr id="12" name="圖片 12" descr="一張含有 文字 的圖片&#10;&#10;自動產生的描述">
            <a:extLst>
              <a:ext uri="{FF2B5EF4-FFF2-40B4-BE49-F238E27FC236}">
                <a16:creationId xmlns:a16="http://schemas.microsoft.com/office/drawing/2014/main" id="{67A2DD02-C9E9-495A-B842-2F83AF94E9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307" y="4254960"/>
            <a:ext cx="5129135" cy="1376687"/>
          </a:xfrm>
          <a:prstGeom prst="rect">
            <a:avLst/>
          </a:prstGeom>
        </p:spPr>
      </p:pic>
      <p:pic>
        <p:nvPicPr>
          <p:cNvPr id="13" name="圖片 13" descr="一張含有 文字 的圖片&#10;&#10;自動產生的描述">
            <a:extLst>
              <a:ext uri="{FF2B5EF4-FFF2-40B4-BE49-F238E27FC236}">
                <a16:creationId xmlns:a16="http://schemas.microsoft.com/office/drawing/2014/main" id="{BD759ECB-6669-4E8A-99B4-5D9F35C76A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9929" y="4318616"/>
            <a:ext cx="5466412" cy="1136950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B5F1DEA4-CF84-4624-BA65-6C6FB19A23F8}"/>
              </a:ext>
            </a:extLst>
          </p:cNvPr>
          <p:cNvSpPr/>
          <p:nvPr/>
        </p:nvSpPr>
        <p:spPr>
          <a:xfrm>
            <a:off x="189018" y="3449286"/>
            <a:ext cx="5773711" cy="2650760"/>
          </a:xfrm>
          <a:prstGeom prst="rect">
            <a:avLst/>
          </a:prstGeom>
          <a:noFill/>
          <a:ln w="57150">
            <a:prstDash val="dash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3" name="圖片 3" descr="一張含有 文字 的圖片&#10;&#10;自動產生的描述">
            <a:extLst>
              <a:ext uri="{FF2B5EF4-FFF2-40B4-BE49-F238E27FC236}">
                <a16:creationId xmlns:a16="http://schemas.microsoft.com/office/drawing/2014/main" id="{2D1299D7-EA5F-4E65-965F-9D56981C2A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34102" y="1118352"/>
            <a:ext cx="6428095" cy="1982729"/>
          </a:xfrm>
          <a:prstGeom prst="rect">
            <a:avLst/>
          </a:prstGeom>
        </p:spPr>
      </p:pic>
      <p:sp>
        <p:nvSpPr>
          <p:cNvPr id="4" name="橢圓 3">
            <a:extLst>
              <a:ext uri="{FF2B5EF4-FFF2-40B4-BE49-F238E27FC236}">
                <a16:creationId xmlns:a16="http://schemas.microsoft.com/office/drawing/2014/main" id="{F8AB4CA1-94AD-481B-A1EF-0943DC61058A}"/>
              </a:ext>
            </a:extLst>
          </p:cNvPr>
          <p:cNvSpPr/>
          <p:nvPr/>
        </p:nvSpPr>
        <p:spPr>
          <a:xfrm>
            <a:off x="6501654" y="2019300"/>
            <a:ext cx="1060075" cy="835959"/>
          </a:xfrm>
          <a:prstGeom prst="ellipse">
            <a:avLst/>
          </a:prstGeom>
          <a:noFill/>
          <a:ln w="28575">
            <a:solidFill>
              <a:schemeClr val="accent3"/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659323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0D50B-2A75-4639-91F0-3896672FC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Development Web Server</a:t>
            </a:r>
            <a:endParaRPr lang="zh-TW"/>
          </a:p>
        </p:txBody>
      </p:sp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FEF97EE1-839A-4367-9BE5-064DDF4F24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58637" y="1052015"/>
            <a:ext cx="10418234" cy="2177956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altLang="zh-TW" sz="3200" b="0" spc="-1" dirty="0" err="1">
                <a:solidFill>
                  <a:schemeClr val="bg1"/>
                </a:solidFill>
                <a:ea typeface="+mn-lt"/>
                <a:cs typeface="+mn-lt"/>
              </a:rPr>
              <a:t>Werkzeug</a:t>
            </a:r>
            <a:r>
              <a:rPr lang="zh-TW" altLang="en-US" sz="3200" b="0" spc="-1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altLang="zh-TW" sz="3200" b="0" spc="-1" dirty="0">
                <a:solidFill>
                  <a:schemeClr val="bg1"/>
                </a:solidFill>
                <a:ea typeface="+mn-lt"/>
                <a:cs typeface="+mn-lt"/>
              </a:rPr>
              <a:t>WSGI</a:t>
            </a:r>
            <a:r>
              <a:rPr lang="zh-TW" altLang="en-US" sz="3200" b="0" spc="-1" dirty="0">
                <a:solidFill>
                  <a:schemeClr val="bg1"/>
                </a:solidFill>
                <a:ea typeface="+mn-lt"/>
                <a:cs typeface="+mn-lt"/>
              </a:rPr>
              <a:t>工具箱</a:t>
            </a:r>
            <a:r>
              <a:rPr lang="zh-TW" sz="2950" b="0" dirty="0">
                <a:solidFill>
                  <a:schemeClr val="bg1"/>
                </a:solidFill>
              </a:rPr>
              <a:t>區分為兩個部份：一為「伺服器」或「閘道」，另一為「應用程式」或「應用框架」。在處理一個WSGI請求時，伺服器會為應用程式提供環境資訊及一個回呼函式（Callback Function）。當應用程式完成處理請求後，透過前述的回呼函式，將結果回傳給伺服器。</a:t>
            </a:r>
            <a:endParaRPr lang="zh-TW" sz="2950" b="0" dirty="0"/>
          </a:p>
          <a:p>
            <a:endParaRPr lang="zh-TW" altLang="en-US" sz="2950" dirty="0"/>
          </a:p>
        </p:txBody>
      </p:sp>
      <p:pic>
        <p:nvPicPr>
          <p:cNvPr id="3" name="圖片 3">
            <a:extLst>
              <a:ext uri="{FF2B5EF4-FFF2-40B4-BE49-F238E27FC236}">
                <a16:creationId xmlns:a16="http://schemas.microsoft.com/office/drawing/2014/main" id="{AC7422E9-61CB-4C6A-9107-EB2E258491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1275" y="3118508"/>
            <a:ext cx="7160419" cy="3299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4211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0D50B-2A75-4639-91F0-3896672FC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Development Web Server</a:t>
            </a:r>
            <a:endParaRPr lang="zh-TW"/>
          </a:p>
        </p:txBody>
      </p:sp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FEF97EE1-839A-4367-9BE5-064DDF4F24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58637" y="1052015"/>
            <a:ext cx="10418234" cy="2177956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zh-TW" altLang="en-US" sz="2950" dirty="0">
                <a:latin typeface="Arial"/>
                <a:ea typeface="微軟正黑體"/>
                <a:cs typeface="Arial"/>
              </a:rPr>
              <a:t>Method1</a:t>
            </a:r>
          </a:p>
          <a:p>
            <a:pPr marL="457200" indent="-457200">
              <a:buChar char="•"/>
            </a:pPr>
            <a:r>
              <a:rPr lang="zh-TW" sz="2950" b="0" dirty="0">
                <a:latin typeface="Arial"/>
                <a:ea typeface="微軟正黑體"/>
                <a:cs typeface="Arial"/>
              </a:rPr>
              <a:t>可以使用</a:t>
            </a:r>
            <a:r>
              <a:rPr lang="zh-TW" sz="2950" dirty="0">
                <a:latin typeface="Arial"/>
                <a:ea typeface="微軟正黑體"/>
                <a:cs typeface="Arial"/>
              </a:rPr>
              <a:t>flask run</a:t>
            </a:r>
            <a:r>
              <a:rPr lang="zh-TW" sz="2950" b="0" dirty="0">
                <a:latin typeface="Arial"/>
                <a:ea typeface="微軟正黑體"/>
                <a:cs typeface="Arial"/>
              </a:rPr>
              <a:t>命令啟動的開發Web服務器。</a:t>
            </a:r>
          </a:p>
          <a:p>
            <a:pPr marL="457200" indent="-457200">
              <a:buChar char="•"/>
            </a:pPr>
            <a:r>
              <a:rPr lang="zh-TW" sz="2950" b="0" dirty="0">
                <a:latin typeface="Arial"/>
                <a:ea typeface="微軟正黑體"/>
                <a:cs typeface="Arial"/>
              </a:rPr>
              <a:t>此命令在</a:t>
            </a:r>
            <a:r>
              <a:rPr lang="zh-TW" sz="2950" dirty="0">
                <a:latin typeface="Arial"/>
                <a:ea typeface="微軟正黑體"/>
                <a:cs typeface="Arial"/>
              </a:rPr>
              <a:t>FLASK_APP</a:t>
            </a:r>
            <a:r>
              <a:rPr lang="zh-TW" sz="2950" b="0" dirty="0">
                <a:latin typeface="Arial"/>
                <a:ea typeface="微軟正黑體"/>
                <a:cs typeface="Arial"/>
              </a:rPr>
              <a:t>環境變量中查找包含應用程序實例的Python腳本的名稱。</a:t>
            </a:r>
            <a:endParaRPr lang="zh-TW" altLang="en-US" sz="2950" b="0" dirty="0">
              <a:latin typeface="Arial"/>
              <a:ea typeface="微軟正黑體"/>
              <a:cs typeface="Arial"/>
            </a:endParaRPr>
          </a:p>
        </p:txBody>
      </p:sp>
      <p:pic>
        <p:nvPicPr>
          <p:cNvPr id="3" name="圖片 3" descr="一張含有 文字 的圖片&#10;&#10;自動產生的描述">
            <a:extLst>
              <a:ext uri="{FF2B5EF4-FFF2-40B4-BE49-F238E27FC236}">
                <a16:creationId xmlns:a16="http://schemas.microsoft.com/office/drawing/2014/main" id="{16B2D79D-AC02-47F4-BB8C-3643C0787F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3857210"/>
            <a:ext cx="9885680" cy="1724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7712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0D50B-2A75-4639-91F0-3896672FC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Development Web Server</a:t>
            </a:r>
            <a:endParaRPr lang="zh-TW"/>
          </a:p>
        </p:txBody>
      </p:sp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FEF97EE1-839A-4367-9BE5-064DDF4F24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58637" y="1052015"/>
            <a:ext cx="10418234" cy="2177956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zh-TW" altLang="en-US" sz="2950" dirty="0">
                <a:latin typeface="Arial"/>
                <a:ea typeface="微軟正黑體"/>
                <a:cs typeface="Arial"/>
              </a:rPr>
              <a:t>Method1</a:t>
            </a:r>
          </a:p>
          <a:p>
            <a:pPr marL="457200" indent="-457200">
              <a:buChar char="•"/>
            </a:pPr>
            <a:r>
              <a:rPr lang="zh-TW" sz="2950" b="0" dirty="0">
                <a:latin typeface="Arial"/>
                <a:ea typeface="微軟正黑體"/>
                <a:cs typeface="Arial"/>
              </a:rPr>
              <a:t>可以使用flask run命令啟動的開發Web服務器。</a:t>
            </a:r>
          </a:p>
          <a:p>
            <a:pPr marL="457200" indent="-457200">
              <a:buChar char="•"/>
            </a:pPr>
            <a:r>
              <a:rPr lang="en-US" altLang="zh-TW" sz="2950" b="0" dirty="0" err="1">
                <a:latin typeface="Arial"/>
                <a:ea typeface="微軟正黑體"/>
                <a:cs typeface="Arial"/>
              </a:rPr>
              <a:t>使用此命令前要設置</a:t>
            </a:r>
            <a:r>
              <a:rPr lang="zh-TW" sz="2950" b="0" dirty="0">
                <a:latin typeface="Arial"/>
                <a:ea typeface="微軟正黑體"/>
                <a:cs typeface="Arial"/>
              </a:rPr>
              <a:t>環境變量</a:t>
            </a:r>
            <a:r>
              <a:rPr lang="zh-TW" altLang="en-US" sz="2950" b="0" dirty="0">
                <a:latin typeface="Arial"/>
                <a:ea typeface="微軟正黑體"/>
                <a:cs typeface="Arial"/>
              </a:rPr>
              <a:t>：</a:t>
            </a:r>
            <a:r>
              <a:rPr lang="en-US" altLang="zh-TW" sz="2950" b="0" dirty="0" err="1">
                <a:latin typeface="Arial"/>
                <a:ea typeface="微軟正黑體"/>
                <a:cs typeface="Arial"/>
              </a:rPr>
              <a:t>FLASK_APP＝包含應用程序實例的Python</a:t>
            </a:r>
            <a:r>
              <a:rPr lang="zh-TW" altLang="en-US" sz="2950" b="0" dirty="0">
                <a:latin typeface="Arial"/>
                <a:ea typeface="微軟正黑體"/>
                <a:cs typeface="Arial"/>
              </a:rPr>
              <a:t>腳本的名稱。</a:t>
            </a:r>
          </a:p>
        </p:txBody>
      </p:sp>
      <p:pic>
        <p:nvPicPr>
          <p:cNvPr id="7" name="圖片 7" descr="一張含有 文字 的圖片&#10;&#10;自動產生的描述">
            <a:extLst>
              <a:ext uri="{FF2B5EF4-FFF2-40B4-BE49-F238E27FC236}">
                <a16:creationId xmlns:a16="http://schemas.microsoft.com/office/drawing/2014/main" id="{972C28B2-EBEB-4913-9FCD-97EA9CE325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598" y="4477553"/>
            <a:ext cx="5166610" cy="913416"/>
          </a:xfrm>
          <a:prstGeom prst="rect">
            <a:avLst/>
          </a:prstGeom>
        </p:spPr>
      </p:pic>
      <p:pic>
        <p:nvPicPr>
          <p:cNvPr id="3" name="圖片 3" descr="一張含有 文字 的圖片&#10;&#10;自動產生的描述">
            <a:extLst>
              <a:ext uri="{FF2B5EF4-FFF2-40B4-BE49-F238E27FC236}">
                <a16:creationId xmlns:a16="http://schemas.microsoft.com/office/drawing/2014/main" id="{F7CBAE61-0229-4FA2-AC28-9D08B7C4FB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5907" y="4523019"/>
            <a:ext cx="5616315" cy="834977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4DEB003C-9E46-4D5B-AD4A-C8FAA98903D4}"/>
              </a:ext>
            </a:extLst>
          </p:cNvPr>
          <p:cNvSpPr txBox="1"/>
          <p:nvPr/>
        </p:nvSpPr>
        <p:spPr>
          <a:xfrm>
            <a:off x="2588301" y="4062334"/>
            <a:ext cx="1699248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zh-TW" altLang="en-US" sz="2400">
                <a:solidFill>
                  <a:schemeClr val="tx1">
                    <a:lumMod val="75000"/>
                  </a:schemeClr>
                </a:solidFill>
              </a:rPr>
              <a:t>windows</a:t>
            </a:r>
            <a:endParaRPr lang="zh-TW" altLang="en-US" sz="2400">
              <a:solidFill>
                <a:schemeClr val="tx1">
                  <a:lumMod val="75000"/>
                </a:schemeClr>
              </a:solidFill>
              <a:cs typeface="Arial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F8D53CA9-F723-4650-8E7B-4C61F46E5C6F}"/>
              </a:ext>
            </a:extLst>
          </p:cNvPr>
          <p:cNvSpPr txBox="1"/>
          <p:nvPr/>
        </p:nvSpPr>
        <p:spPr>
          <a:xfrm>
            <a:off x="8821710" y="4062332"/>
            <a:ext cx="869656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zh-TW" altLang="en-US" sz="2400">
                <a:solidFill>
                  <a:schemeClr val="tx1">
                    <a:lumMod val="75000"/>
                  </a:schemeClr>
                </a:solidFill>
              </a:rPr>
              <a:t>linux</a:t>
            </a:r>
            <a:endParaRPr lang="zh-TW" altLang="en-US" sz="2400">
              <a:solidFill>
                <a:schemeClr val="tx1">
                  <a:lumMod val="75000"/>
                </a:schemeClr>
              </a:solidFill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117078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0D50B-2A75-4639-91F0-3896672FC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Development Web Server</a:t>
            </a:r>
            <a:endParaRPr lang="zh-TW"/>
          </a:p>
        </p:txBody>
      </p:sp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FEF97EE1-839A-4367-9BE5-064DDF4F24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58637" y="1052015"/>
            <a:ext cx="10418234" cy="217795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 altLang="en-US" sz="2950" dirty="0">
                <a:latin typeface="Arial"/>
                <a:ea typeface="微軟正黑體"/>
                <a:cs typeface="Arial"/>
              </a:rPr>
              <a:t>Method2</a:t>
            </a:r>
          </a:p>
          <a:p>
            <a:pPr marL="457200" indent="-457200">
              <a:buChar char="•"/>
            </a:pPr>
            <a:r>
              <a:rPr lang="zh-TW" altLang="en-US" sz="2950" b="0" dirty="0">
                <a:latin typeface="Arial"/>
                <a:ea typeface="微軟正黑體"/>
                <a:cs typeface="Arial"/>
              </a:rPr>
              <a:t>直接執行應</a:t>
            </a:r>
            <a:r>
              <a:rPr lang="zh-TW" sz="2950" b="0" dirty="0">
                <a:latin typeface="Arial"/>
                <a:ea typeface="微軟正黑體"/>
                <a:cs typeface="Arial"/>
              </a:rPr>
              <a:t>用</a:t>
            </a:r>
            <a:r>
              <a:rPr lang="zh-TW" altLang="en-US" sz="2950" b="0" dirty="0">
                <a:latin typeface="Arial"/>
                <a:ea typeface="微軟正黑體"/>
                <a:cs typeface="Arial"/>
              </a:rPr>
              <a:t>程序</a:t>
            </a:r>
            <a:r>
              <a:rPr lang="zh-TW" sz="2950" b="0" dirty="0">
                <a:latin typeface="Arial"/>
                <a:ea typeface="微軟正黑體"/>
                <a:cs typeface="Arial"/>
              </a:rPr>
              <a:t>的</a:t>
            </a:r>
            <a:r>
              <a:rPr lang="zh-TW" altLang="en-US" sz="2950" b="0" dirty="0">
                <a:latin typeface="Arial"/>
                <a:ea typeface="微軟正黑體"/>
                <a:cs typeface="Arial"/>
              </a:rPr>
              <a:t>主腳本，該</a:t>
            </a:r>
            <a:r>
              <a:rPr lang="zh-TW" sz="2950" b="0" dirty="0">
                <a:latin typeface="Arial"/>
                <a:ea typeface="微軟正黑體"/>
                <a:cs typeface="Arial"/>
              </a:rPr>
              <a:t>腳本必須在末尾包含以下代碼段：</a:t>
            </a:r>
          </a:p>
        </p:txBody>
      </p:sp>
      <p:pic>
        <p:nvPicPr>
          <p:cNvPr id="5" name="圖片 8" descr="一張含有 文字, 裝置, 量表 的圖片&#10;&#10;自動產生的描述">
            <a:extLst>
              <a:ext uri="{FF2B5EF4-FFF2-40B4-BE49-F238E27FC236}">
                <a16:creationId xmlns:a16="http://schemas.microsoft.com/office/drawing/2014/main" id="{D2FD0AAD-5282-4083-BD26-24431BA7A2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8368" y="3084028"/>
            <a:ext cx="7215265" cy="1614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7437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0D50B-2A75-4639-91F0-3896672FC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ea typeface="+mj-lt"/>
                <a:cs typeface="+mj-lt"/>
              </a:rPr>
              <a:t>網站伺服器</a:t>
            </a:r>
            <a:endParaRPr lang="zh-TW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04103518-0511-48AB-8D47-EE800E87F6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382" y="910398"/>
            <a:ext cx="9981460" cy="5421024"/>
          </a:xfrm>
          <a:prstGeom prst="rect">
            <a:avLst/>
          </a:prstGeom>
        </p:spPr>
      </p:pic>
      <p:pic>
        <p:nvPicPr>
          <p:cNvPr id="1026" name="Picture 2" descr="Gunicorn/Flask/Gevent with a side of GRPC | by Craig Rueda | Medium">
            <a:extLst>
              <a:ext uri="{FF2B5EF4-FFF2-40B4-BE49-F238E27FC236}">
                <a16:creationId xmlns:a16="http://schemas.microsoft.com/office/drawing/2014/main" id="{56419A79-9339-4C3F-86AD-276F39AF90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4487" y="2894120"/>
            <a:ext cx="2577356" cy="726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85445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0D50B-2A75-4639-91F0-3896672FC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Development Web Server</a:t>
            </a:r>
            <a:endParaRPr lang="zh-TW"/>
          </a:p>
        </p:txBody>
      </p:sp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FEF97EE1-839A-4367-9BE5-064DDF4F24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1391" y="1414277"/>
            <a:ext cx="10792988" cy="285251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 sz="2950" dirty="0">
                <a:latin typeface="Arial"/>
                <a:ea typeface="微軟正黑體"/>
                <a:cs typeface="Arial"/>
              </a:rPr>
              <a:t>Debug Mode</a:t>
            </a:r>
          </a:p>
          <a:p>
            <a:r>
              <a:rPr lang="en-US" altLang="zh-TW" sz="2950" b="0" dirty="0">
                <a:latin typeface="Arial"/>
                <a:ea typeface="微軟正黑體"/>
                <a:cs typeface="Arial"/>
              </a:rPr>
              <a:t>Debug</a:t>
            </a:r>
            <a:r>
              <a:rPr lang="zh-TW" altLang="en-US" sz="2950" b="0" dirty="0">
                <a:latin typeface="Arial"/>
                <a:ea typeface="微軟正黑體"/>
                <a:cs typeface="Arial"/>
              </a:rPr>
              <a:t> </a:t>
            </a:r>
            <a:r>
              <a:rPr lang="en-US" altLang="zh-TW" sz="2950" b="0" dirty="0">
                <a:latin typeface="Arial"/>
                <a:ea typeface="微軟正黑體"/>
                <a:cs typeface="Arial"/>
              </a:rPr>
              <a:t>Mode：</a:t>
            </a:r>
            <a:r>
              <a:rPr lang="zh-TW" sz="2950" b="0">
                <a:latin typeface="Arial"/>
                <a:ea typeface="微軟正黑體"/>
                <a:cs typeface="Arial"/>
              </a:rPr>
              <a:t>修改任何</a:t>
            </a:r>
            <a:r>
              <a:rPr lang="zh-TW" altLang="en-US" sz="2950" b="0">
                <a:latin typeface="Arial"/>
                <a:ea typeface="微軟正黑體"/>
                <a:cs typeface="Arial"/>
              </a:rPr>
              <a:t>程式</a:t>
            </a:r>
            <a:r>
              <a:rPr lang="zh-TW" sz="2950" b="0">
                <a:latin typeface="Arial"/>
                <a:ea typeface="微軟正黑體"/>
                <a:cs typeface="Arial"/>
              </a:rPr>
              <a:t>碼後自動重新啟動</a:t>
            </a:r>
            <a:r>
              <a:rPr lang="en-US" altLang="zh-TW" sz="2950" b="0" dirty="0">
                <a:latin typeface="Arial"/>
                <a:ea typeface="微軟正黑體"/>
                <a:cs typeface="Arial"/>
              </a:rPr>
              <a:t>server</a:t>
            </a:r>
            <a:endParaRPr lang="zh-TW" sz="2950" b="0" dirty="0"/>
          </a:p>
          <a:p>
            <a:pPr marL="457200" indent="-457200">
              <a:buChar char="•"/>
            </a:pPr>
            <a:r>
              <a:rPr lang="zh-TW" sz="2950" b="0" dirty="0">
                <a:latin typeface="Arial"/>
                <a:ea typeface="微軟正黑體"/>
                <a:cs typeface="Arial"/>
              </a:rPr>
              <a:t>flask run </a:t>
            </a:r>
            <a:r>
              <a:rPr lang="en-US" altLang="zh-TW" sz="2950" b="0" dirty="0">
                <a:latin typeface="Arial"/>
                <a:ea typeface="微軟正黑體"/>
                <a:cs typeface="Arial"/>
              </a:rPr>
              <a:t>--</a:t>
            </a:r>
            <a:r>
              <a:rPr lang="zh-TW" sz="2950" b="0" dirty="0">
                <a:latin typeface="Arial"/>
                <a:ea typeface="微軟正黑體"/>
                <a:cs typeface="Arial"/>
              </a:rPr>
              <a:t>debugger</a:t>
            </a:r>
            <a:endParaRPr lang="zh-TW" altLang="en-US" sz="2950" dirty="0">
              <a:latin typeface="Arial"/>
              <a:cs typeface="Arial"/>
            </a:endParaRPr>
          </a:p>
          <a:p>
            <a:pPr marL="457200" indent="-457200">
              <a:buChar char="•"/>
            </a:pPr>
            <a:r>
              <a:rPr lang="en-US" altLang="zh-TW" sz="2950" b="0" dirty="0" err="1">
                <a:latin typeface="Arial"/>
                <a:ea typeface="微軟正黑體"/>
                <a:cs typeface="Arial"/>
              </a:rPr>
              <a:t>app.run</a:t>
            </a:r>
            <a:r>
              <a:rPr lang="en-US" altLang="zh-TW" sz="2950" b="0" dirty="0">
                <a:latin typeface="Arial"/>
                <a:ea typeface="微軟正黑體"/>
                <a:cs typeface="Arial"/>
              </a:rPr>
              <a:t>(debug=True)</a:t>
            </a:r>
            <a:endParaRPr lang="zh-TW" sz="2950" b="0" dirty="0">
              <a:latin typeface="Arial"/>
              <a:ea typeface="微軟正黑體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960766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0D50B-2A75-4639-91F0-3896672FC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Dynamic Routes</a:t>
            </a:r>
            <a:endParaRPr lang="zh-TW" dirty="0"/>
          </a:p>
        </p:txBody>
      </p:sp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FEF97EE1-839A-4367-9BE5-064DDF4F24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50068" y="1310669"/>
            <a:ext cx="10867938" cy="217795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buChar char="•"/>
            </a:pPr>
            <a:r>
              <a:rPr lang="zh-TW" sz="2950" b="0">
                <a:latin typeface="Arial"/>
                <a:ea typeface="微軟正黑體"/>
                <a:cs typeface="Arial"/>
              </a:rPr>
              <a:t>某些網址具有可變</a:t>
            </a:r>
            <a:r>
              <a:rPr lang="zh-TW" altLang="en-US" sz="2950" b="0">
                <a:latin typeface="Arial"/>
                <a:ea typeface="微軟正黑體"/>
                <a:cs typeface="Arial"/>
              </a:rPr>
              <a:t>的部</a:t>
            </a:r>
            <a:r>
              <a:rPr lang="zh-TW" sz="2950" b="0">
                <a:latin typeface="Arial"/>
                <a:ea typeface="微軟正黑體"/>
                <a:cs typeface="Arial"/>
              </a:rPr>
              <a:t>份。</a:t>
            </a:r>
            <a:endParaRPr lang="zh-TW" altLang="en-US" sz="2950" b="0"/>
          </a:p>
          <a:p>
            <a:pPr marL="457200" indent="-457200">
              <a:buChar char="•"/>
            </a:pPr>
            <a:r>
              <a:rPr lang="zh-TW" sz="2950" b="0">
                <a:latin typeface="Arial"/>
                <a:ea typeface="微軟正黑體"/>
                <a:cs typeface="Arial"/>
              </a:rPr>
              <a:t>將這些可變的部份整合起來 </a:t>
            </a:r>
            <a:r>
              <a:rPr lang="en-US" altLang="zh-TW" sz="2950" b="0" dirty="0">
                <a:latin typeface="Arial"/>
                <a:ea typeface="微軟正黑體"/>
                <a:cs typeface="Arial"/>
              </a:rPr>
              <a:t>=&gt;</a:t>
            </a:r>
            <a:r>
              <a:rPr lang="zh-TW" altLang="en-US" sz="2950" b="0">
                <a:latin typeface="Arial"/>
                <a:ea typeface="微軟正黑體"/>
                <a:cs typeface="Arial"/>
              </a:rPr>
              <a:t> 將路由模組化，更好維護程式</a:t>
            </a:r>
            <a:endParaRPr lang="zh-TW" altLang="en-US" sz="2950" b="0"/>
          </a:p>
          <a:p>
            <a:pPr marL="457200" indent="-457200">
              <a:buChar char="•"/>
            </a:pPr>
            <a:r>
              <a:rPr lang="zh-TW" sz="2950" b="0" dirty="0">
                <a:latin typeface="Arial"/>
                <a:ea typeface="微軟正黑體"/>
                <a:cs typeface="Arial"/>
              </a:rPr>
              <a:t>Flask在app.route裝飾器中使用特殊語法支持這些類型的URL。</a:t>
            </a:r>
            <a:endParaRPr lang="zh-TW" dirty="0"/>
          </a:p>
          <a:p>
            <a:endParaRPr lang="zh-TW" sz="2950" b="0" dirty="0">
              <a:latin typeface="Arial"/>
              <a:ea typeface="微軟正黑體"/>
              <a:cs typeface="Arial"/>
            </a:endParaRPr>
          </a:p>
        </p:txBody>
      </p:sp>
      <p:pic>
        <p:nvPicPr>
          <p:cNvPr id="4" name="圖片 4" descr="一張含有 文字 的圖片&#10;&#10;自動產生的描述">
            <a:extLst>
              <a:ext uri="{FF2B5EF4-FFF2-40B4-BE49-F238E27FC236}">
                <a16:creationId xmlns:a16="http://schemas.microsoft.com/office/drawing/2014/main" id="{35F6A476-933A-4F7A-8859-8C908FE221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8565" y="3577884"/>
            <a:ext cx="7952281" cy="1613480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33AA4F2B-0428-40F3-B3F1-5C63492EF3C5}"/>
              </a:ext>
            </a:extLst>
          </p:cNvPr>
          <p:cNvSpPr txBox="1"/>
          <p:nvPr/>
        </p:nvSpPr>
        <p:spPr>
          <a:xfrm>
            <a:off x="3150433" y="5286531"/>
            <a:ext cx="6095481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zh-TW" sz="2400"/>
              <a:t>URL</a:t>
            </a:r>
            <a:r>
              <a:rPr lang="zh-TW" altLang="en-US" sz="2400"/>
              <a:t>中用尖括號括起來的部分是動態部分。</a:t>
            </a:r>
            <a:endParaRPr lang="en-US" altLang="zh-TW" sz="240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422892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0D50B-2A75-4639-91F0-3896672FC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Escape HTML String</a:t>
            </a:r>
            <a:endParaRPr lang="en-US" altLang="en-US"/>
          </a:p>
        </p:txBody>
      </p:sp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FEF97EE1-839A-4367-9BE5-064DDF4F24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3916" y="1789032"/>
            <a:ext cx="10867938" cy="217795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buChar char="•"/>
            </a:pPr>
            <a:r>
              <a:rPr lang="zh-TW" altLang="en-US" sz="2950" b="0" dirty="0">
                <a:latin typeface="Arial"/>
                <a:ea typeface="微軟正黑體"/>
                <a:cs typeface="Arial"/>
              </a:rPr>
              <a:t>將</a:t>
            </a:r>
            <a:r>
              <a:rPr lang="zh-TW" sz="2950" b="0" dirty="0">
                <a:latin typeface="Arial"/>
                <a:ea typeface="微軟正黑體"/>
                <a:cs typeface="Arial"/>
              </a:rPr>
              <a:t>＆，&lt;，&gt;，“和”轉換為HTML安全序列。</a:t>
            </a:r>
            <a:r>
              <a:rPr lang="zh-TW" altLang="en-US" sz="2950" b="0" dirty="0">
                <a:latin typeface="Arial"/>
                <a:ea typeface="微軟正黑體"/>
                <a:cs typeface="Arial"/>
              </a:rPr>
              <a:t> </a:t>
            </a:r>
            <a:endParaRPr lang="zh-TW" dirty="0"/>
          </a:p>
          <a:p>
            <a:pPr marL="457200" indent="-457200">
              <a:buChar char="•"/>
            </a:pPr>
            <a:r>
              <a:rPr lang="zh-TW" altLang="en-US" sz="2950" b="0" dirty="0">
                <a:latin typeface="Arial"/>
                <a:ea typeface="微軟正黑體"/>
                <a:cs typeface="Arial"/>
              </a:rPr>
              <a:t>如果需要在</a:t>
            </a:r>
            <a:r>
              <a:rPr lang="en-US" altLang="zh-TW" sz="2950" b="0" dirty="0">
                <a:latin typeface="Arial"/>
                <a:ea typeface="微軟正黑體"/>
                <a:cs typeface="Arial"/>
              </a:rPr>
              <a:t>HTML</a:t>
            </a:r>
            <a:r>
              <a:rPr lang="zh-TW" sz="2950" b="0" dirty="0">
                <a:latin typeface="Arial"/>
                <a:ea typeface="微軟正黑體"/>
                <a:cs typeface="Arial"/>
              </a:rPr>
              <a:t>中顯示可能包含此類字符的文本，請使用</a:t>
            </a:r>
            <a:r>
              <a:rPr lang="en-US" altLang="zh-TW" sz="2950" b="0" dirty="0">
                <a:latin typeface="Arial"/>
                <a:ea typeface="微軟正黑體"/>
                <a:cs typeface="Arial"/>
              </a:rPr>
              <a:t>:</a:t>
            </a:r>
            <a:endParaRPr lang="zh-TW" altLang="en-US" sz="2950" dirty="0"/>
          </a:p>
          <a:p>
            <a:pPr lvl="1">
              <a:buChar char="•"/>
            </a:pPr>
            <a:r>
              <a:rPr lang="en-US" sz="2800" b="0" err="1">
                <a:latin typeface="Arial"/>
                <a:ea typeface="微軟正黑體"/>
                <a:cs typeface="Arial"/>
              </a:rPr>
              <a:t>markupsafe.escape</a:t>
            </a:r>
            <a:r>
              <a:rPr lang="en-US" sz="2800" b="0" dirty="0">
                <a:solidFill>
                  <a:srgbClr val="3E4349"/>
                </a:solidFill>
                <a:latin typeface="Arial"/>
                <a:ea typeface="微軟正黑體"/>
                <a:cs typeface="Arial"/>
              </a:rPr>
              <a:t>()</a:t>
            </a:r>
            <a:endParaRPr lang="en-US" sz="2800" b="0">
              <a:latin typeface="Arial"/>
              <a:ea typeface="微軟正黑體"/>
              <a:cs typeface="Arial"/>
            </a:endParaRPr>
          </a:p>
          <a:p>
            <a:pPr>
              <a:buClr>
                <a:srgbClr val="E1CB1A"/>
              </a:buClr>
            </a:pPr>
            <a:endParaRPr lang="zh-TW" altLang="en-US" sz="2950" b="0" dirty="0">
              <a:latin typeface="Arial"/>
              <a:ea typeface="微軟正黑體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0636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0D50B-2A75-4639-91F0-3896672FC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Dynamic Routes</a:t>
            </a:r>
            <a:endParaRPr lang="zh-TW"/>
          </a:p>
        </p:txBody>
      </p:sp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FEF97EE1-839A-4367-9BE5-064DDF4F24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58768" y="877130"/>
            <a:ext cx="10867938" cy="217795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buChar char="•"/>
            </a:pPr>
            <a:r>
              <a:rPr lang="en-US" altLang="zh-TW" sz="2950" b="0" dirty="0">
                <a:latin typeface="Arial"/>
                <a:ea typeface="微軟正黑體"/>
                <a:cs typeface="Arial"/>
              </a:rPr>
              <a:t>URL</a:t>
            </a:r>
            <a:r>
              <a:rPr lang="zh-TW" sz="2950" b="0">
                <a:latin typeface="Arial"/>
                <a:ea typeface="微軟正黑體"/>
                <a:cs typeface="Arial"/>
              </a:rPr>
              <a:t>中</a:t>
            </a:r>
            <a:r>
              <a:rPr lang="zh-TW" altLang="en-US" sz="2950" b="0">
                <a:latin typeface="Arial"/>
                <a:ea typeface="微軟正黑體"/>
                <a:cs typeface="Arial"/>
              </a:rPr>
              <a:t>的動態部份的預設型態為string，但</a:t>
            </a:r>
            <a:r>
              <a:rPr lang="zh-TW" sz="2950" b="0">
                <a:latin typeface="Arial"/>
                <a:ea typeface="微軟正黑體"/>
                <a:cs typeface="Arial"/>
              </a:rPr>
              <a:t>使用</a:t>
            </a:r>
            <a:r>
              <a:rPr lang="zh-TW" altLang="en-US" sz="2950" b="0">
                <a:latin typeface="Arial"/>
                <a:ea typeface="微軟正黑體"/>
                <a:cs typeface="Arial"/>
              </a:rPr>
              <a:t>轉換器也可以轉為不同的型態</a:t>
            </a:r>
            <a:r>
              <a:rPr lang="zh-TW" sz="2950" b="0">
                <a:latin typeface="Arial"/>
                <a:ea typeface="微軟正黑體"/>
                <a:cs typeface="Arial"/>
              </a:rPr>
              <a:t>。</a:t>
            </a:r>
            <a:endParaRPr lang="zh-TW"/>
          </a:p>
          <a:p>
            <a:pPr marL="457200" indent="-457200">
              <a:buChar char="•"/>
            </a:pPr>
            <a:r>
              <a:rPr lang="zh-TW" sz="2950" b="0">
                <a:latin typeface="Arial"/>
                <a:ea typeface="微軟正黑體"/>
                <a:cs typeface="Arial"/>
              </a:rPr>
              <a:t>路由</a:t>
            </a:r>
            <a:r>
              <a:rPr lang="en-US" altLang="zh-TW" sz="2950" b="0" dirty="0">
                <a:latin typeface="Arial"/>
                <a:ea typeface="微軟正黑體"/>
                <a:cs typeface="Arial"/>
              </a:rPr>
              <a:t>/</a:t>
            </a:r>
            <a:r>
              <a:rPr lang="zh-TW" sz="2950" b="0" dirty="0">
                <a:latin typeface="Arial"/>
                <a:ea typeface="微軟正黑體"/>
                <a:cs typeface="Arial"/>
              </a:rPr>
              <a:t> </a:t>
            </a:r>
            <a:r>
              <a:rPr lang="en-US" altLang="zh-TW" sz="2950" b="0" dirty="0">
                <a:latin typeface="Arial"/>
                <a:ea typeface="微軟正黑體"/>
                <a:cs typeface="Arial"/>
              </a:rPr>
              <a:t>user</a:t>
            </a:r>
            <a:r>
              <a:rPr lang="zh-TW" sz="2950" b="0" dirty="0">
                <a:latin typeface="Arial"/>
                <a:ea typeface="微軟正黑體"/>
                <a:cs typeface="Arial"/>
              </a:rPr>
              <a:t> </a:t>
            </a:r>
            <a:r>
              <a:rPr lang="en-US" altLang="zh-TW" sz="2950" b="0" dirty="0">
                <a:latin typeface="Arial"/>
                <a:ea typeface="微軟正黑體"/>
                <a:cs typeface="Arial"/>
              </a:rPr>
              <a:t>/</a:t>
            </a:r>
            <a:r>
              <a:rPr lang="zh-TW" sz="2950" b="0" dirty="0">
                <a:latin typeface="Arial"/>
                <a:ea typeface="微軟正黑體"/>
                <a:cs typeface="Arial"/>
              </a:rPr>
              <a:t> </a:t>
            </a:r>
            <a:r>
              <a:rPr lang="en-US" altLang="zh-TW" sz="2950" b="0" dirty="0">
                <a:latin typeface="Arial"/>
                <a:ea typeface="微軟正黑體"/>
                <a:cs typeface="Arial"/>
              </a:rPr>
              <a:t>&lt;int: id&gt; </a:t>
            </a:r>
            <a:r>
              <a:rPr lang="zh-TW" sz="2950" b="0">
                <a:latin typeface="Arial"/>
                <a:ea typeface="微軟正黑體"/>
                <a:cs typeface="Arial"/>
              </a:rPr>
              <a:t>僅匹配</a:t>
            </a:r>
            <a:r>
              <a:rPr lang="en-US" altLang="zh-TW" sz="2950" b="0" dirty="0">
                <a:latin typeface="Arial"/>
                <a:ea typeface="微軟正黑體"/>
                <a:cs typeface="Arial"/>
              </a:rPr>
              <a:t>&lt;id&gt;</a:t>
            </a:r>
            <a:r>
              <a:rPr lang="zh-TW" sz="2950" b="0">
                <a:latin typeface="Arial"/>
                <a:ea typeface="微軟正黑體"/>
                <a:cs typeface="Arial"/>
              </a:rPr>
              <a:t>動態</a:t>
            </a:r>
            <a:r>
              <a:rPr lang="zh-TW" altLang="en-US" sz="2950" b="0">
                <a:latin typeface="Arial"/>
                <a:ea typeface="微軟正黑體"/>
                <a:cs typeface="Arial"/>
              </a:rPr>
              <a:t>區</a:t>
            </a:r>
            <a:r>
              <a:rPr lang="zh-TW" sz="2950" b="0">
                <a:latin typeface="Arial"/>
                <a:ea typeface="微軟正黑體"/>
                <a:cs typeface="Arial"/>
              </a:rPr>
              <a:t>段中</a:t>
            </a:r>
            <a:r>
              <a:rPr lang="zh-TW" altLang="en-US" sz="2950" b="0">
                <a:latin typeface="Arial"/>
                <a:ea typeface="微軟正黑體"/>
                <a:cs typeface="Arial"/>
              </a:rPr>
              <a:t>為</a:t>
            </a:r>
            <a:r>
              <a:rPr lang="zh-TW" sz="2950" b="0">
                <a:latin typeface="Arial"/>
                <a:ea typeface="微軟正黑體"/>
                <a:cs typeface="Arial"/>
              </a:rPr>
              <a:t>整數的</a:t>
            </a:r>
            <a:r>
              <a:rPr lang="en-US" altLang="zh-TW" sz="2950" b="0" dirty="0">
                <a:latin typeface="Arial"/>
                <a:ea typeface="微軟正黑體"/>
                <a:cs typeface="Arial"/>
              </a:rPr>
              <a:t>URL</a:t>
            </a:r>
            <a:endParaRPr lang="zh-TW" altLang="en-US" sz="2950" b="0" dirty="0">
              <a:latin typeface="Arial"/>
              <a:ea typeface="微軟正黑體"/>
              <a:cs typeface="Arial"/>
            </a:endParaRPr>
          </a:p>
          <a:p>
            <a:endParaRPr lang="zh-TW" sz="2950" b="0">
              <a:latin typeface="Arial"/>
              <a:ea typeface="微軟正黑體"/>
              <a:cs typeface="Arial"/>
            </a:endParaRPr>
          </a:p>
        </p:txBody>
      </p:sp>
      <p:pic>
        <p:nvPicPr>
          <p:cNvPr id="7" name="圖片 7">
            <a:extLst>
              <a:ext uri="{FF2B5EF4-FFF2-40B4-BE49-F238E27FC236}">
                <a16:creationId xmlns:a16="http://schemas.microsoft.com/office/drawing/2014/main" id="{374AD789-BEFB-4EA7-BF28-ADBF1EA718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5057" y="2560609"/>
            <a:ext cx="4579493" cy="3772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7537524"/>
      </p:ext>
    </p:extLst>
  </p:cSld>
  <p:clrMapOvr>
    <a:masterClrMapping/>
  </p:clrMapOvr>
</p:sld>
</file>

<file path=ppt/theme/theme1.xml><?xml version="1.0" encoding="utf-8"?>
<a:theme xmlns:a="http://schemas.openxmlformats.org/drawingml/2006/main" name="2019簡報範本_light">
  <a:themeElements>
    <a:clrScheme name="2019iii">
      <a:dk1>
        <a:srgbClr val="717171"/>
      </a:dk1>
      <a:lt1>
        <a:srgbClr val="393939"/>
      </a:lt1>
      <a:dk2>
        <a:srgbClr val="DDDDDD"/>
      </a:dk2>
      <a:lt2>
        <a:srgbClr val="ABABAB"/>
      </a:lt2>
      <a:accent1>
        <a:srgbClr val="E1CB1A"/>
      </a:accent1>
      <a:accent2>
        <a:srgbClr val="42BBC6"/>
      </a:accent2>
      <a:accent3>
        <a:srgbClr val="F0591B"/>
      </a:accent3>
      <a:accent4>
        <a:srgbClr val="FFC000"/>
      </a:accent4>
      <a:accent5>
        <a:srgbClr val="8DCBDA"/>
      </a:accent5>
      <a:accent6>
        <a:srgbClr val="9ACF17"/>
      </a:accent6>
      <a:hlink>
        <a:srgbClr val="F0591B"/>
      </a:hlink>
      <a:folHlink>
        <a:srgbClr val="2A2A2A"/>
      </a:folHlink>
    </a:clrScheme>
    <a:fontScheme name="自訂 XYZ">
      <a:majorFont>
        <a:latin typeface="Arial"/>
        <a:ea typeface="微軟正黑體"/>
        <a:cs typeface=""/>
      </a:majorFont>
      <a:minorFont>
        <a:latin typeface="Arial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/>
      </a:spPr>
      <a:bodyPr rtlCol="0" anchor="ctr"/>
      <a:lstStyle>
        <a:defPPr algn="ctr">
          <a:defRPr/>
        </a:defPPr>
      </a:lstStyle>
      <a:style>
        <a:lnRef idx="1">
          <a:schemeClr val="accent4"/>
        </a:lnRef>
        <a:fillRef idx="3">
          <a:schemeClr val="accent4"/>
        </a:fillRef>
        <a:effectRef idx="2">
          <a:schemeClr val="accent4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defRPr dirty="0" err="1" smtClean="0">
            <a:solidFill>
              <a:schemeClr val="tx1">
                <a:lumMod val="75000"/>
              </a:schemeClr>
            </a:solidFill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2019簡報範本_light</Template>
  <TotalTime>216</TotalTime>
  <Words>1525</Words>
  <Application>Microsoft Office PowerPoint</Application>
  <PresentationFormat>寬螢幕</PresentationFormat>
  <Paragraphs>138</Paragraphs>
  <Slides>18</Slides>
  <Notes>18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18</vt:i4>
      </vt:variant>
    </vt:vector>
  </HeadingPairs>
  <TitlesOfParts>
    <vt:vector size="19" baseType="lpstr">
      <vt:lpstr>2019簡報範本_light</vt:lpstr>
      <vt:lpstr>Flask簡介與app初始化</vt:lpstr>
      <vt:lpstr>網頁開發架構</vt:lpstr>
      <vt:lpstr>flask簡介</vt:lpstr>
      <vt:lpstr>app初始化</vt:lpstr>
      <vt:lpstr>route and view</vt:lpstr>
      <vt:lpstr>route and view</vt:lpstr>
      <vt:lpstr>route and view</vt:lpstr>
      <vt:lpstr>route and view</vt:lpstr>
      <vt:lpstr>create route</vt:lpstr>
      <vt:lpstr>Development Web Server</vt:lpstr>
      <vt:lpstr>Development Web Server</vt:lpstr>
      <vt:lpstr>Development Web Server</vt:lpstr>
      <vt:lpstr>Development Web Server</vt:lpstr>
      <vt:lpstr>網站伺服器</vt:lpstr>
      <vt:lpstr>Development Web Server</vt:lpstr>
      <vt:lpstr>Dynamic Routes</vt:lpstr>
      <vt:lpstr>Escape HTML String</vt:lpstr>
      <vt:lpstr>Dynamic Routes</vt:lpstr>
    </vt:vector>
  </TitlesOfParts>
  <Company>Institute for Information Industry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教研所『課程產品化』開發與製作學員版教材-公版投影片</dc:title>
  <dc:subject>2019 template</dc:subject>
  <dc:creator>Steven Liu</dc:creator>
  <cp:lastModifiedBy>ywt01</cp:lastModifiedBy>
  <cp:revision>318</cp:revision>
  <cp:lastPrinted>2019-04-29T05:54:36Z</cp:lastPrinted>
  <dcterms:created xsi:type="dcterms:W3CDTF">2019-04-17T09:27:11Z</dcterms:created>
  <dcterms:modified xsi:type="dcterms:W3CDTF">2026-06-07T02:52:14Z</dcterms:modified>
  <cp:category>淺色</cp:category>
</cp:coreProperties>
</file>