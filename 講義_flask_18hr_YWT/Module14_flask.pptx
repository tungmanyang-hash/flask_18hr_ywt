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651" r:id="rId1"/>
  </p:sldMasterIdLst>
  <p:notesMasterIdLst>
    <p:notesMasterId r:id="rId8"/>
  </p:notesMasterIdLst>
  <p:handoutMasterIdLst>
    <p:handoutMasterId r:id="rId9"/>
  </p:handoutMasterIdLst>
  <p:sldIdLst>
    <p:sldId id="331" r:id="rId2"/>
    <p:sldId id="424" r:id="rId3"/>
    <p:sldId id="423" r:id="rId4"/>
    <p:sldId id="429" r:id="rId5"/>
    <p:sldId id="427" r:id="rId6"/>
    <p:sldId id="428" r:id="rId7"/>
  </p:sldIdLst>
  <p:sldSz cx="12192000" cy="6858000"/>
  <p:notesSz cx="6807200" cy="9939338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isaac" initials="i" lastIdx="1" clrIdx="0">
    <p:extLst>
      <p:ext uri="{19B8F6BF-5375-455C-9EA6-DF929625EA0E}">
        <p15:presenceInfo xmlns:p15="http://schemas.microsoft.com/office/powerpoint/2012/main" userId="isaac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FFFFFF"/>
    <a:srgbClr val="323E1A"/>
    <a:srgbClr val="003300"/>
    <a:srgbClr val="00009A"/>
    <a:srgbClr val="0000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3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D083AE6-46FA-4A59-8FB0-9F97EB10719F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中等深淺樣式 2 - 輔色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1038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56038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BF5AB9-3463-4E65-AFD3-5431B79ADFDC}" type="datetimeFigureOut">
              <a:rPr lang="zh-TW" altLang="en-US" smtClean="0"/>
              <a:t>2026/6/12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A0C45D-A6E0-411D-9D9F-B22D9F5136D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2107376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575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440863"/>
            <a:ext cx="3763640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6038" y="9440863"/>
            <a:ext cx="2949575" cy="4968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8" name="矩形: 圓角 7">
            <a:extLst>
              <a:ext uri="{FF2B5EF4-FFF2-40B4-BE49-F238E27FC236}">
                <a16:creationId xmlns:a16="http://schemas.microsoft.com/office/drawing/2014/main" id="{7E4D81D0-FCC8-42FD-B0AF-6DA70B5F6E70}"/>
              </a:ext>
            </a:extLst>
          </p:cNvPr>
          <p:cNvSpPr/>
          <p:nvPr/>
        </p:nvSpPr>
        <p:spPr>
          <a:xfrm>
            <a:off x="91232" y="8110145"/>
            <a:ext cx="6623050" cy="1107996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TW" sz="1200" b="0" kern="1200">
                <a:solidFill>
                  <a:srgbClr val="000000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【Key Points】</a:t>
            </a:r>
          </a:p>
          <a:p>
            <a:pPr algn="l"/>
            <a:endParaRPr lang="zh-TW" altLang="en-US"/>
          </a:p>
        </p:txBody>
      </p:sp>
      <p:sp>
        <p:nvSpPr>
          <p:cNvPr id="9" name="投影片圖像版面配置區 3">
            <a:extLst>
              <a:ext uri="{FF2B5EF4-FFF2-40B4-BE49-F238E27FC236}">
                <a16:creationId xmlns:a16="http://schemas.microsoft.com/office/drawing/2014/main" id="{3A6EF303-87EA-4AFE-8AF8-60DA97A171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6125"/>
            <a:ext cx="662305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13" name="備忘稿版面配置區 4">
            <a:extLst>
              <a:ext uri="{FF2B5EF4-FFF2-40B4-BE49-F238E27FC236}">
                <a16:creationId xmlns:a16="http://schemas.microsoft.com/office/drawing/2014/main" id="{8E303468-187E-49A8-9D33-C12B34DA2A2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232" y="4609629"/>
            <a:ext cx="6623050" cy="3500516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91953023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1pPr>
    <a:lvl2pPr marL="4572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Arial" panose="020B0604020202020204" pitchFamily="34" charset="0"/>
      </a:defRPr>
    </a:lvl2pPr>
    <a:lvl3pPr marL="9144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3pPr>
    <a:lvl4pPr marL="13716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4pPr>
    <a:lvl5pPr marL="1828800" algn="l" defTabSz="914400" rtl="0" eaLnBrk="1" latinLnBrk="0" hangingPunct="1">
      <a:lnSpc>
        <a:spcPts val="1600"/>
      </a:lnSpc>
      <a:defRPr sz="1200" kern="1200">
        <a:solidFill>
          <a:srgbClr val="000000"/>
        </a:solidFill>
        <a:latin typeface="Arial" panose="020B0604020202020204" pitchFamily="34" charset="0"/>
        <a:ea typeface="新細明體" panose="02020500000000000000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hih.sheng.huang821/%E6%A9%9F%E5%99%A8%E5%AD%B8%E7%BF%92-%E5%9F%BA%E7%A4%8E%E6%95%B8%E5%AD%B8-%E4%B8%89-%E6%A2%AF%E5%BA%A6%E6%9C%80%E4%BD%B3%E8%A7%A3%E7%9B%B8%E9%97%9C%E7%AE%97%E6%B3%95-gradient-descent-optimization-algorithms-b61ed1478bd7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0</a:t>
            </a:fld>
            <a:endParaRPr lang="zh-TW" altLang="en-US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11BF7A2D-EE60-43A8-8E8A-1CA3E7F4432C}"/>
              </a:ext>
            </a:extLst>
          </p:cNvPr>
          <p:cNvSpPr txBox="1"/>
          <p:nvPr/>
        </p:nvSpPr>
        <p:spPr>
          <a:xfrm>
            <a:off x="91232" y="8426053"/>
            <a:ext cx="66230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>
                <a:solidFill>
                  <a:srgbClr val="0000FF"/>
                </a:solidFill>
              </a:rPr>
              <a:t>每一個章節預估用</a:t>
            </a:r>
            <a:r>
              <a:rPr lang="en-US" altLang="zh-TW" sz="1200">
                <a:solidFill>
                  <a:srgbClr val="0000FF"/>
                </a:solidFill>
              </a:rPr>
              <a:t>30</a:t>
            </a:r>
            <a:r>
              <a:rPr lang="zh-TW" altLang="en-US" sz="1200">
                <a:solidFill>
                  <a:srgbClr val="0000FF"/>
                </a:solidFill>
              </a:rPr>
              <a:t>分鐘講授課程內容，</a:t>
            </a:r>
            <a:r>
              <a:rPr lang="en-US" altLang="zh-TW" sz="1200">
                <a:solidFill>
                  <a:srgbClr val="0000FF"/>
                </a:solidFill>
              </a:rPr>
              <a:t>20</a:t>
            </a:r>
            <a:r>
              <a:rPr lang="zh-TW" altLang="en-US" sz="1200">
                <a:solidFill>
                  <a:srgbClr val="0000FF"/>
                </a:solidFill>
              </a:rPr>
              <a:t>分鐘讓學員實做</a:t>
            </a:r>
            <a:r>
              <a:rPr lang="en-US" altLang="zh-TW" sz="1200">
                <a:solidFill>
                  <a:srgbClr val="0000FF"/>
                </a:solidFill>
              </a:rPr>
              <a:t>Lab</a:t>
            </a:r>
            <a:r>
              <a:rPr lang="zh-TW" altLang="en-US" sz="1200">
                <a:solidFill>
                  <a:srgbClr val="0000FF"/>
                </a:solidFill>
              </a:rPr>
              <a:t>，</a:t>
            </a:r>
            <a:r>
              <a:rPr lang="en-US" altLang="zh-TW" sz="1200">
                <a:solidFill>
                  <a:srgbClr val="0000FF"/>
                </a:solidFill>
              </a:rPr>
              <a:t>10</a:t>
            </a:r>
            <a:r>
              <a:rPr lang="zh-TW" altLang="en-US" sz="1200">
                <a:solidFill>
                  <a:srgbClr val="0000FF"/>
                </a:solidFill>
              </a:rPr>
              <a:t>分鐘討論或休息。</a:t>
            </a:r>
          </a:p>
          <a:p>
            <a:endParaRPr lang="zh-TW" altLang="en-US" sz="1200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222316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53523-1B65-9C46-0DAB-371DDEC4B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D15BA5-BD5E-3BA3-383D-2654E6E8CB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7725AA-20C8-D448-EC97-F117B4A03A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ACF0FB-B1C0-21B4-A451-C04854FDC48C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D399C8-0EAD-8F6F-441B-7E6C229749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1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CEC3D7A7-5A7A-5278-52EB-4648E7A728F0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16768597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AAC67-F412-16A5-D68B-B6449FD63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6B1C000-F6D3-7CD3-D2C0-8D4E7EDD7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407FDA6-9357-2F2C-C2CA-58D27866AF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5936BE-CBB0-C7B4-2829-4626F39392C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E8BE06-4033-95A0-8C98-BCF83EA756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2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F9004C6D-F02C-9CDB-4669-33596A770C56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740016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DB1DA-4861-4FA9-9ED9-B6149ECB0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188EBBC-5EE9-C1D0-686D-D4E4B1B6B6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43A23D-19D2-7B53-7BBE-E0BFBC0907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63D07F-4B50-6608-4FE6-B4D01F0CE43E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FC2BDA-9BEB-05C9-3727-D8AFE9300F2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3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35A75D40-6DEA-ACB7-0C03-84CAEE409334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970205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B2A30-F121-13A8-E9EF-4EB234E338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767463-F1DF-86C9-761D-8B95DAF266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25B14B-8AA7-AEF4-7DC5-428CBA7ABA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B40BF-1265-2CF9-3505-D5FD5149DD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522D1-841D-E357-5FEF-74F5364235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4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A67B0BDE-4C53-7059-06AC-28CC0A5A681B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21102946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9EBAF-3E24-1CC6-4B86-5CC9EB716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F5C170-C748-A6A3-53F7-E625F8F079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89551DB-8544-3020-A9D1-A8B1860E04A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BC72D2-A081-30C7-636C-516AADDA6848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algn="r"/>
            <a:r>
              <a:rPr lang="en-US" altLang="zh-TW"/>
              <a:t>© Institute for Information Industry. All rights reserved. </a:t>
            </a:r>
            <a:endParaRPr lang="zh-TW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1B9C3A-8B82-9D3E-A9A1-E99AAD65CFC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 altLang="zh-TW"/>
              <a:t>1-</a:t>
            </a:r>
            <a:fld id="{6F9E9FB9-4D1E-4A88-8F87-B34AFE16905A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7" name="文字方塊 5">
            <a:extLst>
              <a:ext uri="{FF2B5EF4-FFF2-40B4-BE49-F238E27FC236}">
                <a16:creationId xmlns:a16="http://schemas.microsoft.com/office/drawing/2014/main" id="{2B950BE6-0D52-E125-3AC9-F1E022AD0413}"/>
              </a:ext>
            </a:extLst>
          </p:cNvPr>
          <p:cNvSpPr txBox="1"/>
          <p:nvPr/>
        </p:nvSpPr>
        <p:spPr>
          <a:xfrm>
            <a:off x="91232" y="8354045"/>
            <a:ext cx="662305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TW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Backpropagation</a:t>
            </a:r>
            <a:r>
              <a:rPr lang="zh-TW" altLang="en-US" sz="1200">
                <a:solidFill>
                  <a:srgbClr val="0000FF"/>
                </a:solidFill>
              </a:rPr>
              <a:t>是一種與最優化方結合使用的，用來訓練神經網路的常見方法</a:t>
            </a:r>
            <a:endParaRPr lang="en-US" altLang="zh-TW" sz="1200">
              <a:solidFill>
                <a:srgbClr val="0000FF"/>
              </a:solidFill>
            </a:endParaRPr>
          </a:p>
          <a:p>
            <a:pPr marL="228600" indent="-228600">
              <a:buAutoNum type="arabicPeriod"/>
            </a:pPr>
            <a:r>
              <a:rPr lang="en-US" altLang="zh-TW" sz="1200">
                <a:hlinkClick r:id="rId3"/>
              </a:rPr>
              <a:t>https://medium.com/@chih.sheng.huang821/%E6%A9%9F%E5%99%A8%E5%AD%B8%E7%BF%92-%E5%9F%BA%E7%A4%8E%E6%95%B8%E5%AD%B8-%E4%B8%89-%E6%A2%AF%E5%BA%A6%E6%9C%80%E4%BD%B3%E8%A7%A3%E7%9B%B8%E9%97%9C%E7%AE%97%E6%B3%95-gradient-descent-optimization-algorithms-b61ed1478bd7 </a:t>
            </a:r>
            <a:endParaRPr lang="en-US" altLang="zh-TW" sz="1200"/>
          </a:p>
          <a:p>
            <a:pPr marL="228600" indent="-228600">
              <a:buAutoNum type="arabicPeriod"/>
            </a:pPr>
            <a:r>
              <a:rPr lang="en-US" altLang="zh-TW" sz="1200">
                <a:solidFill>
                  <a:srgbClr val="0000FF"/>
                </a:solidFill>
              </a:rPr>
              <a:t>Learning rate </a:t>
            </a:r>
            <a:r>
              <a:rPr lang="zh-TW" altLang="en-US" sz="1200">
                <a:solidFill>
                  <a:srgbClr val="0000FF"/>
                </a:solidFill>
              </a:rPr>
              <a:t>調整會對訓練有很大影響</a:t>
            </a:r>
          </a:p>
        </p:txBody>
      </p:sp>
    </p:spTree>
    <p:extLst>
      <p:ext uri="{BB962C8B-B14F-4D97-AF65-F5344CB8AC3E}">
        <p14:creationId xmlns:p14="http://schemas.microsoft.com/office/powerpoint/2010/main" val="3391517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 hasCustomPrompt="1"/>
          </p:nvPr>
        </p:nvSpPr>
        <p:spPr>
          <a:xfrm>
            <a:off x="453940" y="2852936"/>
            <a:ext cx="11247040" cy="692696"/>
          </a:xfrm>
        </p:spPr>
        <p:txBody>
          <a:bodyPr/>
          <a:lstStyle>
            <a:lvl1pPr algn="ctr"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封面</a:t>
            </a:r>
          </a:p>
        </p:txBody>
      </p:sp>
      <p:sp>
        <p:nvSpPr>
          <p:cNvPr id="5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A592F39-E5A5-4CE6-B04B-B4DCCEDFCE8D}"/>
              </a:ext>
            </a:extLst>
          </p:cNvPr>
          <p:cNvSpPr txBox="1"/>
          <p:nvPr userDrawn="1"/>
        </p:nvSpPr>
        <p:spPr>
          <a:xfrm>
            <a:off x="4553305" y="1427937"/>
            <a:ext cx="2836007" cy="774058"/>
          </a:xfrm>
          <a:prstGeom prst="rect">
            <a:avLst/>
          </a:prstGeom>
          <a:solidFill>
            <a:srgbClr val="FFFFFF"/>
          </a:solidFill>
        </p:spPr>
        <p:txBody>
          <a:bodyPr wrap="square" rtlCol="0">
            <a:spAutoFit/>
          </a:bodyPr>
          <a:lstStyle/>
          <a:p>
            <a:endParaRPr lang="en-US" altLang="zh-TW" sz="2215">
              <a:solidFill>
                <a:schemeClr val="tx1">
                  <a:lumMod val="75000"/>
                </a:schemeClr>
              </a:solidFill>
            </a:endParaRPr>
          </a:p>
          <a:p>
            <a:endParaRPr lang="zh-TW" altLang="en-US" sz="2215" err="1">
              <a:solidFill>
                <a:schemeClr val="tx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3606502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>
            <a:lvl1pPr>
              <a:defRPr sz="5000">
                <a:solidFill>
                  <a:srgbClr val="0000FF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61048"/>
            <a:ext cx="8534400" cy="1752600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00FF"/>
                </a:solidFill>
              </a:defRPr>
            </a:lvl1pPr>
            <a:lvl2pPr marL="5627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254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881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508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136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37633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93905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017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D46DC4E-74EA-4FF4-9DAA-ED2D59AFB0F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23463714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 b="1">
                <a:solidFill>
                  <a:srgbClr val="000000"/>
                </a:solidFill>
              </a:defRPr>
            </a:lvl1pPr>
            <a:lvl2pPr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2pPr>
            <a:lvl3pPr marL="1324741" indent="-32825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3pPr>
            <a:lvl4pPr marL="1652995" indent="-222744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defRPr>
                <a:solidFill>
                  <a:srgbClr val="000000"/>
                </a:solidFill>
              </a:defRPr>
            </a:lvl4pPr>
            <a:lvl5pPr marL="1992973" indent="-339978">
              <a:lnSpc>
                <a:spcPct val="100000"/>
              </a:lnSpc>
              <a:spcBef>
                <a:spcPts val="738"/>
              </a:spcBef>
              <a:spcAft>
                <a:spcPts val="738"/>
              </a:spcAft>
              <a:tabLst>
                <a:tab pos="9824184" algn="l"/>
              </a:tabLst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B5418C1F-6B55-4A71-AFFD-089A51282D0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06461826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72008"/>
            <a:ext cx="11247040" cy="548680"/>
          </a:xfrm>
        </p:spPr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6558267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 hasCustomPrompt="1"/>
          </p:nvPr>
        </p:nvSpPr>
        <p:spPr>
          <a:xfrm>
            <a:off x="7070878" y="764704"/>
            <a:ext cx="4785762" cy="5616624"/>
          </a:xfrm>
        </p:spPr>
        <p:txBody>
          <a:bodyPr/>
          <a:lstStyle>
            <a:lvl1pPr>
              <a:defRPr sz="3446">
                <a:solidFill>
                  <a:srgbClr val="000000"/>
                </a:solidFill>
              </a:defRPr>
            </a:lvl1pPr>
            <a:lvl2pPr>
              <a:defRPr sz="2954">
                <a:solidFill>
                  <a:srgbClr val="000000"/>
                </a:solidFill>
              </a:defRPr>
            </a:lvl2pPr>
            <a:lvl3pPr>
              <a:defRPr sz="2462">
                <a:solidFill>
                  <a:srgbClr val="000000"/>
                </a:solidFill>
              </a:defRPr>
            </a:lvl3pPr>
            <a:lvl4pPr>
              <a:defRPr sz="2215">
                <a:solidFill>
                  <a:srgbClr val="000000"/>
                </a:solidFill>
              </a:defRPr>
            </a:lvl4pPr>
            <a:lvl5pPr>
              <a:defRPr sz="2215">
                <a:solidFill>
                  <a:srgbClr val="000000"/>
                </a:solidFill>
              </a:defRPr>
            </a:lvl5pPr>
            <a:lvl6pPr>
              <a:defRPr sz="2215"/>
            </a:lvl6pPr>
            <a:lvl7pPr>
              <a:defRPr sz="2215"/>
            </a:lvl7pPr>
            <a:lvl8pPr>
              <a:defRPr sz="2215"/>
            </a:lvl8pPr>
            <a:lvl9pPr>
              <a:defRPr sz="2215"/>
            </a:lvl9pPr>
          </a:lstStyle>
          <a:p>
            <a:pPr lvl="0"/>
            <a:r>
              <a:rPr lang="zh-TW" altLang="en-US"/>
              <a:t>按一下編輯文字樣式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0FAE68B8-99C7-40B9-B8F1-A798C021C43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116067170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46735" y="764704"/>
            <a:ext cx="6558267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46735" y="1340768"/>
            <a:ext cx="6558267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893627" y="764704"/>
            <a:ext cx="4945582" cy="504056"/>
          </a:xfrm>
        </p:spPr>
        <p:txBody>
          <a:bodyPr anchor="b"/>
          <a:lstStyle>
            <a:lvl1pPr marL="0" indent="0">
              <a:buNone/>
              <a:defRPr sz="2954" b="1">
                <a:solidFill>
                  <a:srgbClr val="000000"/>
                </a:solidFill>
              </a:defRPr>
            </a:lvl1pPr>
            <a:lvl2pPr marL="562722" indent="0">
              <a:buNone/>
              <a:defRPr sz="2462" b="1"/>
            </a:lvl2pPr>
            <a:lvl3pPr marL="1125444" indent="0">
              <a:buNone/>
              <a:defRPr sz="2215" b="1"/>
            </a:lvl3pPr>
            <a:lvl4pPr marL="1688165" indent="0">
              <a:buNone/>
              <a:defRPr sz="1969" b="1"/>
            </a:lvl4pPr>
            <a:lvl5pPr marL="2250887" indent="0">
              <a:buNone/>
              <a:defRPr sz="1969" b="1"/>
            </a:lvl5pPr>
            <a:lvl6pPr marL="2813609" indent="0">
              <a:buNone/>
              <a:defRPr sz="1969" b="1"/>
            </a:lvl6pPr>
            <a:lvl7pPr marL="3376331" indent="0">
              <a:buNone/>
              <a:defRPr sz="1969" b="1"/>
            </a:lvl7pPr>
            <a:lvl8pPr marL="3939052" indent="0">
              <a:buNone/>
              <a:defRPr sz="1969" b="1"/>
            </a:lvl8pPr>
            <a:lvl9pPr marL="4501774" indent="0">
              <a:buNone/>
              <a:defRPr sz="1969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 hasCustomPrompt="1"/>
          </p:nvPr>
        </p:nvSpPr>
        <p:spPr>
          <a:xfrm>
            <a:off x="6893627" y="1340768"/>
            <a:ext cx="4945582" cy="5112568"/>
          </a:xfrm>
        </p:spPr>
        <p:txBody>
          <a:bodyPr/>
          <a:lstStyle>
            <a:lvl1pPr>
              <a:defRPr sz="2954">
                <a:solidFill>
                  <a:srgbClr val="000000"/>
                </a:solidFill>
              </a:defRPr>
            </a:lvl1pPr>
            <a:lvl2pPr>
              <a:defRPr sz="2462">
                <a:solidFill>
                  <a:srgbClr val="000000"/>
                </a:solidFill>
              </a:defRPr>
            </a:lvl2pPr>
            <a:lvl3pPr>
              <a:defRPr sz="2215">
                <a:solidFill>
                  <a:srgbClr val="000000"/>
                </a:solidFill>
              </a:defRPr>
            </a:lvl3pPr>
            <a:lvl4pPr>
              <a:defRPr sz="1969">
                <a:solidFill>
                  <a:srgbClr val="000000"/>
                </a:solidFill>
              </a:defRPr>
            </a:lvl4pPr>
            <a:lvl5pPr>
              <a:defRPr sz="1969">
                <a:solidFill>
                  <a:srgbClr val="000000"/>
                </a:solidFill>
              </a:defRPr>
            </a:lvl5pPr>
            <a:lvl6pPr>
              <a:defRPr sz="1969"/>
            </a:lvl6pPr>
            <a:lvl7pPr>
              <a:defRPr sz="1969"/>
            </a:lvl7pPr>
            <a:lvl8pPr>
              <a:defRPr sz="1969"/>
            </a:lvl8pPr>
            <a:lvl9pPr>
              <a:defRPr sz="1969"/>
            </a:lvl9pPr>
          </a:lstStyle>
          <a:p>
            <a:pPr lvl="0"/>
            <a:r>
              <a:rPr lang="zh-TW" altLang="en-US"/>
              <a:t>按一下以編輯文字樣式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22C7611D-A327-4D7A-B0CC-BD7C9B9F11E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38933376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B56CA749-C98C-4DB3-9FF7-B1074AFD1EA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91219130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784F4EE5-BCBD-459C-B67D-EBB22C6F76DF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543546685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35360" y="273050"/>
            <a:ext cx="4285487" cy="1162050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7385" y="273050"/>
            <a:ext cx="7089255" cy="6180286"/>
          </a:xfrm>
        </p:spPr>
        <p:txBody>
          <a:bodyPr/>
          <a:lstStyle>
            <a:lvl1pPr>
              <a:defRPr sz="3939">
                <a:solidFill>
                  <a:srgbClr val="000000"/>
                </a:solidFill>
              </a:defRPr>
            </a:lvl1pPr>
            <a:lvl2pPr>
              <a:defRPr sz="3446">
                <a:solidFill>
                  <a:srgbClr val="000000"/>
                </a:solidFill>
              </a:defRPr>
            </a:lvl2pPr>
            <a:lvl3pPr>
              <a:defRPr sz="2954">
                <a:solidFill>
                  <a:srgbClr val="000000"/>
                </a:solidFill>
              </a:defRPr>
            </a:lvl3pPr>
            <a:lvl4pPr>
              <a:defRPr sz="2462">
                <a:solidFill>
                  <a:srgbClr val="000000"/>
                </a:solidFill>
              </a:defRPr>
            </a:lvl4pPr>
            <a:lvl5pPr>
              <a:defRPr sz="2462">
                <a:solidFill>
                  <a:srgbClr val="000000"/>
                </a:solidFill>
              </a:defRPr>
            </a:lvl5pPr>
            <a:lvl6pPr>
              <a:defRPr sz="2462"/>
            </a:lvl6pPr>
            <a:lvl7pPr>
              <a:defRPr sz="2462"/>
            </a:lvl7pPr>
            <a:lvl8pPr>
              <a:defRPr sz="2462"/>
            </a:lvl8pPr>
            <a:lvl9pPr>
              <a:defRPr sz="246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335360" y="1435100"/>
            <a:ext cx="4285487" cy="5018236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656EE654-F85C-488B-B06D-685A5EF03A3B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1017160531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554" y="4800600"/>
            <a:ext cx="7315200" cy="566738"/>
          </a:xfrm>
        </p:spPr>
        <p:txBody>
          <a:bodyPr anchor="b"/>
          <a:lstStyle>
            <a:lvl1pPr algn="l">
              <a:defRPr sz="2462" b="1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554" y="612775"/>
            <a:ext cx="7315200" cy="4114800"/>
          </a:xfrm>
        </p:spPr>
        <p:txBody>
          <a:bodyPr/>
          <a:lstStyle>
            <a:lvl1pPr marL="0" indent="0">
              <a:buNone/>
              <a:defRPr sz="3939"/>
            </a:lvl1pPr>
            <a:lvl2pPr marL="562722" indent="0">
              <a:buNone/>
              <a:defRPr sz="3446"/>
            </a:lvl2pPr>
            <a:lvl3pPr marL="1125444" indent="0">
              <a:buNone/>
              <a:defRPr sz="2954"/>
            </a:lvl3pPr>
            <a:lvl4pPr marL="1688165" indent="0">
              <a:buNone/>
              <a:defRPr sz="2462"/>
            </a:lvl4pPr>
            <a:lvl5pPr marL="2250887" indent="0">
              <a:buNone/>
              <a:defRPr sz="2462"/>
            </a:lvl5pPr>
            <a:lvl6pPr marL="2813609" indent="0">
              <a:buNone/>
              <a:defRPr sz="2462"/>
            </a:lvl6pPr>
            <a:lvl7pPr marL="3376331" indent="0">
              <a:buNone/>
              <a:defRPr sz="2462"/>
            </a:lvl7pPr>
            <a:lvl8pPr marL="3939052" indent="0">
              <a:buNone/>
              <a:defRPr sz="2462"/>
            </a:lvl8pPr>
            <a:lvl9pPr marL="4501774" indent="0">
              <a:buNone/>
              <a:defRPr sz="2462"/>
            </a:lvl9pPr>
          </a:lstStyle>
          <a:p>
            <a:r>
              <a:rPr lang="zh-TW" altLang="en-US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554" y="5367338"/>
            <a:ext cx="7315200" cy="804862"/>
          </a:xfrm>
        </p:spPr>
        <p:txBody>
          <a:bodyPr/>
          <a:lstStyle>
            <a:lvl1pPr marL="0" indent="0">
              <a:buNone/>
              <a:defRPr sz="1723">
                <a:solidFill>
                  <a:srgbClr val="000000"/>
                </a:solidFill>
              </a:defRPr>
            </a:lvl1pPr>
            <a:lvl2pPr marL="562722" indent="0">
              <a:buNone/>
              <a:defRPr sz="1477"/>
            </a:lvl2pPr>
            <a:lvl3pPr marL="1125444" indent="0">
              <a:buNone/>
              <a:defRPr sz="1231"/>
            </a:lvl3pPr>
            <a:lvl4pPr marL="1688165" indent="0">
              <a:buNone/>
              <a:defRPr sz="1108"/>
            </a:lvl4pPr>
            <a:lvl5pPr marL="2250887" indent="0">
              <a:buNone/>
              <a:defRPr sz="1108"/>
            </a:lvl5pPr>
            <a:lvl6pPr marL="2813609" indent="0">
              <a:buNone/>
              <a:defRPr sz="1108"/>
            </a:lvl6pPr>
            <a:lvl7pPr marL="3376331" indent="0">
              <a:buNone/>
              <a:defRPr sz="1108"/>
            </a:lvl7pPr>
            <a:lvl8pPr marL="3939052" indent="0">
              <a:buNone/>
              <a:defRPr sz="1108"/>
            </a:lvl8pPr>
            <a:lvl9pPr marL="4501774" indent="0">
              <a:buNone/>
              <a:defRPr sz="1108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A6EC7FDE-831C-4773-9CCD-4D6A877F542E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3378515228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7CAB5AA-8175-4E01-AC40-A371C4F50079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4083834854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928815" cy="6106690"/>
          </a:xfrm>
        </p:spPr>
        <p:txBody>
          <a:bodyPr vert="eaVert"/>
          <a:lstStyle>
            <a:lvl1pPr>
              <a:defRPr sz="3939">
                <a:solidFill>
                  <a:srgbClr val="000000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335360" y="274638"/>
            <a:ext cx="8316271" cy="6106690"/>
          </a:xfrm>
        </p:spPr>
        <p:txBody>
          <a:bodyPr vert="eaVert"/>
          <a:lstStyle>
            <a:lvl1pPr>
              <a:defRPr>
                <a:solidFill>
                  <a:srgbClr val="000000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F3A9370-114B-41F5-9582-92E53FE088F4}"/>
              </a:ext>
            </a:extLst>
          </p:cNvPr>
          <p:cNvSpPr txBox="1"/>
          <p:nvPr userDrawn="1"/>
        </p:nvSpPr>
        <p:spPr>
          <a:xfrm>
            <a:off x="33051" y="6421116"/>
            <a:ext cx="12195531" cy="3077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fld id="{3D871D07-058C-4994-9693-01DD34BE43B0}" type="slidenum">
              <a:rPr lang="en-US" altLang="zh-TW" sz="2000" smtClean="0">
                <a:solidFill>
                  <a:srgbClr val="000000"/>
                </a:solidFill>
                <a:effectLst/>
              </a:rPr>
              <a:pPr algn="ctr"/>
              <a:t>‹#›</a:t>
            </a:fld>
            <a:endParaRPr lang="zh-TW" altLang="en-US" sz="2000" err="1">
              <a:solidFill>
                <a:srgbClr val="000000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733916010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3E3FB43C-F578-4BAC-B008-B910508BFE59}"/>
              </a:ext>
            </a:extLst>
          </p:cNvPr>
          <p:cNvSpPr/>
          <p:nvPr userDrawn="1"/>
        </p:nvSpPr>
        <p:spPr>
          <a:xfrm>
            <a:off x="0" y="0"/>
            <a:ext cx="12299766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12542" tIns="56271" rIns="112542" bIns="56271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TW" altLang="en-US" sz="2215"/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 bwMode="ltGray">
          <a:xfrm>
            <a:off x="609600" y="216024"/>
            <a:ext cx="11103024" cy="54868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altLang="zh-TW"/>
              <a:t>Arial(</a:t>
            </a:r>
            <a:r>
              <a:rPr lang="zh-TW" altLang="en-US"/>
              <a:t>標題</a:t>
            </a:r>
            <a:r>
              <a:rPr lang="en-US" altLang="zh-TW"/>
              <a:t>)</a:t>
            </a:r>
            <a:r>
              <a:rPr lang="zh-TW" altLang="en-US"/>
              <a:t> </a:t>
            </a:r>
            <a:r>
              <a:rPr lang="en-US" altLang="zh-TW"/>
              <a:t>40</a:t>
            </a:r>
            <a:r>
              <a:rPr lang="zh-TW" altLang="en-US"/>
              <a:t>號 粗體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 bwMode="ltGray">
          <a:xfrm>
            <a:off x="609600" y="980728"/>
            <a:ext cx="11103024" cy="53004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第一層 </a:t>
            </a:r>
            <a:r>
              <a:rPr lang="en-US" altLang="zh-TW"/>
              <a:t>28</a:t>
            </a:r>
            <a:r>
              <a:rPr lang="zh-TW" altLang="en-US"/>
              <a:t>號 粗體</a:t>
            </a:r>
          </a:p>
          <a:p>
            <a:pPr lvl="1"/>
            <a:r>
              <a:rPr lang="zh-TW" altLang="en-US"/>
              <a:t>第二層 </a:t>
            </a:r>
            <a:r>
              <a:rPr lang="en-US" altLang="zh-TW"/>
              <a:t>24</a:t>
            </a:r>
            <a:r>
              <a:rPr lang="zh-TW" altLang="en-US"/>
              <a:t>號 粗體</a:t>
            </a:r>
          </a:p>
          <a:p>
            <a:pPr lvl="2"/>
            <a:r>
              <a:rPr lang="zh-TW" altLang="en-US"/>
              <a:t>第三層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3"/>
            <a:r>
              <a:rPr lang="zh-TW" altLang="en-US"/>
              <a:t>第四層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  <a:p>
            <a:pPr lvl="4"/>
            <a:r>
              <a:rPr lang="zh-TW" altLang="en-US"/>
              <a:t>第五層 </a:t>
            </a:r>
            <a:r>
              <a:rPr lang="en-US" altLang="zh-TW"/>
              <a:t>20</a:t>
            </a:r>
            <a:r>
              <a:rPr lang="zh-TW" altLang="en-US"/>
              <a:t>號</a:t>
            </a:r>
          </a:p>
        </p:txBody>
      </p:sp>
    </p:spTree>
    <p:extLst>
      <p:ext uri="{BB962C8B-B14F-4D97-AF65-F5344CB8AC3E}">
        <p14:creationId xmlns:p14="http://schemas.microsoft.com/office/powerpoint/2010/main" val="1322232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52" r:id="rId2"/>
    <p:sldLayoutId id="2147483653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</p:sldLayoutIdLst>
  <p:hf hdr="0" dt="0"/>
  <p:txStyles>
    <p:titleStyle>
      <a:lvl1pPr marL="0" indent="0" algn="ctr" defTabSz="914400" rtl="0" eaLnBrk="1" latinLnBrk="1" hangingPunct="1">
        <a:spcBef>
          <a:spcPct val="20000"/>
        </a:spcBef>
        <a:buFont typeface="Arial" pitchFamily="34" charset="0"/>
        <a:buNone/>
        <a:defRPr lang="zh-TW" altLang="en-US" sz="4000" b="1" kern="1200" spc="369" baseline="0" dirty="0">
          <a:solidFill>
            <a:srgbClr val="FF0000"/>
          </a:solidFill>
          <a:latin typeface="+mj-lt"/>
          <a:ea typeface="+mn-ea"/>
          <a:cs typeface="Arial" pitchFamily="34" charset="0"/>
        </a:defRPr>
      </a:lvl1pPr>
    </p:titleStyle>
    <p:bodyStyle>
      <a:lvl1pPr marL="422041" indent="-422041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1"/>
        </a:buClr>
        <a:buFont typeface="Arial" pitchFamily="34" charset="0"/>
        <a:buChar char="•"/>
        <a:defRPr sz="28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1pPr>
      <a:lvl2pPr marL="879253" indent="-433765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2"/>
        </a:buClr>
        <a:buFont typeface="Arial" pitchFamily="34" charset="0"/>
        <a:buChar char="–"/>
        <a:defRPr sz="2400" b="1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2pPr>
      <a:lvl3pPr marL="1219230" indent="-339978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3"/>
        </a:buClr>
        <a:buFont typeface="Arial" pitchFamily="34" charset="0"/>
        <a:buChar char="•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3pPr>
      <a:lvl4pPr marL="1547485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4"/>
        </a:buClr>
        <a:buFont typeface="Arial" pitchFamily="34" charset="0"/>
        <a:buChar char="–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4pPr>
      <a:lvl5pPr marL="1875739" indent="-328254" algn="l" defTabSz="1125444" rtl="0" eaLnBrk="1" latinLnBrk="0" hangingPunct="1">
        <a:lnSpc>
          <a:spcPct val="100000"/>
        </a:lnSpc>
        <a:spcBef>
          <a:spcPts val="738"/>
        </a:spcBef>
        <a:spcAft>
          <a:spcPts val="738"/>
        </a:spcAft>
        <a:buClr>
          <a:schemeClr val="accent5"/>
        </a:buClr>
        <a:buFont typeface="Arial" pitchFamily="34" charset="0"/>
        <a:buChar char="»"/>
        <a:defRPr sz="2000" kern="1200">
          <a:solidFill>
            <a:srgbClr val="000000"/>
          </a:solidFill>
          <a:latin typeface="Arial" panose="020B0604020202020204" pitchFamily="34" charset="0"/>
          <a:ea typeface="微軟正黑體" pitchFamily="34" charset="-120"/>
          <a:cs typeface="Arial" panose="020B0604020202020204" pitchFamily="34" charset="0"/>
        </a:defRPr>
      </a:lvl5pPr>
      <a:lvl6pPr marL="3094970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6pPr>
      <a:lvl7pPr marL="3657691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7pPr>
      <a:lvl8pPr marL="4220413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8pPr>
      <a:lvl9pPr marL="4783135" indent="-281361" algn="l" defTabSz="1125444" rtl="0" eaLnBrk="1" latinLnBrk="0" hangingPunct="1">
        <a:spcBef>
          <a:spcPct val="20000"/>
        </a:spcBef>
        <a:buFont typeface="Arial" pitchFamily="34" charset="0"/>
        <a:buChar char="•"/>
        <a:defRPr sz="2462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1pPr>
      <a:lvl2pPr marL="56272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2pPr>
      <a:lvl3pPr marL="112544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3pPr>
      <a:lvl4pPr marL="1688165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4pPr>
      <a:lvl5pPr marL="2250887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5pPr>
      <a:lvl6pPr marL="2813609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6pPr>
      <a:lvl7pPr marL="3376331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7pPr>
      <a:lvl8pPr marL="3939052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8pPr>
      <a:lvl9pPr marL="4501774" algn="l" defTabSz="1125444" rtl="0" eaLnBrk="1" latinLnBrk="0" hangingPunct="1">
        <a:defRPr sz="221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828D6BC7-90B7-48DA-BBBC-D1E248316C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Blueprint</a:t>
            </a:r>
            <a:endParaRPr lang="zh-TW" altLang="en-US" dirty="0"/>
          </a:p>
        </p:txBody>
      </p:sp>
      <p:sp>
        <p:nvSpPr>
          <p:cNvPr id="7" name="Rectangle 131">
            <a:extLst>
              <a:ext uri="{FF2B5EF4-FFF2-40B4-BE49-F238E27FC236}">
                <a16:creationId xmlns:a16="http://schemas.microsoft.com/office/drawing/2014/main" id="{592B8426-F2A6-4FF0-975A-D6D584A66E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19580" y="5203874"/>
            <a:ext cx="2125663" cy="824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0" hangingPunct="0">
              <a:lnSpc>
                <a:spcPct val="125000"/>
              </a:lnSpc>
            </a:pPr>
            <a:r>
              <a:rPr kumimoji="0" lang="en-US" altLang="zh-TW" sz="2000"/>
              <a:t>Estimated time: </a:t>
            </a:r>
          </a:p>
          <a:p>
            <a:pPr algn="ctr" eaLnBrk="0" hangingPunct="0">
              <a:lnSpc>
                <a:spcPct val="125000"/>
              </a:lnSpc>
            </a:pPr>
            <a:r>
              <a:rPr lang="en-US" altLang="zh-TW" sz="2000">
                <a:solidFill>
                  <a:srgbClr val="FF0000"/>
                </a:solidFill>
              </a:rPr>
              <a:t>45 </a:t>
            </a:r>
            <a:r>
              <a:rPr kumimoji="0" lang="en-US" altLang="zh-TW" sz="2000"/>
              <a:t>min.</a:t>
            </a:r>
          </a:p>
        </p:txBody>
      </p:sp>
      <p:sp>
        <p:nvSpPr>
          <p:cNvPr id="10" name="Rectangle 10">
            <a:extLst>
              <a:ext uri="{FF2B5EF4-FFF2-40B4-BE49-F238E27FC236}">
                <a16:creationId xmlns:a16="http://schemas.microsoft.com/office/drawing/2014/main" id="{097F64C2-8D41-490E-90C6-C32EAD5C57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83432" y="5172128"/>
            <a:ext cx="1687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7265" tIns="43632" rIns="87265" bIns="43632" anchor="t">
            <a:spAutoFit/>
          </a:bodyPr>
          <a:lstStyle/>
          <a:p>
            <a:pPr marL="279400" indent="-279400" algn="ctr" defTabSz="873125" eaLnBrk="0" hangingPunct="0">
              <a:spcBef>
                <a:spcPct val="15000"/>
              </a:spcBef>
              <a:buSzPct val="65000"/>
            </a:pPr>
            <a:r>
              <a:rPr lang="en-US" altLang="zh-TW" sz="2400" i="1" dirty="0">
                <a:solidFill>
                  <a:srgbClr val="0000FF"/>
                </a:solidFill>
                <a:latin typeface="Georgia"/>
                <a:ea typeface="標楷體"/>
              </a:rPr>
              <a:t>Module 14</a:t>
            </a:r>
            <a:endParaRPr lang="zh-TW" altLang="zh-TW" sz="2400" i="1" dirty="0">
              <a:solidFill>
                <a:srgbClr val="0000FF"/>
              </a:solidFill>
              <a:latin typeface="Georgia" pitchFamily="18" charset="0"/>
              <a:ea typeface="標楷體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071263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3F56E-16B3-70A5-BF03-4B4DB29DF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7B35B1-4292-01EC-6D64-33D1BDE1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Circular import</a:t>
            </a:r>
            <a:endParaRPr lang="zh-TW" altLang="en-US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D744C101-8C34-2BEF-A9A0-7C39A7DAFD2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將撰寫好的view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 function(routes)</a:t>
            </a: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分拆至不同的python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腳本</a:t>
            </a:r>
            <a:endParaRPr lang="en-US" altLang="zh-TW" sz="3200" b="0" dirty="0"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會引發</a:t>
            </a:r>
            <a:r>
              <a:rPr lang="en-US" altLang="zh-TW" sz="2750" b="0" dirty="0">
                <a:latin typeface="Arial"/>
                <a:ea typeface="微軟正黑體"/>
                <a:cs typeface="Arial"/>
              </a:rPr>
              <a:t> /login Not </a:t>
            </a:r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Found的錯誤</a:t>
            </a:r>
            <a:endParaRPr lang="en-US" altLang="zh-TW" sz="2750" b="0" dirty="0">
              <a:latin typeface="Arial"/>
              <a:ea typeface="微軟正黑體"/>
              <a:cs typeface="Arial"/>
            </a:endParaRPr>
          </a:p>
          <a:p>
            <a:pPr marL="1219200" lvl="2" indent="-339725">
              <a:buClr>
                <a:srgbClr val="F0591B"/>
              </a:buClr>
              <a:buFont typeface="Wingdings" pitchFamily="34" charset="0"/>
              <a:buChar char="§"/>
            </a:pPr>
            <a:r>
              <a:rPr lang="zh-TW" altLang="en-US" sz="2300">
                <a:latin typeface="Arial"/>
                <a:ea typeface="微軟正黑體"/>
                <a:cs typeface="Arial"/>
              </a:rPr>
              <a:t>原因: </a:t>
            </a:r>
            <a:r>
              <a:rPr lang="en-US" sz="2300" b="0" dirty="0">
                <a:latin typeface="Arial"/>
                <a:ea typeface="微軟正黑體"/>
                <a:cs typeface="Arial"/>
              </a:rPr>
              <a:t>circular import </a:t>
            </a:r>
            <a:r>
              <a:rPr lang="en-US" sz="2300" b="0" dirty="0" err="1">
                <a:latin typeface="Arial"/>
                <a:ea typeface="微軟正黑體"/>
                <a:cs typeface="Arial"/>
              </a:rPr>
              <a:t>的問題</a:t>
            </a:r>
            <a:endParaRPr lang="en-US" sz="2300" b="0">
              <a:solidFill>
                <a:srgbClr val="717171"/>
              </a:solidFill>
              <a:latin typeface="Arial"/>
              <a:ea typeface="微軟正黑體"/>
              <a:cs typeface="Arial"/>
            </a:endParaRPr>
          </a:p>
          <a:p>
            <a:pPr marL="878840" lvl="1" indent="-433705">
              <a:buClr>
                <a:srgbClr val="42BBC6"/>
              </a:buClr>
            </a:pPr>
            <a:endParaRPr lang="en-US" altLang="zh-TW" sz="2750" b="0" dirty="0"/>
          </a:p>
          <a:p>
            <a:pPr marL="421640" indent="-421640">
              <a:buClr>
                <a:srgbClr val="E1CB1A"/>
              </a:buClr>
            </a:pPr>
            <a:endParaRPr lang="en-US" altLang="zh-TW" sz="3200" b="0"/>
          </a:p>
          <a:p>
            <a:pPr marL="878840" lvl="1" indent="-421640">
              <a:buClr>
                <a:srgbClr val="42BBC6"/>
              </a:buClr>
            </a:pPr>
            <a:endParaRPr lang="zh-TW" altLang="en-US" sz="2900" b="0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ED9D116-2C26-7179-1B3C-6A681C4E1356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pic>
        <p:nvPicPr>
          <p:cNvPr id="7" name="圖片 6" descr="一張含有 文字, 螢幕擷取畫面, 字型, 行 的圖片&#10;&#10;AI 產生的內容可能不正確。">
            <a:extLst>
              <a:ext uri="{FF2B5EF4-FFF2-40B4-BE49-F238E27FC236}">
                <a16:creationId xmlns:a16="http://schemas.microsoft.com/office/drawing/2014/main" id="{F555AEB8-3941-B29F-397A-DD80A5A4D5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635" y="3078217"/>
            <a:ext cx="10657489" cy="2948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795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9CAD4-87C2-3A26-9D21-80BD022C5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2445C3-95B3-0FFB-4295-00A3A136A8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Wrap routes</a:t>
            </a:r>
            <a:endParaRPr lang="en-US" altLang="zh-TW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1D2A33D-36E7-5E8C-74CF-E769C82A715A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7EB6063C-EC4F-8D64-5AB6-8F720C574E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200" b="0">
                <a:latin typeface="Arial"/>
                <a:ea typeface="微軟正黑體"/>
                <a:cs typeface="Arial"/>
              </a:rPr>
              <a:t>可以將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拆分後的view</a:t>
            </a:r>
            <a:r>
              <a:rPr lang="en-US" sz="3200" b="0" dirty="0">
                <a:latin typeface="Arial"/>
                <a:ea typeface="微軟正黑體"/>
                <a:cs typeface="Arial"/>
              </a:rPr>
              <a:t> function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(routes)</a:t>
            </a:r>
            <a:r>
              <a:rPr lang="en-US" sz="3200" b="0" dirty="0">
                <a:latin typeface="Arial"/>
                <a:ea typeface="微軟正黑體"/>
                <a:cs typeface="Arial"/>
              </a:rPr>
              <a:t> </a:t>
            </a:r>
            <a:r>
              <a:rPr lang="en-US" sz="3200" b="0" dirty="0" err="1">
                <a:latin typeface="Arial"/>
                <a:ea typeface="微軟正黑體"/>
                <a:cs typeface="Arial"/>
              </a:rPr>
              <a:t>包在function中</a:t>
            </a:r>
            <a:endParaRPr lang="en-US" altLang="zh-TW" sz="3200" b="0" dirty="0" err="1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接著在建立Flask</a:t>
            </a:r>
            <a:r>
              <a:rPr lang="en-US" altLang="zh-TW" sz="2750" b="0" dirty="0">
                <a:latin typeface="Arial"/>
                <a:ea typeface="微軟正黑體"/>
                <a:cs typeface="Arial"/>
              </a:rPr>
              <a:t> </a:t>
            </a:r>
            <a:r>
              <a:rPr lang="en-US" altLang="zh-TW" sz="2750" b="0" dirty="0" err="1">
                <a:latin typeface="Arial"/>
                <a:ea typeface="微軟正黑體"/>
                <a:cs typeface="Arial"/>
              </a:rPr>
              <a:t>app的腳本中初始化該function</a:t>
            </a:r>
            <a:endParaRPr lang="en-US" altLang="zh-TW" sz="2750" b="0" dirty="0" err="1"/>
          </a:p>
          <a:p>
            <a:pPr marL="878840" lvl="1" indent="-433705">
              <a:buClr>
                <a:srgbClr val="42BBC6"/>
              </a:buClr>
            </a:pPr>
            <a:endParaRPr lang="en-US" altLang="zh-TW" sz="2750" b="0" dirty="0"/>
          </a:p>
          <a:p>
            <a:pPr marL="421640" indent="-421640">
              <a:buClr>
                <a:srgbClr val="E1CB1A"/>
              </a:buClr>
            </a:pPr>
            <a:endParaRPr lang="en-US" altLang="zh-TW" sz="3200" b="0"/>
          </a:p>
          <a:p>
            <a:pPr marL="878840" lvl="1" indent="-421640">
              <a:buClr>
                <a:srgbClr val="42BBC6"/>
              </a:buClr>
            </a:pPr>
            <a:endParaRPr lang="zh-TW" altLang="en-US" sz="2900" b="0" dirty="0"/>
          </a:p>
        </p:txBody>
      </p:sp>
      <p:pic>
        <p:nvPicPr>
          <p:cNvPr id="5" name="圖片 4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3C53D7EE-9352-4F6C-9A89-2055722A21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3396" y="2629392"/>
            <a:ext cx="9006380" cy="337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92224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D63440-55E6-A9A7-13F0-AE1449DDE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39429-293A-E098-C342-103326FCE2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Blueprint</a:t>
            </a:r>
            <a:endParaRPr lang="en-US" altLang="zh-TW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3C4A4711-1C3B-5230-91B6-4FC4B8CDCA43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B5DA2225-CDCD-FAF8-4BE0-563A4E8418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sz="3200" b="0">
                <a:latin typeface="Arial"/>
                <a:ea typeface="微軟正黑體"/>
                <a:cs typeface="Arial"/>
              </a:rPr>
              <a:t>可以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透過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Blu</a:t>
            </a:r>
            <a:r>
              <a:rPr lang="en-US" altLang="en-US" sz="3200" b="0" dirty="0">
                <a:latin typeface="Arial"/>
                <a:ea typeface="微軟正黑體"/>
                <a:cs typeface="Arial"/>
              </a:rPr>
              <a:t>eprint</a:t>
            </a:r>
            <a:r>
              <a:rPr lang="zh-TW" sz="3200" b="0">
                <a:latin typeface="Arial"/>
                <a:ea typeface="微軟正黑體"/>
                <a:cs typeface="Arial"/>
              </a:rPr>
              <a:t>將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拆分後的view</a:t>
            </a:r>
            <a:r>
              <a:rPr lang="en-US" sz="3200" b="0" dirty="0">
                <a:latin typeface="Arial"/>
                <a:ea typeface="微軟正黑體"/>
                <a:cs typeface="Arial"/>
              </a:rPr>
              <a:t> function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(routes)</a:t>
            </a:r>
            <a:r>
              <a:rPr lang="en-US" sz="3200" b="0" dirty="0">
                <a:latin typeface="Arial"/>
                <a:ea typeface="微軟正黑體"/>
                <a:cs typeface="Arial"/>
              </a:rPr>
              <a:t> 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註冊起來</a:t>
            </a:r>
            <a:endParaRPr lang="zh-TW" altLang="en-US"/>
          </a:p>
          <a:p>
            <a:pPr marL="421640" indent="-421640"/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flask.Blueprint</a:t>
            </a:r>
            <a:endParaRPr lang="en-US" dirty="0" err="1"/>
          </a:p>
          <a:p>
            <a:pPr marL="421640" indent="-421640">
              <a:buClr>
                <a:srgbClr val="E1CB1A"/>
              </a:buClr>
            </a:pPr>
            <a:r>
              <a:rPr lang="en-US" altLang="zh-TW" sz="3200" b="0" dirty="0" err="1">
                <a:latin typeface="Arial"/>
                <a:ea typeface="微軟正黑體"/>
                <a:cs typeface="Arial"/>
              </a:rPr>
              <a:t>app.register_blueprint</a:t>
            </a:r>
            <a:r>
              <a:rPr lang="en-US" altLang="zh-TW" sz="3200" b="0" dirty="0">
                <a:latin typeface="Arial"/>
                <a:ea typeface="微軟正黑體"/>
                <a:cs typeface="Arial"/>
              </a:rPr>
              <a:t>()</a:t>
            </a:r>
            <a:endParaRPr lang="en-US" altLang="zh-TW" sz="3200" b="0" dirty="0"/>
          </a:p>
          <a:p>
            <a:pPr marL="421640" indent="-421640">
              <a:buClr>
                <a:srgbClr val="E1CB1A"/>
              </a:buClr>
            </a:pPr>
            <a:endParaRPr lang="en-US" altLang="zh-TW" sz="3200" b="0"/>
          </a:p>
          <a:p>
            <a:pPr marL="878840" lvl="1" indent="-421640">
              <a:buClr>
                <a:srgbClr val="42BBC6"/>
              </a:buClr>
            </a:pPr>
            <a:endParaRPr lang="zh-TW" altLang="en-US" sz="2900" b="0" dirty="0"/>
          </a:p>
        </p:txBody>
      </p:sp>
      <p:pic>
        <p:nvPicPr>
          <p:cNvPr id="6" name="圖片 5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9B907958-9279-E6ED-1895-00112B186D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4173" y="3075221"/>
            <a:ext cx="10063656" cy="316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22913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FA54EC-61C2-215C-8DCA-3086D0934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BF246-C097-88D0-FBB3-77438196E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Blueprint &amp; </a:t>
            </a:r>
            <a:r>
              <a:rPr lang="en-US" altLang="zh-TW" dirty="0" err="1">
                <a:cs typeface="Arial"/>
              </a:rPr>
              <a:t>url_map</a:t>
            </a:r>
            <a:endParaRPr lang="zh-TW" altLang="en-US" dirty="0" err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69683E32-C587-91D9-2A40-3D985CFFCE74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C69F1577-92E2-5C3B-11EA-92822C9511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200" b="0">
                <a:latin typeface="Arial"/>
                <a:ea typeface="微軟正黑體"/>
                <a:cs typeface="Arial"/>
              </a:rPr>
              <a:t>透過Blueprint所建立的routes, 其endpoint會另外註明</a:t>
            </a:r>
            <a:endParaRPr lang="zh-TW" altLang="en-US" sz="3200" b="0" dirty="0"/>
          </a:p>
          <a:p>
            <a:pPr marL="421640" indent="-421640">
              <a:buClr>
                <a:srgbClr val="E1CB1A"/>
              </a:buClr>
            </a:pPr>
            <a:endParaRPr lang="zh-TW" altLang="en-US" sz="3200" b="0" dirty="0"/>
          </a:p>
          <a:p>
            <a:pPr marL="421640" indent="-421640">
              <a:buClr>
                <a:srgbClr val="E1CB1A"/>
              </a:buClr>
            </a:pPr>
            <a:endParaRPr lang="zh-TW" altLang="en-US" sz="32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32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r>
              <a:rPr lang="zh-TW" altLang="en-US" sz="3200" b="0">
                <a:latin typeface="Arial"/>
                <a:ea typeface="微軟正黑體"/>
                <a:cs typeface="Arial"/>
              </a:rPr>
              <a:t>透過</a:t>
            </a:r>
            <a:r>
              <a:rPr lang="zh-TW" sz="3200" b="0">
                <a:latin typeface="Arial"/>
                <a:ea typeface="微軟正黑體"/>
                <a:cs typeface="Arial"/>
              </a:rPr>
              <a:t>W</a:t>
            </a:r>
            <a:r>
              <a:rPr lang="en-US" altLang="zh-TW" sz="3200" b="0" err="1">
                <a:latin typeface="Arial"/>
                <a:ea typeface="微軟正黑體"/>
                <a:cs typeface="Arial"/>
              </a:rPr>
              <a:t>ra</a:t>
            </a:r>
            <a:r>
              <a:rPr lang="zh-TW" sz="3200" b="0">
                <a:latin typeface="Arial"/>
                <a:ea typeface="微軟正黑體"/>
                <a:cs typeface="Arial"/>
              </a:rPr>
              <a:t>p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 </a:t>
            </a:r>
            <a:r>
              <a:rPr lang="zh-TW" sz="3200" b="0">
                <a:latin typeface="Arial"/>
                <a:ea typeface="微軟正黑體"/>
                <a:cs typeface="Arial"/>
              </a:rPr>
              <a:t>routes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 </a:t>
            </a:r>
            <a:r>
              <a:rPr lang="zh-TW" sz="3200" b="0">
                <a:latin typeface="Arial"/>
                <a:ea typeface="微軟正黑體"/>
                <a:cs typeface="Arial"/>
              </a:rPr>
              <a:t>所建立的routes, 其endpoint</a:t>
            </a:r>
            <a:r>
              <a:rPr lang="zh-TW" altLang="en-US" sz="3200" b="0">
                <a:latin typeface="Arial"/>
                <a:ea typeface="微軟正黑體"/>
                <a:cs typeface="Arial"/>
              </a:rPr>
              <a:t>則無不同之處</a:t>
            </a:r>
          </a:p>
          <a:p>
            <a:pPr marL="421640" indent="-421640">
              <a:buClr>
                <a:srgbClr val="E1CB1A"/>
              </a:buClr>
            </a:pPr>
            <a:endParaRPr lang="zh-TW" altLang="en-US" sz="3200" b="0" dirty="0">
              <a:latin typeface="Arial"/>
              <a:ea typeface="微軟正黑體"/>
              <a:cs typeface="Arial"/>
            </a:endParaRPr>
          </a:p>
          <a:p>
            <a:pPr marL="0" indent="0">
              <a:buClr>
                <a:srgbClr val="E1CB1A"/>
              </a:buClr>
              <a:buNone/>
            </a:pPr>
            <a:endParaRPr lang="zh-TW" altLang="en-US" sz="3200" b="0" dirty="0"/>
          </a:p>
          <a:p>
            <a:pPr marL="421640" indent="-421640">
              <a:buClr>
                <a:srgbClr val="E1CB1A"/>
              </a:buClr>
            </a:pPr>
            <a:endParaRPr lang="en-US" altLang="zh-TW" sz="3200" b="0"/>
          </a:p>
          <a:p>
            <a:pPr marL="878840" lvl="1" indent="-421640">
              <a:buClr>
                <a:srgbClr val="42BBC6"/>
              </a:buClr>
            </a:pPr>
            <a:endParaRPr lang="zh-TW" altLang="en-US" sz="2900" b="0" dirty="0"/>
          </a:p>
        </p:txBody>
      </p: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DEC37D9E-909C-2CD5-A8EC-D0719BA34463}"/>
              </a:ext>
            </a:extLst>
          </p:cNvPr>
          <p:cNvGrpSpPr/>
          <p:nvPr/>
        </p:nvGrpSpPr>
        <p:grpSpPr>
          <a:xfrm>
            <a:off x="733688" y="4287953"/>
            <a:ext cx="11258544" cy="540306"/>
            <a:chOff x="720550" y="4353643"/>
            <a:chExt cx="11258544" cy="540306"/>
          </a:xfrm>
        </p:grpSpPr>
        <p:pic>
          <p:nvPicPr>
            <p:cNvPr id="6" name="圖片 5" descr="一張含有 文字, 字型, 螢幕擷取畫面, 黑色 的圖片&#10;&#10;AI 產生的內容可能不正確。">
              <a:extLst>
                <a:ext uri="{FF2B5EF4-FFF2-40B4-BE49-F238E27FC236}">
                  <a16:creationId xmlns:a16="http://schemas.microsoft.com/office/drawing/2014/main" id="{5390DB1B-9B65-23E1-D00F-589467B321C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l="1188" t="49531" r="-211" b="-7526"/>
            <a:stretch>
              <a:fillRect/>
            </a:stretch>
          </p:blipFill>
          <p:spPr>
            <a:xfrm>
              <a:off x="720550" y="4353643"/>
              <a:ext cx="11258544" cy="540306"/>
            </a:xfrm>
            <a:prstGeom prst="rect">
              <a:avLst/>
            </a:prstGeom>
          </p:spPr>
        </p:pic>
        <p:cxnSp>
          <p:nvCxnSpPr>
            <p:cNvPr id="14" name="直線單箭頭接點 13">
              <a:extLst>
                <a:ext uri="{FF2B5EF4-FFF2-40B4-BE49-F238E27FC236}">
                  <a16:creationId xmlns:a16="http://schemas.microsoft.com/office/drawing/2014/main" id="{9BD08BD1-3117-DFFD-AC31-7467FEFEB885}"/>
                </a:ext>
              </a:extLst>
            </p:cNvPr>
            <p:cNvCxnSpPr/>
            <p:nvPr/>
          </p:nvCxnSpPr>
          <p:spPr>
            <a:xfrm flipV="1">
              <a:off x="10052997" y="4790856"/>
              <a:ext cx="1317733" cy="32134"/>
            </a:xfrm>
            <a:prstGeom prst="straightConnector1">
              <a:avLst/>
            </a:prstGeom>
            <a:ln w="571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19F6EC97-4DE1-5BD4-624C-055EB2C019D8}"/>
              </a:ext>
            </a:extLst>
          </p:cNvPr>
          <p:cNvGrpSpPr/>
          <p:nvPr/>
        </p:nvGrpSpPr>
        <p:grpSpPr>
          <a:xfrm>
            <a:off x="911445" y="2765535"/>
            <a:ext cx="10066944" cy="659353"/>
            <a:chOff x="911445" y="2765535"/>
            <a:chExt cx="10066944" cy="659353"/>
          </a:xfrm>
        </p:grpSpPr>
        <p:pic>
          <p:nvPicPr>
            <p:cNvPr id="7" name="圖片 6">
              <a:extLst>
                <a:ext uri="{FF2B5EF4-FFF2-40B4-BE49-F238E27FC236}">
                  <a16:creationId xmlns:a16="http://schemas.microsoft.com/office/drawing/2014/main" id="{D1870C56-6A40-6C25-2A58-338C57F2CA7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23636" r="-147" b="-3976"/>
            <a:stretch>
              <a:fillRect/>
            </a:stretch>
          </p:blipFill>
          <p:spPr>
            <a:xfrm>
              <a:off x="911445" y="2765535"/>
              <a:ext cx="10066944" cy="659353"/>
            </a:xfrm>
            <a:prstGeom prst="rect">
              <a:avLst/>
            </a:prstGeom>
          </p:spPr>
        </p:pic>
        <p:cxnSp>
          <p:nvCxnSpPr>
            <p:cNvPr id="16" name="直線單箭頭接點 15">
              <a:extLst>
                <a:ext uri="{FF2B5EF4-FFF2-40B4-BE49-F238E27FC236}">
                  <a16:creationId xmlns:a16="http://schemas.microsoft.com/office/drawing/2014/main" id="{1FF77C6D-1856-C35C-8B67-5ED16CCE74A0}"/>
                </a:ext>
              </a:extLst>
            </p:cNvPr>
            <p:cNvCxnSpPr/>
            <p:nvPr/>
          </p:nvCxnSpPr>
          <p:spPr>
            <a:xfrm>
              <a:off x="5651791" y="3312130"/>
              <a:ext cx="2789181" cy="20417"/>
            </a:xfrm>
            <a:prstGeom prst="straightConnector1">
              <a:avLst/>
            </a:prstGeom>
            <a:ln w="571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8419BB82-6848-CE75-D634-964CDFE0F5F5}"/>
              </a:ext>
            </a:extLst>
          </p:cNvPr>
          <p:cNvGrpSpPr/>
          <p:nvPr/>
        </p:nvGrpSpPr>
        <p:grpSpPr>
          <a:xfrm>
            <a:off x="912820" y="1720124"/>
            <a:ext cx="10586496" cy="558889"/>
            <a:chOff x="912820" y="1720124"/>
            <a:chExt cx="10586496" cy="558889"/>
          </a:xfrm>
        </p:grpSpPr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642E471E-7275-8203-44D0-11750BACF44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-29" t="29382" r="116" b="2381"/>
            <a:stretch>
              <a:fillRect/>
            </a:stretch>
          </p:blipFill>
          <p:spPr>
            <a:xfrm>
              <a:off x="912820" y="1720124"/>
              <a:ext cx="10586496" cy="558889"/>
            </a:xfrm>
            <a:prstGeom prst="rect">
              <a:avLst/>
            </a:prstGeom>
          </p:spPr>
        </p:pic>
        <p:cxnSp>
          <p:nvCxnSpPr>
            <p:cNvPr id="20" name="直線單箭頭接點 19">
              <a:extLst>
                <a:ext uri="{FF2B5EF4-FFF2-40B4-BE49-F238E27FC236}">
                  <a16:creationId xmlns:a16="http://schemas.microsoft.com/office/drawing/2014/main" id="{BE0126BF-24C4-F689-FA42-EF3EFC20A0EF}"/>
                </a:ext>
              </a:extLst>
            </p:cNvPr>
            <p:cNvCxnSpPr/>
            <p:nvPr/>
          </p:nvCxnSpPr>
          <p:spPr>
            <a:xfrm>
              <a:off x="8305653" y="2195405"/>
              <a:ext cx="1830112" cy="7279"/>
            </a:xfrm>
            <a:prstGeom prst="straightConnector1">
              <a:avLst/>
            </a:prstGeom>
            <a:ln w="57150"/>
          </p:spPr>
          <p:style>
            <a:lnRef idx="1">
              <a:schemeClr val="accent3"/>
            </a:lnRef>
            <a:fillRef idx="0">
              <a:schemeClr val="accent3"/>
            </a:fillRef>
            <a:effectRef idx="0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619226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DD25-9E64-3DEF-E5BF-7B440FCDA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08F01-1265-1780-83A7-BDBAE74B4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cs typeface="Arial"/>
              </a:rPr>
              <a:t>Blueprint </a:t>
            </a:r>
            <a:r>
              <a:rPr lang="en-US" altLang="zh-TW" dirty="0" err="1">
                <a:cs typeface="Arial"/>
              </a:rPr>
              <a:t>其他設定</a:t>
            </a:r>
            <a:endParaRPr lang="zh-TW" altLang="en-US" dirty="0" err="1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B09539BB-D9F5-983E-6AC5-91865449CC7D}"/>
              </a:ext>
            </a:extLst>
          </p:cNvPr>
          <p:cNvSpPr txBox="1"/>
          <p:nvPr/>
        </p:nvSpPr>
        <p:spPr>
          <a:xfrm>
            <a:off x="4019266" y="4907259"/>
            <a:ext cx="415318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 altLang="zh-TW" sz="2400" dirty="0">
              <a:cs typeface="Arial"/>
            </a:endParaRPr>
          </a:p>
        </p:txBody>
      </p:sp>
      <p:sp>
        <p:nvSpPr>
          <p:cNvPr id="12" name="內容版面配置區 4">
            <a:extLst>
              <a:ext uri="{FF2B5EF4-FFF2-40B4-BE49-F238E27FC236}">
                <a16:creationId xmlns:a16="http://schemas.microsoft.com/office/drawing/2014/main" id="{3AF72A11-6D80-FCE0-303B-CDC12AD3F0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335360" y="764704"/>
            <a:ext cx="11445227" cy="561662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421640" indent="-421640"/>
            <a:r>
              <a:rPr lang="zh-TW" altLang="en-US" sz="3200" b="0">
                <a:latin typeface="Arial"/>
                <a:ea typeface="微軟正黑體"/>
                <a:cs typeface="Arial"/>
              </a:rPr>
              <a:t>url_prefix</a:t>
            </a:r>
          </a:p>
          <a:p>
            <a:pPr marL="878840" lvl="1" indent="-433705"/>
            <a:r>
              <a:rPr lang="zh-TW" sz="2750" b="0">
                <a:latin typeface="微軟正黑體"/>
                <a:ea typeface="微軟正黑體"/>
                <a:cs typeface="Arial"/>
              </a:rPr>
              <a:t>代表未來所有</a:t>
            </a:r>
            <a:r>
              <a:rPr lang="en-US" altLang="zh-TW" sz="2750" b="0" dirty="0">
                <a:latin typeface="微軟正黑體"/>
                <a:ea typeface="微軟正黑體"/>
                <a:cs typeface="Arial"/>
              </a:rPr>
              <a:t>Blueprint</a:t>
            </a:r>
            <a:r>
              <a:rPr lang="zh-TW" sz="2750" b="0">
                <a:latin typeface="微軟正黑體"/>
                <a:ea typeface="微軟正黑體"/>
                <a:cs typeface="Arial"/>
              </a:rPr>
              <a:t>所創建出來的</a:t>
            </a:r>
            <a:r>
              <a:rPr lang="en-US" altLang="zh-TW" sz="2750" b="0" dirty="0">
                <a:latin typeface="微軟正黑體"/>
                <a:ea typeface="微軟正黑體"/>
                <a:cs typeface="Arial"/>
              </a:rPr>
              <a:t>routes</a:t>
            </a:r>
            <a:r>
              <a:rPr lang="zh-TW" sz="2750" b="0">
                <a:latin typeface="微軟正黑體"/>
                <a:ea typeface="微軟正黑體"/>
                <a:cs typeface="Arial"/>
              </a:rPr>
              <a:t>，前面都需要加上 </a:t>
            </a:r>
            <a:r>
              <a:rPr lang="en-US" altLang="zh-TW" sz="2750" b="0" dirty="0" err="1">
                <a:latin typeface="微軟正黑體"/>
                <a:ea typeface="微軟正黑體"/>
                <a:cs typeface="Arial"/>
              </a:rPr>
              <a:t>url</a:t>
            </a:r>
            <a:r>
              <a:rPr lang="en-US" altLang="zh-TW" sz="2750" b="0" dirty="0">
                <a:latin typeface="微軟正黑體"/>
                <a:ea typeface="微軟正黑體"/>
                <a:cs typeface="Arial"/>
              </a:rPr>
              <a:t>_</a:t>
            </a:r>
            <a:r>
              <a:rPr lang="zh-TW" sz="2750" b="0">
                <a:latin typeface="微軟正黑體"/>
                <a:ea typeface="微軟正黑體"/>
                <a:cs typeface="Arial"/>
              </a:rPr>
              <a:t>p</a:t>
            </a:r>
            <a:r>
              <a:rPr lang="en-US" altLang="zh-TW" sz="2750" b="0" dirty="0">
                <a:latin typeface="微軟正黑體"/>
                <a:ea typeface="微軟正黑體"/>
                <a:cs typeface="Arial"/>
              </a:rPr>
              <a:t>r</a:t>
            </a:r>
            <a:r>
              <a:rPr lang="zh-TW" sz="2750" b="0">
                <a:latin typeface="微軟正黑體"/>
                <a:ea typeface="微軟正黑體"/>
                <a:cs typeface="Arial"/>
              </a:rPr>
              <a:t>e</a:t>
            </a:r>
            <a:r>
              <a:rPr lang="en-US" altLang="zh-TW" sz="2750" b="0" dirty="0" err="1">
                <a:latin typeface="微軟正黑體"/>
                <a:ea typeface="微軟正黑體"/>
                <a:cs typeface="Arial"/>
              </a:rPr>
              <a:t>fix的值</a:t>
            </a:r>
            <a:endParaRPr lang="zh-TW" altLang="en-US" sz="2750" b="0" dirty="0" err="1">
              <a:latin typeface="微軟正黑體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r>
              <a:rPr lang="en-US" altLang="zh-TW" sz="3200" b="0" dirty="0" err="1">
                <a:latin typeface="微軟正黑體"/>
                <a:ea typeface="微軟正黑體"/>
                <a:cs typeface="Arial"/>
              </a:rPr>
              <a:t>static_folder</a:t>
            </a:r>
            <a:endParaRPr lang="zh-TW" altLang="en-US" sz="3400" dirty="0" err="1"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750" b="0">
                <a:latin typeface="微軟正黑體"/>
                <a:ea typeface="微軟正黑體"/>
                <a:cs typeface="Arial"/>
              </a:rPr>
              <a:t>可以指定透過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Blueprint</a:t>
            </a:r>
            <a:r>
              <a:rPr lang="zh-TW" altLang="en-US" sz="2800" b="0">
                <a:latin typeface="Arial"/>
                <a:ea typeface="微軟正黑體"/>
                <a:cs typeface="Arial"/>
              </a:rPr>
              <a:t>所</a:t>
            </a:r>
            <a:r>
              <a:rPr lang="zh-TW" altLang="en-US" sz="2750" b="0">
                <a:latin typeface="微軟正黑體"/>
                <a:ea typeface="微軟正黑體"/>
                <a:cs typeface="Arial"/>
              </a:rPr>
              <a:t>新註冊的route使用的 </a:t>
            </a:r>
            <a:r>
              <a:rPr lang="en-US" altLang="zh-TW" sz="2750" b="0" dirty="0">
                <a:latin typeface="微軟正黑體"/>
                <a:ea typeface="微軟正黑體"/>
                <a:cs typeface="Arial"/>
              </a:rPr>
              <a:t>static</a:t>
            </a:r>
            <a:r>
              <a:rPr lang="zh-TW" altLang="en-US" sz="2750" b="0">
                <a:latin typeface="微軟正黑體"/>
                <a:ea typeface="微軟正黑體"/>
                <a:cs typeface="Arial"/>
              </a:rPr>
              <a:t> 位置</a:t>
            </a:r>
            <a:endParaRPr lang="zh-TW" altLang="en-US" sz="2750"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r>
              <a:rPr lang="en-US" altLang="zh-TW" sz="3200" b="0" dirty="0" err="1">
                <a:latin typeface="微軟正黑體"/>
                <a:ea typeface="微軟正黑體"/>
                <a:cs typeface="Arial"/>
              </a:rPr>
              <a:t>template_folder</a:t>
            </a:r>
            <a:r>
              <a:rPr lang="zh-TW" altLang="en-US" sz="3200" b="0" dirty="0">
                <a:latin typeface="微軟正黑體"/>
                <a:ea typeface="微軟正黑體"/>
                <a:cs typeface="Arial"/>
              </a:rPr>
              <a:t> </a:t>
            </a:r>
            <a:endParaRPr lang="zh-TW" altLang="en-US" sz="3400">
              <a:latin typeface="Arial"/>
              <a:ea typeface="微軟正黑體"/>
              <a:cs typeface="Arial"/>
            </a:endParaRPr>
          </a:p>
          <a:p>
            <a:pPr marL="878840" lvl="1" indent="-433705"/>
            <a:r>
              <a:rPr lang="zh-TW" altLang="en-US" sz="2750" b="0">
                <a:latin typeface="微軟正黑體"/>
                <a:ea typeface="微軟正黑體"/>
                <a:cs typeface="Arial"/>
              </a:rPr>
              <a:t>可以指定</a:t>
            </a:r>
            <a:r>
              <a:rPr lang="zh-TW" sz="2800" b="0">
                <a:latin typeface="Microsoft JhengHei"/>
                <a:ea typeface="Microsoft JhengHei"/>
                <a:cs typeface="Arial"/>
              </a:rPr>
              <a:t>透過</a:t>
            </a:r>
            <a:r>
              <a:rPr lang="en-US" altLang="zh-TW" sz="2800" b="0" dirty="0">
                <a:latin typeface="Arial"/>
                <a:ea typeface="微軟正黑體"/>
                <a:cs typeface="Arial"/>
              </a:rPr>
              <a:t>Blueprint</a:t>
            </a:r>
            <a:r>
              <a:rPr lang="zh-TW" sz="2800" b="0">
                <a:latin typeface="Arial"/>
                <a:ea typeface="微軟正黑體"/>
                <a:cs typeface="Arial"/>
              </a:rPr>
              <a:t>所</a:t>
            </a:r>
            <a:r>
              <a:rPr lang="zh-TW" altLang="en-US" sz="2750" b="0">
                <a:latin typeface="微軟正黑體"/>
                <a:ea typeface="微軟正黑體"/>
                <a:cs typeface="Arial"/>
              </a:rPr>
              <a:t>新註冊的</a:t>
            </a:r>
            <a:r>
              <a:rPr lang="zh-TW" sz="2800" b="0">
                <a:latin typeface="Microsoft JhengHei"/>
                <a:ea typeface="Microsoft JhengHei"/>
                <a:cs typeface="Arial"/>
              </a:rPr>
              <a:t>r</a:t>
            </a:r>
            <a:r>
              <a:rPr lang="en-US" altLang="zh-TW" sz="2800" b="0" dirty="0">
                <a:latin typeface="Microsoft JhengHei"/>
                <a:ea typeface="Microsoft JhengHei"/>
                <a:cs typeface="Arial"/>
              </a:rPr>
              <a:t>out</a:t>
            </a:r>
            <a:r>
              <a:rPr lang="zh-TW" sz="2800" b="0">
                <a:latin typeface="Microsoft JhengHei"/>
                <a:ea typeface="Microsoft JhengHei"/>
                <a:cs typeface="Arial"/>
              </a:rPr>
              <a:t>e</a:t>
            </a:r>
            <a:r>
              <a:rPr lang="zh-TW" altLang="en-US" sz="2750" b="0">
                <a:latin typeface="微軟正黑體"/>
                <a:ea typeface="微軟正黑體"/>
                <a:cs typeface="Arial"/>
              </a:rPr>
              <a:t>使用的 </a:t>
            </a:r>
            <a:r>
              <a:rPr lang="en-US" altLang="zh-TW" sz="2750" b="0" dirty="0">
                <a:latin typeface="微軟正黑體"/>
                <a:ea typeface="微軟正黑體"/>
                <a:cs typeface="Arial"/>
              </a:rPr>
              <a:t>template</a:t>
            </a:r>
            <a:r>
              <a:rPr lang="zh-TW" altLang="en-US" sz="2750" b="0">
                <a:latin typeface="微軟正黑體"/>
                <a:ea typeface="微軟正黑體"/>
                <a:cs typeface="Arial"/>
              </a:rPr>
              <a:t> 位置</a:t>
            </a:r>
            <a:endParaRPr lang="zh-TW" altLang="en-US" sz="2950"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sz="3200" b="0" dirty="0">
              <a:latin typeface="微軟正黑體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3200" b="0" dirty="0"/>
          </a:p>
          <a:p>
            <a:pPr marL="421640" indent="-421640">
              <a:buClr>
                <a:srgbClr val="E1CB1A"/>
              </a:buClr>
            </a:pPr>
            <a:endParaRPr lang="zh-TW" altLang="en-US" sz="3200" b="0" dirty="0"/>
          </a:p>
          <a:p>
            <a:pPr marL="421640" indent="-421640">
              <a:buClr>
                <a:srgbClr val="E1CB1A"/>
              </a:buClr>
            </a:pPr>
            <a:endParaRPr lang="zh-TW" altLang="en-US" sz="32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3200" b="0" dirty="0">
              <a:latin typeface="Arial"/>
              <a:ea typeface="微軟正黑體"/>
              <a:cs typeface="Arial"/>
            </a:endParaRPr>
          </a:p>
          <a:p>
            <a:pPr marL="421640" indent="-421640">
              <a:buClr>
                <a:srgbClr val="E1CB1A"/>
              </a:buClr>
            </a:pPr>
            <a:endParaRPr lang="zh-TW" altLang="en-US" sz="3200" b="0" dirty="0"/>
          </a:p>
          <a:p>
            <a:pPr marL="0" indent="0">
              <a:buClr>
                <a:srgbClr val="E1CB1A"/>
              </a:buClr>
              <a:buNone/>
            </a:pPr>
            <a:endParaRPr lang="zh-TW" altLang="en-US" sz="3200" b="0" dirty="0"/>
          </a:p>
          <a:p>
            <a:pPr marL="421640" indent="-421640">
              <a:buClr>
                <a:srgbClr val="E1CB1A"/>
              </a:buClr>
            </a:pPr>
            <a:endParaRPr lang="en-US" altLang="zh-TW" sz="3200" b="0"/>
          </a:p>
          <a:p>
            <a:pPr marL="878840" lvl="1" indent="-421640">
              <a:buClr>
                <a:srgbClr val="42BBC6"/>
              </a:buClr>
            </a:pPr>
            <a:endParaRPr lang="zh-TW" altLang="en-US" sz="2900" b="0" dirty="0"/>
          </a:p>
        </p:txBody>
      </p:sp>
    </p:spTree>
    <p:extLst>
      <p:ext uri="{BB962C8B-B14F-4D97-AF65-F5344CB8AC3E}">
        <p14:creationId xmlns:p14="http://schemas.microsoft.com/office/powerpoint/2010/main" val="413514235"/>
      </p:ext>
    </p:extLst>
  </p:cSld>
  <p:clrMapOvr>
    <a:masterClrMapping/>
  </p:clrMapOvr>
</p:sld>
</file>

<file path=ppt/theme/theme1.xml><?xml version="1.0" encoding="utf-8"?>
<a:theme xmlns:a="http://schemas.openxmlformats.org/drawingml/2006/main" name="2019簡報範本_light">
  <a:themeElements>
    <a:clrScheme name="2019iii">
      <a:dk1>
        <a:srgbClr val="717171"/>
      </a:dk1>
      <a:lt1>
        <a:srgbClr val="393939"/>
      </a:lt1>
      <a:dk2>
        <a:srgbClr val="DDDDDD"/>
      </a:dk2>
      <a:lt2>
        <a:srgbClr val="ABABAB"/>
      </a:lt2>
      <a:accent1>
        <a:srgbClr val="E1CB1A"/>
      </a:accent1>
      <a:accent2>
        <a:srgbClr val="42BBC6"/>
      </a:accent2>
      <a:accent3>
        <a:srgbClr val="F0591B"/>
      </a:accent3>
      <a:accent4>
        <a:srgbClr val="FFC000"/>
      </a:accent4>
      <a:accent5>
        <a:srgbClr val="8DCBDA"/>
      </a:accent5>
      <a:accent6>
        <a:srgbClr val="9ACF17"/>
      </a:accent6>
      <a:hlink>
        <a:srgbClr val="F0591B"/>
      </a:hlink>
      <a:folHlink>
        <a:srgbClr val="2A2A2A"/>
      </a:folHlink>
    </a:clrScheme>
    <a:fontScheme name="自訂 XYZ">
      <a:majorFont>
        <a:latin typeface="Arial"/>
        <a:ea typeface="微軟正黑體"/>
        <a:cs typeface=""/>
      </a:majorFont>
      <a:minorFont>
        <a:latin typeface="Arial"/>
        <a:ea typeface="微軟正黑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/>
      </a:spPr>
      <a:bodyPr rtlCol="0" anchor="ctr"/>
      <a:lstStyle>
        <a:defPPr algn="ctr">
          <a:defRPr/>
        </a:defPPr>
      </a:lstStyle>
      <a:style>
        <a:lnRef idx="1">
          <a:schemeClr val="accent4"/>
        </a:lnRef>
        <a:fillRef idx="3">
          <a:schemeClr val="accent4"/>
        </a:fillRef>
        <a:effectRef idx="2">
          <a:schemeClr val="accent4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>
          <a:defRPr dirty="0" err="1" smtClean="0">
            <a:solidFill>
              <a:schemeClr val="tx1">
                <a:lumMod val="75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2019簡報範本_light</Template>
  <TotalTime>628</TotalTime>
  <Words>1072</Words>
  <Application>Microsoft Office PowerPoint</Application>
  <PresentationFormat>寬螢幕</PresentationFormat>
  <Paragraphs>54</Paragraphs>
  <Slides>6</Slides>
  <Notes>6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7" baseType="lpstr">
      <vt:lpstr>2019簡報範本_light</vt:lpstr>
      <vt:lpstr>Blueprint</vt:lpstr>
      <vt:lpstr>Circular import</vt:lpstr>
      <vt:lpstr>Wrap routes</vt:lpstr>
      <vt:lpstr>Blueprint</vt:lpstr>
      <vt:lpstr>Blueprint &amp; url_map</vt:lpstr>
      <vt:lpstr>Blueprint 其他設定</vt:lpstr>
    </vt:vector>
  </TitlesOfParts>
  <Company>Institute for Information Industry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教研所『課程產品化』開發與製作學員版教材-公版投影片</dc:title>
  <dc:subject>2019 template</dc:subject>
  <dc:creator>Steven Liu</dc:creator>
  <cp:lastModifiedBy>ywt01</cp:lastModifiedBy>
  <cp:revision>699</cp:revision>
  <cp:lastPrinted>2019-04-29T05:54:36Z</cp:lastPrinted>
  <dcterms:created xsi:type="dcterms:W3CDTF">2019-04-17T09:27:11Z</dcterms:created>
  <dcterms:modified xsi:type="dcterms:W3CDTF">2026-06-13T03:34:13Z</dcterms:modified>
  <cp:category>淺色</cp:category>
</cp:coreProperties>
</file>