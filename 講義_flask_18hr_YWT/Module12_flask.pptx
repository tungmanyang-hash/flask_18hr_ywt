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1" r:id="rId1"/>
  </p:sldMasterIdLst>
  <p:notesMasterIdLst>
    <p:notesMasterId r:id="rId9"/>
  </p:notesMasterIdLst>
  <p:handoutMasterIdLst>
    <p:handoutMasterId r:id="rId10"/>
  </p:handoutMasterIdLst>
  <p:sldIdLst>
    <p:sldId id="331" r:id="rId2"/>
    <p:sldId id="399" r:id="rId3"/>
    <p:sldId id="417" r:id="rId4"/>
    <p:sldId id="416" r:id="rId5"/>
    <p:sldId id="420" r:id="rId6"/>
    <p:sldId id="421" r:id="rId7"/>
    <p:sldId id="422" r:id="rId8"/>
  </p:sldIdLst>
  <p:sldSz cx="12192000" cy="6858000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aac" initials="i" lastIdx="1" clrIdx="0">
    <p:extLst>
      <p:ext uri="{19B8F6BF-5375-455C-9EA6-DF929625EA0E}">
        <p15:presenceInfo xmlns:p15="http://schemas.microsoft.com/office/powerpoint/2012/main" userId="isaa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FFFFFF"/>
    <a:srgbClr val="323E1A"/>
    <a:srgbClr val="003300"/>
    <a:srgbClr val="00009A"/>
    <a:srgbClr val="000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D083AE6-46FA-4A59-8FB0-9F97EB10719F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038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F5AB9-3463-4E65-AFD3-5431B79ADFDC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0C45D-A6E0-411D-9D9F-B22D9F5136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10737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376364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E4D81D0-FCC8-42FD-B0AF-6DA70B5F6E70}"/>
              </a:ext>
            </a:extLst>
          </p:cNvPr>
          <p:cNvSpPr/>
          <p:nvPr/>
        </p:nvSpPr>
        <p:spPr>
          <a:xfrm>
            <a:off x="91232" y="8110145"/>
            <a:ext cx="6623050" cy="11079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【Key Points】</a:t>
            </a:r>
          </a:p>
          <a:p>
            <a:pPr algn="l"/>
            <a:endParaRPr lang="zh-TW" altLang="en-US"/>
          </a:p>
        </p:txBody>
      </p:sp>
      <p:sp>
        <p:nvSpPr>
          <p:cNvPr id="9" name="投影片圖像版面配置區 3">
            <a:extLst>
              <a:ext uri="{FF2B5EF4-FFF2-40B4-BE49-F238E27FC236}">
                <a16:creationId xmlns:a16="http://schemas.microsoft.com/office/drawing/2014/main" id="{3A6EF303-87EA-4AFE-8AF8-60DA97A17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13" name="備忘稿版面配置區 4">
            <a:extLst>
              <a:ext uri="{FF2B5EF4-FFF2-40B4-BE49-F238E27FC236}">
                <a16:creationId xmlns:a16="http://schemas.microsoft.com/office/drawing/2014/main" id="{8E303468-187E-49A8-9D33-C12B34DA2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32" y="4609629"/>
            <a:ext cx="6623050" cy="35005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9195302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1pPr>
    <a:lvl2pPr marL="4572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2pPr>
    <a:lvl3pPr marL="9144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0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1BF7A2D-EE60-43A8-8E8A-1CA3E7F4432C}"/>
              </a:ext>
            </a:extLst>
          </p:cNvPr>
          <p:cNvSpPr txBox="1"/>
          <p:nvPr/>
        </p:nvSpPr>
        <p:spPr>
          <a:xfrm>
            <a:off x="91232" y="8426053"/>
            <a:ext cx="662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>
                <a:solidFill>
                  <a:srgbClr val="0000FF"/>
                </a:solidFill>
              </a:rPr>
              <a:t>每一個章節預估用</a:t>
            </a:r>
            <a:r>
              <a:rPr lang="en-US" altLang="zh-TW" sz="1200">
                <a:solidFill>
                  <a:srgbClr val="0000FF"/>
                </a:solidFill>
              </a:rPr>
              <a:t>30</a:t>
            </a:r>
            <a:r>
              <a:rPr lang="zh-TW" altLang="en-US" sz="1200">
                <a:solidFill>
                  <a:srgbClr val="0000FF"/>
                </a:solidFill>
              </a:rPr>
              <a:t>分鐘講授課程內容，</a:t>
            </a:r>
            <a:r>
              <a:rPr lang="en-US" altLang="zh-TW" sz="1200">
                <a:solidFill>
                  <a:srgbClr val="0000FF"/>
                </a:solidFill>
              </a:rPr>
              <a:t>20</a:t>
            </a:r>
            <a:r>
              <a:rPr lang="zh-TW" altLang="en-US" sz="1200">
                <a:solidFill>
                  <a:srgbClr val="0000FF"/>
                </a:solidFill>
              </a:rPr>
              <a:t>分鐘讓學員實做</a:t>
            </a:r>
            <a:r>
              <a:rPr lang="en-US" altLang="zh-TW" sz="1200">
                <a:solidFill>
                  <a:srgbClr val="0000FF"/>
                </a:solidFill>
              </a:rPr>
              <a:t>Lab</a:t>
            </a:r>
            <a:r>
              <a:rPr lang="zh-TW" altLang="en-US" sz="1200">
                <a:solidFill>
                  <a:srgbClr val="0000FF"/>
                </a:solidFill>
              </a:rPr>
              <a:t>，</a:t>
            </a:r>
            <a:r>
              <a:rPr lang="en-US" altLang="zh-TW" sz="1200">
                <a:solidFill>
                  <a:srgbClr val="0000FF"/>
                </a:solidFill>
              </a:rPr>
              <a:t>10</a:t>
            </a:r>
            <a:r>
              <a:rPr lang="zh-TW" altLang="en-US" sz="1200">
                <a:solidFill>
                  <a:srgbClr val="0000FF"/>
                </a:solidFill>
              </a:rPr>
              <a:t>分鐘討論或休息。</a:t>
            </a: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231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618687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214708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42119921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306922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2028709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53940" y="2852936"/>
            <a:ext cx="11247040" cy="692696"/>
          </a:xfrm>
        </p:spPr>
        <p:txBody>
          <a:bodyPr/>
          <a:lstStyle>
            <a:lvl1pPr algn="ctr"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封面</a:t>
            </a:r>
          </a:p>
        </p:txBody>
      </p:sp>
      <p:sp>
        <p:nvSpPr>
          <p:cNvPr id="5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592F39-E5A5-4CE6-B04B-B4DCCEDFCE8D}"/>
              </a:ext>
            </a:extLst>
          </p:cNvPr>
          <p:cNvSpPr txBox="1"/>
          <p:nvPr userDrawn="1"/>
        </p:nvSpPr>
        <p:spPr>
          <a:xfrm>
            <a:off x="4553305" y="1427937"/>
            <a:ext cx="2836007" cy="774058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altLang="zh-TW" sz="2215">
              <a:solidFill>
                <a:schemeClr val="tx1">
                  <a:lumMod val="75000"/>
                </a:schemeClr>
              </a:solidFill>
            </a:endParaRPr>
          </a:p>
          <a:p>
            <a:endParaRPr lang="zh-TW" altLang="en-US" sz="2215" err="1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06502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D46DC4E-74EA-4FF4-9DAA-ED2D59AFB0F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234637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 b="1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2pPr>
            <a:lvl3pPr marL="1324741" indent="-32825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3pPr>
            <a:lvl4pPr marL="1652995" indent="-22274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4pPr>
            <a:lvl5pPr marL="1992973" indent="-339978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tabLst>
                <a:tab pos="9824184" algn="l"/>
              </a:tabLst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5418C1F-6B55-4A71-AFFD-089A51282D0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064618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72008"/>
            <a:ext cx="11247040" cy="54868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6558267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7070878" y="764704"/>
            <a:ext cx="4785762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FAE68B8-99C7-40B9-B8F1-A798C021C43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1606717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46735" y="764704"/>
            <a:ext cx="6558267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246735" y="1340768"/>
            <a:ext cx="6558267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93627" y="764704"/>
            <a:ext cx="4945582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893627" y="1340768"/>
            <a:ext cx="4945582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2C7611D-A327-4D7A-B0CC-BD7C9B9F11E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8933376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56CA749-C98C-4DB3-9FF7-B1074AFD1EA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121913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84F4EE5-BCBD-459C-B67D-EBB22C6F76D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4354668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5360" y="273050"/>
            <a:ext cx="4285487" cy="1162050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7385" y="273050"/>
            <a:ext cx="7089255" cy="6180286"/>
          </a:xfrm>
        </p:spPr>
        <p:txBody>
          <a:bodyPr/>
          <a:lstStyle>
            <a:lvl1pPr>
              <a:defRPr sz="3939">
                <a:solidFill>
                  <a:srgbClr val="000000"/>
                </a:solidFill>
              </a:defRPr>
            </a:lvl1pPr>
            <a:lvl2pPr>
              <a:defRPr sz="3446">
                <a:solidFill>
                  <a:srgbClr val="000000"/>
                </a:solidFill>
              </a:defRPr>
            </a:lvl2pPr>
            <a:lvl3pPr>
              <a:defRPr sz="2954">
                <a:solidFill>
                  <a:srgbClr val="000000"/>
                </a:solidFill>
              </a:defRPr>
            </a:lvl3pPr>
            <a:lvl4pPr>
              <a:defRPr sz="2462">
                <a:solidFill>
                  <a:srgbClr val="000000"/>
                </a:solidFill>
              </a:defRPr>
            </a:lvl4pPr>
            <a:lvl5pPr>
              <a:defRPr sz="2462">
                <a:solidFill>
                  <a:srgbClr val="000000"/>
                </a:solidFill>
              </a:defRPr>
            </a:lvl5pPr>
            <a:lvl6pPr>
              <a:defRPr sz="2462"/>
            </a:lvl6pPr>
            <a:lvl7pPr>
              <a:defRPr sz="2462"/>
            </a:lvl7pPr>
            <a:lvl8pPr>
              <a:defRPr sz="2462"/>
            </a:lvl8pPr>
            <a:lvl9pPr>
              <a:defRPr sz="2462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35360" y="1435100"/>
            <a:ext cx="4285487" cy="5018236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56EE654-F85C-488B-B06D-685A5EF03A3B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716053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939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6EC7FDE-831C-4773-9CCD-4D6A877F542E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851522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7CAB5AA-8175-4E01-AC40-A371C4F5007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383485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928815" cy="6106690"/>
          </a:xfrm>
        </p:spPr>
        <p:txBody>
          <a:bodyPr vert="eaVert"/>
          <a:lstStyle>
            <a:lvl1pPr>
              <a:defRPr sz="3939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35360" y="274638"/>
            <a:ext cx="8316271" cy="6106690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F3A9370-114B-41F5-9582-92E53FE088F4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33916010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E3FB43C-F578-4BAC-B008-B910508BFE59}"/>
              </a:ext>
            </a:extLst>
          </p:cNvPr>
          <p:cNvSpPr/>
          <p:nvPr userDrawn="1"/>
        </p:nvSpPr>
        <p:spPr>
          <a:xfrm>
            <a:off x="0" y="0"/>
            <a:ext cx="122997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2542" tIns="56271" rIns="112542" bIns="562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215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 bwMode="ltGray">
          <a:xfrm>
            <a:off x="609600" y="216024"/>
            <a:ext cx="1110302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altLang="zh-TW"/>
              <a:t>Arial(</a:t>
            </a:r>
            <a:r>
              <a:rPr lang="zh-TW" altLang="en-US"/>
              <a:t>標題</a:t>
            </a:r>
            <a:r>
              <a:rPr lang="en-US" altLang="zh-TW"/>
              <a:t>)</a:t>
            </a:r>
            <a:r>
              <a:rPr lang="zh-TW" altLang="en-US"/>
              <a:t> </a:t>
            </a:r>
            <a:r>
              <a:rPr lang="en-US" altLang="zh-TW"/>
              <a:t>40</a:t>
            </a:r>
            <a:r>
              <a:rPr lang="zh-TW" altLang="en-US"/>
              <a:t>號 粗體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 bwMode="ltGray">
          <a:xfrm>
            <a:off x="609600" y="980728"/>
            <a:ext cx="11103024" cy="5300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第一層 </a:t>
            </a:r>
            <a:r>
              <a:rPr lang="en-US" altLang="zh-TW"/>
              <a:t>28</a:t>
            </a:r>
            <a:r>
              <a:rPr lang="zh-TW" altLang="en-US"/>
              <a:t>號 粗體</a:t>
            </a:r>
          </a:p>
          <a:p>
            <a:pPr lvl="1"/>
            <a:r>
              <a:rPr lang="zh-TW" altLang="en-US"/>
              <a:t>第二層 </a:t>
            </a:r>
            <a:r>
              <a:rPr lang="en-US" altLang="zh-TW"/>
              <a:t>24</a:t>
            </a:r>
            <a:r>
              <a:rPr lang="zh-TW" altLang="en-US"/>
              <a:t>號 粗體</a:t>
            </a:r>
          </a:p>
          <a:p>
            <a:pPr lvl="2"/>
            <a:r>
              <a:rPr lang="zh-TW" altLang="en-US"/>
              <a:t>第三層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3"/>
            <a:r>
              <a:rPr lang="zh-TW" altLang="en-US"/>
              <a:t>第四層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4"/>
            <a:r>
              <a:rPr lang="zh-TW" altLang="en-US"/>
              <a:t>第五層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</p:txBody>
      </p:sp>
    </p:spTree>
    <p:extLst>
      <p:ext uri="{BB962C8B-B14F-4D97-AF65-F5344CB8AC3E}">
        <p14:creationId xmlns:p14="http://schemas.microsoft.com/office/powerpoint/2010/main" val="1322232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52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dt="0"/>
  <p:txStyles>
    <p:titleStyle>
      <a:lvl1pPr marL="0" indent="0" algn="ctr" defTabSz="914400" rtl="0" eaLnBrk="1" latinLnBrk="1" hangingPunct="1">
        <a:spcBef>
          <a:spcPct val="20000"/>
        </a:spcBef>
        <a:buFont typeface="Arial" pitchFamily="34" charset="0"/>
        <a:buNone/>
        <a:defRPr lang="zh-TW" altLang="en-US" sz="4000" b="1" kern="1200" spc="369" baseline="0" dirty="0">
          <a:solidFill>
            <a:srgbClr val="FF0000"/>
          </a:solidFill>
          <a:latin typeface="+mj-lt"/>
          <a:ea typeface="+mn-ea"/>
          <a:cs typeface="Arial" pitchFamily="34" charset="0"/>
        </a:defRPr>
      </a:lvl1pPr>
    </p:titleStyle>
    <p:bodyStyle>
      <a:lvl1pPr marL="422041" indent="-422041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1"/>
        </a:buClr>
        <a:buFont typeface="Arial" pitchFamily="34" charset="0"/>
        <a:buChar char="•"/>
        <a:defRPr sz="28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1pPr>
      <a:lvl2pPr marL="879253" indent="-433765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2"/>
        </a:buClr>
        <a:buFont typeface="Arial" pitchFamily="34" charset="0"/>
        <a:buChar char="–"/>
        <a:defRPr sz="24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2pPr>
      <a:lvl3pPr marL="1219230" indent="-339978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3"/>
        </a:buClr>
        <a:buFont typeface="Arial" pitchFamily="34" charset="0"/>
        <a:buChar char="•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3pPr>
      <a:lvl4pPr marL="1547485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4"/>
        </a:buClr>
        <a:buFont typeface="Arial" pitchFamily="34" charset="0"/>
        <a:buChar char="–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4pPr>
      <a:lvl5pPr marL="1875739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5"/>
        </a:buClr>
        <a:buFont typeface="Arial" pitchFamily="34" charset="0"/>
        <a:buChar char="»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5pPr>
      <a:lvl6pPr marL="3094970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28D6BC7-90B7-48DA-BBBC-D1E24831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</a:t>
            </a:r>
            <a:r>
              <a:rPr lang="en-US" altLang="en-US" dirty="0"/>
              <a:t>ession</a:t>
            </a:r>
            <a:r>
              <a:rPr lang="zh-TW" altLang="en-US" dirty="0"/>
              <a:t> </a:t>
            </a:r>
            <a:r>
              <a:rPr lang="en-US" altLang="zh-TW" dirty="0"/>
              <a:t>&amp;</a:t>
            </a:r>
            <a:r>
              <a:rPr lang="zh-TW" altLang="en-US" dirty="0"/>
              <a:t> </a:t>
            </a:r>
            <a:r>
              <a:rPr lang="en-US" altLang="zh-TW" dirty="0"/>
              <a:t>hook</a:t>
            </a:r>
            <a:endParaRPr lang="en-US" altLang="en-US" dirty="0"/>
          </a:p>
        </p:txBody>
      </p:sp>
      <p:sp>
        <p:nvSpPr>
          <p:cNvPr id="7" name="Rectangle 131">
            <a:extLst>
              <a:ext uri="{FF2B5EF4-FFF2-40B4-BE49-F238E27FC236}">
                <a16:creationId xmlns:a16="http://schemas.microsoft.com/office/drawing/2014/main" id="{592B8426-F2A6-4FF0-975A-D6D584A66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9580" y="5203874"/>
            <a:ext cx="2125663" cy="824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125000"/>
              </a:lnSpc>
            </a:pPr>
            <a:r>
              <a:rPr kumimoji="0" lang="en-US" altLang="zh-TW" sz="2000"/>
              <a:t>Estimated time: </a:t>
            </a:r>
          </a:p>
          <a:p>
            <a:pPr algn="ctr" eaLnBrk="0" hangingPunct="0">
              <a:lnSpc>
                <a:spcPct val="125000"/>
              </a:lnSpc>
            </a:pPr>
            <a:r>
              <a:rPr lang="en-US" altLang="zh-TW" sz="2000">
                <a:solidFill>
                  <a:srgbClr val="FF0000"/>
                </a:solidFill>
              </a:rPr>
              <a:t>45 </a:t>
            </a:r>
            <a:r>
              <a:rPr kumimoji="0" lang="en-US" altLang="zh-TW" sz="2000"/>
              <a:t>min.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097F64C2-8D41-490E-90C6-C32EAD5C5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432" y="5172128"/>
            <a:ext cx="1687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265" tIns="43632" rIns="87265" bIns="43632" anchor="t">
            <a:spAutoFit/>
          </a:bodyPr>
          <a:lstStyle/>
          <a:p>
            <a:pPr marL="279400" indent="-279400" algn="ctr" defTabSz="873125" eaLnBrk="0" hangingPunct="0">
              <a:spcBef>
                <a:spcPct val="15000"/>
              </a:spcBef>
              <a:buSzPct val="65000"/>
            </a:pPr>
            <a:r>
              <a:rPr lang="en-US" altLang="zh-TW" sz="2400" i="1" dirty="0">
                <a:solidFill>
                  <a:srgbClr val="0000FF"/>
                </a:solidFill>
                <a:latin typeface="Georgia"/>
                <a:ea typeface="標楷體"/>
              </a:rPr>
              <a:t>Module 12</a:t>
            </a:r>
            <a:endParaRPr lang="zh-TW" altLang="zh-TW" sz="2400" i="1" dirty="0">
              <a:solidFill>
                <a:srgbClr val="0000FF"/>
              </a:solidFill>
              <a:latin typeface="Georgia" pitchFamily="18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7126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cs typeface="Arial"/>
              </a:rPr>
              <a:t>Post/Redirect/Get pattern</a:t>
            </a:r>
            <a:endParaRPr lang="en-US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9479" y="673719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3400" b="0">
                <a:latin typeface="Arial"/>
                <a:ea typeface="微軟正黑體"/>
                <a:cs typeface="Arial"/>
              </a:rPr>
              <a:t>當要求重新整理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(</a:t>
            </a:r>
            <a:r>
              <a:rPr lang="en-US" altLang="zh-TW" sz="3400">
                <a:latin typeface="Arial"/>
                <a:ea typeface="微軟正黑體"/>
                <a:cs typeface="Arial"/>
              </a:rPr>
              <a:t>F5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)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頁面時，瀏覽器會</a:t>
            </a:r>
            <a:r>
              <a:rPr lang="zh-TW" altLang="en-US" sz="3400" dirty="0">
                <a:latin typeface="Arial"/>
                <a:ea typeface="微軟正黑體"/>
                <a:cs typeface="Arial"/>
              </a:rPr>
              <a:t>重複發送的前一個請求。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當前一個請求是帶有表單數據的</a:t>
            </a:r>
            <a:r>
              <a:rPr lang="en-US" altLang="zh-TW" sz="3400" b="0" dirty="0">
                <a:latin typeface="Arial"/>
                <a:ea typeface="微軟正黑體"/>
                <a:cs typeface="Arial"/>
              </a:rPr>
              <a:t>POST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請求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時，重新整理將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導致重複的表單提交。</a:t>
            </a:r>
            <a:endParaRPr lang="en-US" altLang="zh-TW" sz="3400" b="0" dirty="0">
              <a:latin typeface="Arial"/>
              <a:ea typeface="微軟正黑體"/>
              <a:cs typeface="Arial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DF9FC04-58ED-4AFC-8240-54066E8BBF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628" y="2224413"/>
            <a:ext cx="6064928" cy="427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450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cs typeface="Arial"/>
              </a:rPr>
              <a:t>Post/Redirect/Get pattern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2400" b="0" dirty="0">
                <a:latin typeface="Arial"/>
                <a:ea typeface="微軟正黑體"/>
                <a:cs typeface="Arial"/>
              </a:rPr>
              <a:t>最好不要將</a:t>
            </a:r>
            <a:r>
              <a:rPr lang="en-US" altLang="zh-TW" sz="2400" b="0" dirty="0">
                <a:latin typeface="Arial"/>
                <a:ea typeface="微軟正黑體"/>
                <a:cs typeface="Arial"/>
              </a:rPr>
              <a:t>POST</a:t>
            </a:r>
            <a:r>
              <a:rPr lang="zh-TW" altLang="en-US" sz="2400" b="0" dirty="0">
                <a:latin typeface="Arial"/>
                <a:ea typeface="微軟正黑體"/>
                <a:cs typeface="Arial"/>
              </a:rPr>
              <a:t>請求作為瀏覽器發送的最後一個請求。可以通過使用</a:t>
            </a:r>
            <a:r>
              <a:rPr lang="en-US" altLang="zh-TW" sz="2400" dirty="0">
                <a:latin typeface="Arial"/>
                <a:ea typeface="微軟正黑體"/>
                <a:cs typeface="Arial"/>
              </a:rPr>
              <a:t>redirect()</a:t>
            </a:r>
            <a:r>
              <a:rPr lang="zh-TW" altLang="en-US" sz="2400" b="0" dirty="0">
                <a:latin typeface="Arial"/>
                <a:ea typeface="微軟正黑體"/>
                <a:cs typeface="Arial"/>
              </a:rPr>
              <a:t> 來回覆</a:t>
            </a:r>
            <a:r>
              <a:rPr lang="en-US" altLang="zh-TW" sz="2400" b="0" dirty="0">
                <a:latin typeface="Arial"/>
                <a:ea typeface="微軟正黑體"/>
                <a:cs typeface="Arial"/>
              </a:rPr>
              <a:t>POST</a:t>
            </a:r>
            <a:r>
              <a:rPr lang="zh-TW" altLang="en-US" sz="2400" b="0" dirty="0">
                <a:latin typeface="Arial"/>
                <a:ea typeface="微軟正黑體"/>
                <a:cs typeface="Arial"/>
              </a:rPr>
              <a:t>請求來實現。</a:t>
            </a:r>
            <a:endParaRPr lang="en-US" altLang="zh-TW" sz="2400" b="0" dirty="0">
              <a:latin typeface="Arial"/>
              <a:ea typeface="微軟正黑體"/>
              <a:cs typeface="Arial"/>
            </a:endParaRPr>
          </a:p>
          <a:p>
            <a:pPr marL="421640" indent="-421640"/>
            <a:r>
              <a:rPr lang="zh-TW" altLang="en-US" sz="2400" b="0" dirty="0">
                <a:latin typeface="Arial"/>
                <a:ea typeface="微軟正黑體"/>
                <a:cs typeface="Arial"/>
              </a:rPr>
              <a:t>當瀏覽器收到</a:t>
            </a:r>
            <a:r>
              <a:rPr lang="en-US" altLang="zh-TW" sz="2400" dirty="0">
                <a:latin typeface="Arial"/>
                <a:ea typeface="微軟正黑體"/>
                <a:cs typeface="Arial"/>
              </a:rPr>
              <a:t>redirect()</a:t>
            </a:r>
            <a:r>
              <a:rPr lang="zh-TW" altLang="en-US" sz="2400" b="0" dirty="0">
                <a:latin typeface="Arial"/>
                <a:ea typeface="微軟正黑體"/>
                <a:cs typeface="Arial"/>
              </a:rPr>
              <a:t>的回覆時，它會發出針對轉址</a:t>
            </a:r>
            <a:r>
              <a:rPr lang="en-US" altLang="zh-TW" sz="2400" b="0" dirty="0">
                <a:latin typeface="Arial"/>
                <a:ea typeface="微軟正黑體"/>
                <a:cs typeface="Arial"/>
              </a:rPr>
              <a:t>URL</a:t>
            </a:r>
            <a:r>
              <a:rPr lang="zh-TW" altLang="en-US" sz="2400" b="0" dirty="0">
                <a:latin typeface="Arial"/>
                <a:ea typeface="微軟正黑體"/>
                <a:cs typeface="Arial"/>
              </a:rPr>
              <a:t>的</a:t>
            </a:r>
            <a:r>
              <a:rPr lang="en-US" altLang="zh-TW" sz="2400" b="0" dirty="0">
                <a:latin typeface="Arial"/>
                <a:ea typeface="微軟正黑體"/>
                <a:cs typeface="Arial"/>
              </a:rPr>
              <a:t>GET</a:t>
            </a:r>
            <a:r>
              <a:rPr lang="zh-TW" altLang="en-US" sz="2400" b="0" dirty="0">
                <a:latin typeface="Arial"/>
                <a:ea typeface="微軟正黑體"/>
                <a:cs typeface="Arial"/>
              </a:rPr>
              <a:t>請求，這就是它所顯示的頁面。</a:t>
            </a:r>
            <a:endParaRPr lang="en-US" altLang="zh-TW" sz="2400" b="0" dirty="0">
              <a:latin typeface="Arial"/>
              <a:ea typeface="微軟正黑體"/>
              <a:cs typeface="Arial"/>
            </a:endParaRPr>
          </a:p>
          <a:p>
            <a:pPr marL="421640" indent="-421640"/>
            <a:r>
              <a:rPr lang="zh-TW" altLang="en-US" sz="2400" b="0" dirty="0">
                <a:latin typeface="Arial"/>
                <a:ea typeface="微軟正黑體"/>
                <a:cs typeface="Arial"/>
              </a:rPr>
              <a:t>這樣，最後一個請求是</a:t>
            </a:r>
            <a:r>
              <a:rPr lang="en-US" altLang="zh-TW" sz="2400" b="0" dirty="0">
                <a:latin typeface="Arial"/>
                <a:ea typeface="微軟正黑體"/>
                <a:cs typeface="Arial"/>
              </a:rPr>
              <a:t>GET</a:t>
            </a:r>
            <a:r>
              <a:rPr lang="zh-TW" altLang="en-US" sz="2400" b="0" dirty="0">
                <a:latin typeface="Arial"/>
                <a:ea typeface="微軟正黑體"/>
                <a:cs typeface="Arial"/>
              </a:rPr>
              <a:t>，因此</a:t>
            </a:r>
            <a:r>
              <a:rPr lang="en-US" altLang="zh-TW" sz="2400" b="0" dirty="0">
                <a:latin typeface="Arial"/>
                <a:ea typeface="微軟正黑體"/>
                <a:cs typeface="Arial"/>
              </a:rPr>
              <a:t>refresh</a:t>
            </a:r>
            <a:r>
              <a:rPr lang="zh-TW" altLang="en-US" sz="2400" b="0" dirty="0">
                <a:latin typeface="Arial"/>
                <a:ea typeface="微軟正黑體"/>
                <a:cs typeface="Arial"/>
              </a:rPr>
              <a:t>命令</a:t>
            </a:r>
            <a:r>
              <a:rPr lang="en-US" altLang="zh-TW" sz="2400" b="0" dirty="0">
                <a:latin typeface="Arial"/>
                <a:ea typeface="微軟正黑體"/>
                <a:cs typeface="Arial"/>
              </a:rPr>
              <a:t>(</a:t>
            </a:r>
            <a:r>
              <a:rPr lang="zh-TW" altLang="en-US" sz="2400" b="0" dirty="0">
                <a:latin typeface="Arial"/>
                <a:ea typeface="微軟正黑體"/>
                <a:cs typeface="Arial"/>
              </a:rPr>
              <a:t>按鍵</a:t>
            </a:r>
            <a:r>
              <a:rPr lang="en-US" altLang="zh-TW" sz="2400" b="0" dirty="0">
                <a:latin typeface="Arial"/>
                <a:ea typeface="微軟正黑體"/>
                <a:cs typeface="Arial"/>
              </a:rPr>
              <a:t>F5)</a:t>
            </a:r>
            <a:r>
              <a:rPr lang="zh-TW" altLang="en-US" sz="2400" b="0" dirty="0">
                <a:latin typeface="Arial"/>
                <a:ea typeface="微軟正黑體"/>
                <a:cs typeface="Arial"/>
              </a:rPr>
              <a:t>可以按預期工作。</a:t>
            </a:r>
            <a:endParaRPr lang="zh-TW" altLang="en-US" sz="2400" b="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0EACCC4-1C9E-49AD-B96A-63D0C817330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13" b="7015"/>
          <a:stretch/>
        </p:blipFill>
        <p:spPr>
          <a:xfrm>
            <a:off x="3465679" y="3092616"/>
            <a:ext cx="5129262" cy="330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26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cs typeface="Arial"/>
              </a:rPr>
              <a:t>Session</a:t>
            </a:r>
            <a:endParaRPr lang="en-US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3400" b="0" dirty="0">
                <a:latin typeface="Arial"/>
                <a:ea typeface="微軟正黑體"/>
                <a:cs typeface="Arial"/>
              </a:rPr>
              <a:t>使用</a:t>
            </a:r>
            <a:r>
              <a:rPr lang="en-US" altLang="zh-TW" sz="3400" b="0" dirty="0">
                <a:latin typeface="Arial"/>
                <a:ea typeface="微軟正黑體"/>
                <a:cs typeface="Arial"/>
              </a:rPr>
              <a:t>Post/Redirect/Get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模式帶來了第二個問題。</a:t>
            </a:r>
            <a:endParaRPr lang="en-US" altLang="zh-TW" sz="3400" b="0" dirty="0">
              <a:latin typeface="Arial"/>
              <a:ea typeface="微軟正黑體"/>
              <a:cs typeface="Arial"/>
            </a:endParaRPr>
          </a:p>
          <a:p>
            <a:pPr marL="878852" lvl="1" indent="-421640"/>
            <a:r>
              <a:rPr lang="zh-TW" altLang="en-US" sz="2908" b="0" dirty="0">
                <a:latin typeface="Arial"/>
                <a:ea typeface="微軟正黑體"/>
                <a:cs typeface="Arial"/>
              </a:rPr>
              <a:t>當</a:t>
            </a:r>
            <a:r>
              <a:rPr lang="en-US" altLang="zh-TW" sz="2908" b="0" dirty="0">
                <a:latin typeface="Arial"/>
                <a:ea typeface="微軟正黑體"/>
                <a:cs typeface="Arial"/>
              </a:rPr>
              <a:t>web app</a:t>
            </a:r>
            <a:r>
              <a:rPr lang="zh-TW" altLang="en-US" sz="2908" b="0" dirty="0">
                <a:latin typeface="Arial"/>
                <a:ea typeface="微軟正黑體"/>
                <a:cs typeface="Arial"/>
              </a:rPr>
              <a:t>處理</a:t>
            </a:r>
            <a:r>
              <a:rPr lang="en-US" altLang="zh-TW" sz="2908" b="0" dirty="0">
                <a:latin typeface="Arial"/>
                <a:ea typeface="微軟正黑體"/>
                <a:cs typeface="Arial"/>
              </a:rPr>
              <a:t>POST</a:t>
            </a:r>
            <a:r>
              <a:rPr lang="zh-TW" altLang="en-US" sz="2908" b="0" dirty="0">
                <a:latin typeface="Arial"/>
                <a:ea typeface="微軟正黑體"/>
                <a:cs typeface="Arial"/>
              </a:rPr>
              <a:t>請求時，它可以讀取到表單數據，但是一旦該請求結束，表單數據就會丟失。因為</a:t>
            </a:r>
            <a:r>
              <a:rPr lang="en-US" altLang="zh-TW" sz="2908" b="0" dirty="0">
                <a:latin typeface="Arial"/>
                <a:ea typeface="微軟正黑體"/>
                <a:cs typeface="Arial"/>
              </a:rPr>
              <a:t>POST</a:t>
            </a:r>
            <a:r>
              <a:rPr lang="zh-TW" altLang="en-US" sz="2908" b="0" dirty="0">
                <a:latin typeface="Arial"/>
                <a:ea typeface="微軟正黑體"/>
                <a:cs typeface="Arial"/>
              </a:rPr>
              <a:t>請求是通過</a:t>
            </a:r>
            <a:r>
              <a:rPr lang="en-US" altLang="zh-TW" sz="2908" dirty="0" err="1">
                <a:latin typeface="Arial"/>
                <a:ea typeface="微軟正黑體"/>
                <a:cs typeface="Arial"/>
              </a:rPr>
              <a:t>redirerct</a:t>
            </a:r>
            <a:r>
              <a:rPr lang="en-US" altLang="zh-TW" sz="2908" dirty="0">
                <a:latin typeface="Arial"/>
                <a:ea typeface="微軟正黑體"/>
                <a:cs typeface="Arial"/>
              </a:rPr>
              <a:t>()</a:t>
            </a:r>
            <a:r>
              <a:rPr lang="zh-TW" altLang="en-US" sz="2908" b="0" dirty="0">
                <a:latin typeface="Arial"/>
                <a:ea typeface="微軟正黑體"/>
                <a:cs typeface="Arial"/>
              </a:rPr>
              <a:t>回覆的，所以</a:t>
            </a:r>
            <a:r>
              <a:rPr lang="en-US" altLang="zh-TW" sz="2908" b="0" dirty="0">
                <a:latin typeface="Arial"/>
                <a:ea typeface="微軟正黑體"/>
                <a:cs typeface="Arial"/>
              </a:rPr>
              <a:t>web app</a:t>
            </a:r>
            <a:r>
              <a:rPr lang="zh-TW" altLang="en-US" sz="2908" b="0" dirty="0">
                <a:latin typeface="Arial"/>
                <a:ea typeface="微軟正黑體"/>
                <a:cs typeface="Arial"/>
              </a:rPr>
              <a:t>需要存儲表單數據，以便轉址的</a:t>
            </a:r>
            <a:r>
              <a:rPr lang="en-US" altLang="zh-TW" sz="2908" b="0" dirty="0">
                <a:latin typeface="Arial"/>
                <a:ea typeface="微軟正黑體"/>
                <a:cs typeface="Arial"/>
              </a:rPr>
              <a:t>get</a:t>
            </a:r>
            <a:r>
              <a:rPr lang="zh-TW" altLang="en-US" sz="2908" b="0" dirty="0">
                <a:latin typeface="Arial"/>
                <a:ea typeface="微軟正黑體"/>
                <a:cs typeface="Arial"/>
              </a:rPr>
              <a:t>請求可以讀取表單數據。</a:t>
            </a:r>
            <a:endParaRPr lang="en-US" altLang="zh-TW" sz="2908" b="0" dirty="0">
              <a:latin typeface="Arial"/>
              <a:ea typeface="微軟正黑體"/>
              <a:cs typeface="Arial"/>
            </a:endParaRPr>
          </a:p>
          <a:p>
            <a:pPr marL="421640" indent="-421640"/>
            <a:r>
              <a:rPr lang="en-US" altLang="zh-TW" sz="3600" b="0" dirty="0">
                <a:latin typeface="Arial"/>
                <a:ea typeface="微軟正黑體"/>
                <a:cs typeface="Arial"/>
              </a:rPr>
              <a:t>web app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可以通過將它們存儲在</a:t>
            </a:r>
            <a:r>
              <a:rPr lang="en-US" altLang="zh-TW" sz="3400" b="0" dirty="0">
                <a:latin typeface="Arial"/>
                <a:ea typeface="微軟正黑體"/>
                <a:cs typeface="Arial"/>
              </a:rPr>
              <a:t>session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中來將它們從一個請求連接到下一個請求。</a:t>
            </a:r>
            <a:endParaRPr lang="zh-TW" sz="3400" b="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6054DA7-CC44-4608-A55E-6D3A100F79DD}"/>
              </a:ext>
            </a:extLst>
          </p:cNvPr>
          <p:cNvSpPr txBox="1"/>
          <p:nvPr/>
        </p:nvSpPr>
        <p:spPr>
          <a:xfrm>
            <a:off x="4019266" y="4907259"/>
            <a:ext cx="415318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altLang="zh-TW" sz="24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7191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cs typeface="Arial"/>
              </a:rPr>
              <a:t>Session</a:t>
            </a:r>
            <a:endParaRPr lang="en-US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3400" b="0" dirty="0">
                <a:latin typeface="Arial"/>
                <a:ea typeface="微軟正黑體"/>
                <a:cs typeface="Arial"/>
              </a:rPr>
              <a:t>要在</a:t>
            </a:r>
            <a:r>
              <a:rPr lang="en-US" altLang="zh-TW" sz="3400" b="0" dirty="0">
                <a:latin typeface="Arial"/>
                <a:ea typeface="微軟正黑體"/>
                <a:cs typeface="Arial"/>
              </a:rPr>
              <a:t>web app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中使用</a:t>
            </a:r>
            <a:r>
              <a:rPr lang="en-US" altLang="zh-TW" sz="3400" b="0" dirty="0">
                <a:latin typeface="Arial"/>
                <a:ea typeface="微軟正黑體"/>
                <a:cs typeface="Arial"/>
              </a:rPr>
              <a:t>session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，要先設置</a:t>
            </a:r>
            <a:r>
              <a:rPr lang="en-US" altLang="zh-TW" sz="3400" b="0" dirty="0">
                <a:latin typeface="Arial"/>
                <a:ea typeface="微軟正黑體"/>
                <a:cs typeface="Arial"/>
              </a:rPr>
              <a:t>:</a:t>
            </a:r>
          </a:p>
          <a:p>
            <a:pPr marL="878852" lvl="1" indent="-421640"/>
            <a:r>
              <a:rPr lang="en-US" altLang="zh-TW" sz="2908" dirty="0" err="1">
                <a:latin typeface="Arial"/>
                <a:ea typeface="微軟正黑體"/>
                <a:cs typeface="Arial"/>
              </a:rPr>
              <a:t>app.config</a:t>
            </a:r>
            <a:r>
              <a:rPr lang="en-US" altLang="zh-TW" sz="2908" dirty="0">
                <a:latin typeface="Arial"/>
                <a:ea typeface="微軟正黑體"/>
                <a:cs typeface="Arial"/>
              </a:rPr>
              <a:t>[SECRET_KEY]</a:t>
            </a:r>
          </a:p>
          <a:p>
            <a:pPr marL="421640" indent="-421640"/>
            <a:r>
              <a:rPr lang="en-US" altLang="zh-TW" sz="3400" b="0" dirty="0">
                <a:latin typeface="Arial"/>
                <a:ea typeface="微軟正黑體"/>
                <a:cs typeface="Arial"/>
              </a:rPr>
              <a:t>Session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的語法，與</a:t>
            </a:r>
            <a:r>
              <a:rPr lang="en-US" altLang="zh-TW" sz="3400" b="0" dirty="0">
                <a:latin typeface="Arial"/>
                <a:ea typeface="微軟正黑體"/>
                <a:cs typeface="Arial"/>
              </a:rPr>
              <a:t>Python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字典類似</a:t>
            </a:r>
            <a:endParaRPr lang="zh-TW" sz="3400" b="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6054DA7-CC44-4608-A55E-6D3A100F79DD}"/>
              </a:ext>
            </a:extLst>
          </p:cNvPr>
          <p:cNvSpPr txBox="1"/>
          <p:nvPr/>
        </p:nvSpPr>
        <p:spPr>
          <a:xfrm>
            <a:off x="4019266" y="4907259"/>
            <a:ext cx="415318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altLang="zh-TW" sz="2400" dirty="0">
              <a:cs typeface="Arial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8E50BCC-6238-4C54-BA19-1BC720381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726" y="3426323"/>
            <a:ext cx="8024788" cy="194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932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cs typeface="Arial"/>
              </a:rPr>
              <a:t>Session</a:t>
            </a:r>
            <a:endParaRPr lang="en-US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en-US" altLang="zh-TW" sz="3400" b="0" dirty="0">
                <a:latin typeface="Arial"/>
                <a:ea typeface="微軟正黑體"/>
                <a:cs typeface="Arial"/>
              </a:rPr>
              <a:t>session 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常用屬性/方法</a:t>
            </a:r>
            <a:endParaRPr lang="en-US" altLang="zh-TW" sz="3400" b="0" dirty="0">
              <a:latin typeface="Arial"/>
              <a:ea typeface="微軟正黑體"/>
              <a:cs typeface="Arial"/>
            </a:endParaRPr>
          </a:p>
          <a:p>
            <a:pPr marL="878840" lvl="1" indent="-421640"/>
            <a:r>
              <a:rPr lang="en-US" altLang="zh-TW" sz="2900" dirty="0">
                <a:latin typeface="Arial"/>
                <a:ea typeface="微軟正黑體"/>
                <a:cs typeface="Arial"/>
              </a:rPr>
              <a:t>modified </a:t>
            </a:r>
            <a:r>
              <a:rPr lang="zh-TW" altLang="en-US" sz="2900" b="0">
                <a:latin typeface="Arial"/>
                <a:ea typeface="微軟正黑體"/>
                <a:cs typeface="Arial"/>
              </a:rPr>
              <a:t>⇒設置為</a:t>
            </a:r>
            <a:r>
              <a:rPr lang="en-US" altLang="zh-TW" sz="2900" dirty="0">
                <a:latin typeface="Arial"/>
                <a:ea typeface="微軟正黑體"/>
                <a:cs typeface="Arial"/>
              </a:rPr>
              <a:t>True</a:t>
            </a:r>
            <a:r>
              <a:rPr lang="zh-TW" altLang="en-US" sz="2900" b="0">
                <a:latin typeface="Arial"/>
                <a:ea typeface="微軟正黑體"/>
                <a:cs typeface="Arial"/>
              </a:rPr>
              <a:t>使</a:t>
            </a:r>
            <a:r>
              <a:rPr lang="en-US" altLang="zh-TW" sz="2900" b="0" dirty="0">
                <a:latin typeface="Arial"/>
                <a:ea typeface="微軟正黑體"/>
                <a:cs typeface="Arial"/>
              </a:rPr>
              <a:t>session</a:t>
            </a:r>
            <a:r>
              <a:rPr lang="zh-TW" altLang="en-US" sz="2900" b="0">
                <a:latin typeface="Arial"/>
                <a:ea typeface="微軟正黑體"/>
                <a:cs typeface="Arial"/>
              </a:rPr>
              <a:t>的內容可變</a:t>
            </a:r>
            <a:endParaRPr lang="en-US" altLang="zh-TW" sz="2900" b="0">
              <a:latin typeface="Arial"/>
              <a:ea typeface="微軟正黑體"/>
              <a:cs typeface="Arial"/>
            </a:endParaRPr>
          </a:p>
          <a:p>
            <a:pPr marL="878840" lvl="1" indent="-421640"/>
            <a:r>
              <a:rPr lang="en-US" altLang="zh-TW" sz="2908" dirty="0"/>
              <a:t>permanent</a:t>
            </a:r>
            <a:r>
              <a:rPr lang="en-US" altLang="zh-TW" sz="2908" b="0" dirty="0"/>
              <a:t> </a:t>
            </a:r>
            <a:r>
              <a:rPr lang="zh-TW" altLang="en-US" sz="2908" b="0" dirty="0"/>
              <a:t>⇒如果設置為</a:t>
            </a:r>
            <a:r>
              <a:rPr lang="en-US" altLang="zh-TW" sz="2908" dirty="0"/>
              <a:t>True</a:t>
            </a:r>
            <a:r>
              <a:rPr lang="zh-TW" altLang="en-US" sz="2908" b="0" dirty="0"/>
              <a:t>，則可以設定</a:t>
            </a:r>
            <a:r>
              <a:rPr lang="en-US" altLang="zh-TW" sz="2908" b="0" dirty="0"/>
              <a:t>session</a:t>
            </a:r>
            <a:r>
              <a:rPr lang="zh-TW" altLang="en-US" sz="2908" b="0" dirty="0"/>
              <a:t>的有效時間</a:t>
            </a:r>
            <a:endParaRPr lang="en-US" altLang="zh-TW" sz="2908" b="0" dirty="0"/>
          </a:p>
          <a:p>
            <a:pPr marL="1218565" lvl="2" indent="-421640"/>
            <a:r>
              <a:rPr lang="en-US" altLang="zh-TW" sz="2800" b="1" err="1">
                <a:latin typeface="Arial"/>
                <a:ea typeface="微軟正黑體"/>
                <a:cs typeface="Arial"/>
              </a:rPr>
              <a:t>app.config</a:t>
            </a:r>
            <a:r>
              <a:rPr lang="en-US" altLang="zh-TW" sz="2800" b="1" dirty="0">
                <a:latin typeface="Arial"/>
                <a:ea typeface="微軟正黑體"/>
                <a:cs typeface="Arial"/>
              </a:rPr>
              <a:t>[‘</a:t>
            </a:r>
            <a:r>
              <a:rPr lang="en-US" altLang="zh-TW" sz="2800" b="1" err="1">
                <a:latin typeface="Arial"/>
                <a:ea typeface="微軟正黑體"/>
                <a:cs typeface="Arial"/>
              </a:rPr>
              <a:t>permanent_session_lifetime</a:t>
            </a:r>
            <a:r>
              <a:rPr lang="en-US" altLang="zh-TW" sz="2800" b="1" dirty="0">
                <a:latin typeface="Arial"/>
                <a:ea typeface="微軟正黑體"/>
                <a:cs typeface="Arial"/>
              </a:rPr>
              <a:t>’]</a:t>
            </a:r>
          </a:p>
          <a:p>
            <a:pPr marL="1218565" lvl="2" indent="-421640"/>
            <a:endParaRPr lang="en-US" altLang="zh-TW" sz="2800" b="1" dirty="0"/>
          </a:p>
          <a:p>
            <a:pPr marL="878840" lvl="1" indent="-433705"/>
            <a:r>
              <a:rPr lang="en-US" altLang="zh-TW" sz="2800" dirty="0">
                <a:latin typeface="Arial"/>
                <a:ea typeface="微軟正黑體"/>
                <a:cs typeface="Arial"/>
              </a:rPr>
              <a:t>clear()</a:t>
            </a:r>
            <a:r>
              <a:rPr lang="en-US" altLang="zh-TW" sz="3300" dirty="0">
                <a:latin typeface="Arial"/>
                <a:ea typeface="微軟正黑體"/>
                <a:cs typeface="Arial"/>
              </a:rPr>
              <a:t> </a:t>
            </a:r>
            <a:r>
              <a:rPr lang="zh-TW" altLang="en-US" sz="2900" b="0">
                <a:latin typeface="Arial"/>
                <a:ea typeface="微軟正黑體"/>
                <a:cs typeface="Arial"/>
              </a:rPr>
              <a:t>⇒ 清除session</a:t>
            </a:r>
          </a:p>
          <a:p>
            <a:pPr marL="878840" lvl="1" indent="-433705"/>
            <a:endParaRPr lang="en-US" altLang="zh-TW" sz="33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6054DA7-CC44-4608-A55E-6D3A100F79DD}"/>
              </a:ext>
            </a:extLst>
          </p:cNvPr>
          <p:cNvSpPr txBox="1"/>
          <p:nvPr/>
        </p:nvSpPr>
        <p:spPr>
          <a:xfrm>
            <a:off x="4019266" y="4907259"/>
            <a:ext cx="415318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altLang="zh-TW" sz="2400" dirty="0">
              <a:cs typeface="Arial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87B6455-1E82-4D41-91ED-87205582D1BA}"/>
              </a:ext>
            </a:extLst>
          </p:cNvPr>
          <p:cNvSpPr txBox="1"/>
          <p:nvPr/>
        </p:nvSpPr>
        <p:spPr>
          <a:xfrm>
            <a:off x="1550481" y="3213296"/>
            <a:ext cx="6192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https://flask.palletsprojects.com/en/1.1.x/api/#flask.Flask.permanent_session_lifetime</a:t>
            </a:r>
          </a:p>
        </p:txBody>
      </p:sp>
    </p:spTree>
    <p:extLst>
      <p:ext uri="{BB962C8B-B14F-4D97-AF65-F5344CB8AC3E}">
        <p14:creationId xmlns:p14="http://schemas.microsoft.com/office/powerpoint/2010/main" val="2148858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B3EE28-B9BE-48FF-808A-509EAFE67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Hook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A13AF7-22F9-4102-AC3C-686D21265A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521280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3400" b="0" dirty="0">
                <a:latin typeface="Arial"/>
                <a:ea typeface="微軟正黑體"/>
                <a:cs typeface="Arial"/>
              </a:rPr>
              <a:t>可以利用</a:t>
            </a:r>
            <a:r>
              <a:rPr lang="en-US" altLang="zh-TW" sz="3400" dirty="0">
                <a:latin typeface="Arial"/>
                <a:ea typeface="微軟正黑體"/>
                <a:cs typeface="Arial"/>
              </a:rPr>
              <a:t>Hook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建立要函數，這個函數可以在發送請求之前或之後調用。</a:t>
            </a:r>
            <a:endParaRPr lang="zh-TW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0A001E3-E34B-0EDD-10BA-F213A9B70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621129"/>
              </p:ext>
            </p:extLst>
          </p:nvPr>
        </p:nvGraphicFramePr>
        <p:xfrm>
          <a:off x="696310" y="2128344"/>
          <a:ext cx="11166974" cy="3814363"/>
        </p:xfrm>
        <a:graphic>
          <a:graphicData uri="http://schemas.openxmlformats.org/drawingml/2006/table">
            <a:tbl>
              <a:tblPr bandRow="1">
                <a:tableStyleId>{616DA210-FB5B-4158-B5E0-FEB733F419BA}</a:tableStyleId>
              </a:tblPr>
              <a:tblGrid>
                <a:gridCol w="2661135">
                  <a:extLst>
                    <a:ext uri="{9D8B030D-6E8A-4147-A177-3AD203B41FA5}">
                      <a16:colId xmlns:a16="http://schemas.microsoft.com/office/drawing/2014/main" val="3677532962"/>
                    </a:ext>
                  </a:extLst>
                </a:gridCol>
                <a:gridCol w="8505839">
                  <a:extLst>
                    <a:ext uri="{9D8B030D-6E8A-4147-A177-3AD203B41FA5}">
                      <a16:colId xmlns:a16="http://schemas.microsoft.com/office/drawing/2014/main" val="2032997678"/>
                    </a:ext>
                  </a:extLst>
                </a:gridCol>
              </a:tblGrid>
              <a:tr h="431083">
                <a:tc>
                  <a:txBody>
                    <a:bodyPr/>
                    <a:lstStyle/>
                    <a:p>
                      <a:r>
                        <a:rPr lang="af-ZA" sz="1800" err="1">
                          <a:effectLst/>
                        </a:rPr>
                        <a:t>Request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err="1">
                          <a:effectLst/>
                        </a:rPr>
                        <a:t>Hook</a:t>
                      </a:r>
                      <a:endParaRPr lang="af-ZA" sz="1800" dirty="0" err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f-ZA" sz="1800" err="1">
                          <a:effectLst/>
                        </a:rPr>
                        <a:t>description</a:t>
                      </a:r>
                      <a:endParaRPr lang="af-ZA" sz="1800" dirty="0" err="1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8008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af-ZA" sz="1800" err="1">
                          <a:effectLst/>
                        </a:rPr>
                        <a:t>before_request</a:t>
                      </a:r>
                      <a:endParaRPr lang="af-ZA" sz="1800" dirty="0" err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f-ZA" sz="1800" dirty="0">
                          <a:effectLst/>
                        </a:rPr>
                        <a:t>Registers a </a:t>
                      </a:r>
                      <a:r>
                        <a:rPr lang="af-ZA" sz="1800" err="1">
                          <a:effectLst/>
                        </a:rPr>
                        <a:t>function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err="1">
                          <a:effectLst/>
                        </a:rPr>
                        <a:t>to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err="1">
                          <a:effectLst/>
                        </a:rPr>
                        <a:t>run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err="1">
                          <a:effectLst/>
                        </a:rPr>
                        <a:t>before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err="1">
                          <a:effectLst/>
                        </a:rPr>
                        <a:t>each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err="1">
                          <a:effectLst/>
                        </a:rPr>
                        <a:t>request</a:t>
                      </a:r>
                      <a:r>
                        <a:rPr lang="af-ZA" sz="1800" dirty="0">
                          <a:effectLst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5524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af-ZA" sz="1800" dirty="0">
                          <a:effectLst/>
                        </a:rPr>
                        <a:t>(</a:t>
                      </a:r>
                      <a:r>
                        <a:rPr lang="af-ZA" sz="1800" dirty="0" err="1">
                          <a:effectLst/>
                        </a:rPr>
                        <a:t>deprecated</a:t>
                      </a:r>
                      <a:r>
                        <a:rPr lang="af-ZA" sz="1800" dirty="0">
                          <a:effectLst/>
                        </a:rPr>
                        <a:t>)</a:t>
                      </a:r>
                      <a:br>
                        <a:rPr lang="af-ZA" sz="1800" dirty="0">
                          <a:effectLst/>
                        </a:rPr>
                      </a:br>
                      <a:r>
                        <a:rPr lang="af-ZA" sz="1800" dirty="0" err="1">
                          <a:effectLst/>
                        </a:rPr>
                        <a:t>befor_first_request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f-ZA" sz="1800" dirty="0">
                          <a:effectLst/>
                        </a:rPr>
                        <a:t>(</a:t>
                      </a:r>
                      <a:r>
                        <a:rPr lang="af-ZA" sz="1800" dirty="0" err="1">
                          <a:effectLst/>
                        </a:rPr>
                        <a:t>deprecated</a:t>
                      </a:r>
                      <a:r>
                        <a:rPr lang="af-ZA" sz="1800" dirty="0">
                          <a:effectLst/>
                        </a:rPr>
                        <a:t>)</a:t>
                      </a:r>
                      <a:br>
                        <a:rPr lang="af-ZA" sz="1800" dirty="0">
                          <a:effectLst/>
                        </a:rPr>
                      </a:br>
                      <a:r>
                        <a:rPr lang="af-ZA" sz="1800" dirty="0">
                          <a:effectLst/>
                        </a:rPr>
                        <a:t>a </a:t>
                      </a:r>
                      <a:r>
                        <a:rPr lang="af-ZA" sz="1800" dirty="0" err="1">
                          <a:effectLst/>
                        </a:rPr>
                        <a:t>function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dirty="0" err="1">
                          <a:effectLst/>
                        </a:rPr>
                        <a:t>to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dirty="0" err="1">
                          <a:effectLst/>
                        </a:rPr>
                        <a:t>run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dirty="0" err="1">
                          <a:effectLst/>
                        </a:rPr>
                        <a:t>only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dirty="0" err="1">
                          <a:effectLst/>
                        </a:rPr>
                        <a:t>before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dirty="0" err="1">
                          <a:effectLst/>
                        </a:rPr>
                        <a:t>the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dirty="0" err="1">
                          <a:effectLst/>
                        </a:rPr>
                        <a:t>first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dirty="0" err="1">
                          <a:effectLst/>
                        </a:rPr>
                        <a:t>request</a:t>
                      </a:r>
                      <a:r>
                        <a:rPr lang="af-ZA" sz="1800" dirty="0">
                          <a:effectLst/>
                        </a:rPr>
                        <a:t> is </a:t>
                      </a:r>
                      <a:r>
                        <a:rPr lang="af-ZA" sz="1800" dirty="0" err="1">
                          <a:effectLst/>
                        </a:rPr>
                        <a:t>handled</a:t>
                      </a:r>
                      <a:r>
                        <a:rPr lang="af-ZA" sz="1800" dirty="0">
                          <a:effectLst/>
                        </a:rPr>
                        <a:t>. </a:t>
                      </a:r>
                      <a:r>
                        <a:rPr lang="af-ZA" sz="1800" dirty="0" err="1">
                          <a:effectLst/>
                        </a:rPr>
                        <a:t>This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dirty="0" err="1">
                          <a:effectLst/>
                        </a:rPr>
                        <a:t>can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dirty="0" err="1">
                          <a:effectLst/>
                        </a:rPr>
                        <a:t>be</a:t>
                      </a:r>
                      <a:r>
                        <a:rPr lang="af-ZA" sz="1800" dirty="0">
                          <a:effectLst/>
                        </a:rPr>
                        <a:t> a</a:t>
                      </a:r>
                      <a:br>
                        <a:rPr lang="af-ZA" sz="1800" dirty="0">
                          <a:effectLst/>
                        </a:rPr>
                      </a:br>
                      <a:r>
                        <a:rPr lang="af-ZA" sz="1800" dirty="0" err="1">
                          <a:effectLst/>
                        </a:rPr>
                        <a:t>convenient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dirty="0" err="1">
                          <a:effectLst/>
                        </a:rPr>
                        <a:t>way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dirty="0" err="1">
                          <a:effectLst/>
                        </a:rPr>
                        <a:t>to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dirty="0" err="1">
                          <a:effectLst/>
                        </a:rPr>
                        <a:t>add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dirty="0" err="1">
                          <a:effectLst/>
                        </a:rPr>
                        <a:t>server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dirty="0" err="1">
                          <a:effectLst/>
                        </a:rPr>
                        <a:t>initialization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dirty="0" err="1">
                          <a:effectLst/>
                        </a:rPr>
                        <a:t>tasks</a:t>
                      </a:r>
                      <a:r>
                        <a:rPr lang="af-ZA" sz="1800" dirty="0">
                          <a:effectLst/>
                        </a:rPr>
                        <a:t>.</a:t>
                      </a:r>
                      <a:br>
                        <a:rPr lang="af-ZA" sz="1800" dirty="0">
                          <a:effectLst/>
                        </a:rPr>
                      </a:br>
                      <a:endParaRPr lang="af-ZA" sz="18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5834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af-ZA" sz="1800" err="1">
                          <a:effectLst/>
                        </a:rPr>
                        <a:t>after_request</a:t>
                      </a:r>
                      <a:endParaRPr lang="af-ZA" sz="1800" dirty="0" err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f-ZA" sz="1800" dirty="0">
                          <a:effectLst/>
                        </a:rPr>
                        <a:t>Registers a </a:t>
                      </a:r>
                      <a:r>
                        <a:rPr lang="af-ZA" sz="1800" err="1">
                          <a:effectLst/>
                        </a:rPr>
                        <a:t>function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err="1">
                          <a:effectLst/>
                        </a:rPr>
                        <a:t>to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err="1">
                          <a:effectLst/>
                        </a:rPr>
                        <a:t>run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err="1">
                          <a:effectLst/>
                        </a:rPr>
                        <a:t>after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err="1">
                          <a:effectLst/>
                        </a:rPr>
                        <a:t>each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err="1">
                          <a:effectLst/>
                        </a:rPr>
                        <a:t>request</a:t>
                      </a:r>
                      <a:r>
                        <a:rPr lang="af-ZA" sz="1800" dirty="0">
                          <a:effectLst/>
                        </a:rPr>
                        <a:t>, </a:t>
                      </a:r>
                      <a:r>
                        <a:rPr lang="af-ZA" sz="1800" err="1">
                          <a:effectLst/>
                        </a:rPr>
                        <a:t>but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err="1">
                          <a:effectLst/>
                        </a:rPr>
                        <a:t>only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err="1">
                          <a:effectLst/>
                        </a:rPr>
                        <a:t>if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err="1">
                          <a:effectLst/>
                        </a:rPr>
                        <a:t>no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err="1">
                          <a:effectLst/>
                        </a:rPr>
                        <a:t>unhandled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err="1">
                          <a:effectLst/>
                        </a:rPr>
                        <a:t>excep</a:t>
                      </a:r>
                      <a:r>
                        <a:rPr lang="af-ZA" sz="1800" dirty="0">
                          <a:effectLst/>
                        </a:rPr>
                        <a:t>‐</a:t>
                      </a:r>
                      <a:br>
                        <a:rPr lang="af-ZA" sz="1800" dirty="0">
                          <a:effectLst/>
                        </a:rPr>
                      </a:br>
                      <a:r>
                        <a:rPr lang="af-ZA" sz="1800" err="1">
                          <a:effectLst/>
                        </a:rPr>
                        <a:t>tions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err="1">
                          <a:effectLst/>
                        </a:rPr>
                        <a:t>occurred</a:t>
                      </a:r>
                      <a:r>
                        <a:rPr lang="af-ZA" sz="1800" dirty="0">
                          <a:effectLst/>
                        </a:rPr>
                        <a:t>.</a:t>
                      </a:r>
                      <a:br>
                        <a:rPr lang="af-ZA" sz="1800" dirty="0">
                          <a:effectLst/>
                        </a:rPr>
                      </a:br>
                      <a:endParaRPr lang="af-ZA" sz="18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528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af-ZA" sz="1800" err="1">
                          <a:effectLst/>
                        </a:rPr>
                        <a:t>teardown_request</a:t>
                      </a:r>
                      <a:endParaRPr lang="af-ZA" sz="1800" dirty="0" err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f-ZA" sz="1800" dirty="0">
                          <a:effectLst/>
                        </a:rPr>
                        <a:t>Registers a </a:t>
                      </a:r>
                      <a:r>
                        <a:rPr lang="af-ZA" sz="1800" err="1">
                          <a:effectLst/>
                        </a:rPr>
                        <a:t>function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err="1">
                          <a:effectLst/>
                        </a:rPr>
                        <a:t>to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err="1">
                          <a:effectLst/>
                        </a:rPr>
                        <a:t>run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err="1">
                          <a:effectLst/>
                        </a:rPr>
                        <a:t>after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err="1">
                          <a:effectLst/>
                        </a:rPr>
                        <a:t>each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err="1">
                          <a:effectLst/>
                        </a:rPr>
                        <a:t>request</a:t>
                      </a:r>
                      <a:r>
                        <a:rPr lang="af-ZA" sz="1800" dirty="0">
                          <a:effectLst/>
                        </a:rPr>
                        <a:t>, </a:t>
                      </a:r>
                      <a:r>
                        <a:rPr lang="af-ZA" sz="1800" err="1">
                          <a:effectLst/>
                        </a:rPr>
                        <a:t>even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err="1">
                          <a:effectLst/>
                        </a:rPr>
                        <a:t>if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err="1">
                          <a:effectLst/>
                        </a:rPr>
                        <a:t>unhandled</a:t>
                      </a:r>
                      <a:r>
                        <a:rPr lang="af-ZA" sz="1800" dirty="0">
                          <a:effectLst/>
                        </a:rPr>
                        <a:t> </a:t>
                      </a:r>
                      <a:r>
                        <a:rPr lang="af-ZA" sz="1800" err="1">
                          <a:effectLst/>
                        </a:rPr>
                        <a:t>exceptions</a:t>
                      </a:r>
                      <a:br>
                        <a:rPr lang="af-ZA" sz="1800" dirty="0">
                          <a:effectLst/>
                        </a:rPr>
                      </a:br>
                      <a:r>
                        <a:rPr lang="af-ZA" sz="1800" err="1">
                          <a:effectLst/>
                        </a:rPr>
                        <a:t>occurred</a:t>
                      </a:r>
                      <a:r>
                        <a:rPr lang="af-ZA" sz="1800" dirty="0">
                          <a:effectLst/>
                        </a:rPr>
                        <a:t>.</a:t>
                      </a:r>
                      <a:br>
                        <a:rPr lang="af-ZA" sz="1800" dirty="0">
                          <a:effectLst/>
                        </a:rPr>
                      </a:br>
                      <a:endParaRPr lang="af-ZA" sz="18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9785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4969971"/>
      </p:ext>
    </p:extLst>
  </p:cSld>
  <p:clrMapOvr>
    <a:masterClrMapping/>
  </p:clrMapOvr>
</p:sld>
</file>

<file path=ppt/theme/theme1.xml><?xml version="1.0" encoding="utf-8"?>
<a:theme xmlns:a="http://schemas.openxmlformats.org/drawingml/2006/main" name="2019簡報範本_light">
  <a:themeElements>
    <a:clrScheme name="2019iii">
      <a:dk1>
        <a:srgbClr val="717171"/>
      </a:dk1>
      <a:lt1>
        <a:srgbClr val="393939"/>
      </a:lt1>
      <a:dk2>
        <a:srgbClr val="DDDDDD"/>
      </a:dk2>
      <a:lt2>
        <a:srgbClr val="ABABAB"/>
      </a:lt2>
      <a:accent1>
        <a:srgbClr val="E1CB1A"/>
      </a:accent1>
      <a:accent2>
        <a:srgbClr val="42BBC6"/>
      </a:accent2>
      <a:accent3>
        <a:srgbClr val="F0591B"/>
      </a:accent3>
      <a:accent4>
        <a:srgbClr val="FFC000"/>
      </a:accent4>
      <a:accent5>
        <a:srgbClr val="8DCBDA"/>
      </a:accent5>
      <a:accent6>
        <a:srgbClr val="9ACF17"/>
      </a:accent6>
      <a:hlink>
        <a:srgbClr val="F0591B"/>
      </a:hlink>
      <a:folHlink>
        <a:srgbClr val="2A2A2A"/>
      </a:folHlink>
    </a:clrScheme>
    <a:fontScheme name="自訂 XYZ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1">
          <a:schemeClr val="accent4"/>
        </a:lnRef>
        <a:fillRef idx="3">
          <a:schemeClr val="accent4"/>
        </a:fillRef>
        <a:effectRef idx="2">
          <a:schemeClr val="accent4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chemeClr val="tx1">
                <a:lumMod val="7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2019簡報範本_light</Template>
  <TotalTime>628</TotalTime>
  <Words>1072</Words>
  <Application>Microsoft Office PowerPoint</Application>
  <PresentationFormat>寬螢幕</PresentationFormat>
  <Paragraphs>54</Paragraphs>
  <Slides>7</Slides>
  <Notes>6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8" baseType="lpstr">
      <vt:lpstr>2019簡報範本_light</vt:lpstr>
      <vt:lpstr>Session &amp; hook</vt:lpstr>
      <vt:lpstr>Post/Redirect/Get pattern</vt:lpstr>
      <vt:lpstr>Post/Redirect/Get pattern</vt:lpstr>
      <vt:lpstr>Session</vt:lpstr>
      <vt:lpstr>Session</vt:lpstr>
      <vt:lpstr>Session</vt:lpstr>
      <vt:lpstr>Hook</vt:lpstr>
    </vt:vector>
  </TitlesOfParts>
  <Company>Institute for Information Industry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教研所『課程產品化』開發與製作學員版教材-公版投影片</dc:title>
  <dc:subject>2019 template</dc:subject>
  <dc:creator>Steven Liu</dc:creator>
  <cp:lastModifiedBy>ywt01</cp:lastModifiedBy>
  <cp:revision>394</cp:revision>
  <cp:lastPrinted>2019-04-29T05:54:36Z</cp:lastPrinted>
  <dcterms:created xsi:type="dcterms:W3CDTF">2019-04-17T09:27:11Z</dcterms:created>
  <dcterms:modified xsi:type="dcterms:W3CDTF">2026-06-11T13:35:12Z</dcterms:modified>
  <cp:category>淺色</cp:category>
</cp:coreProperties>
</file>