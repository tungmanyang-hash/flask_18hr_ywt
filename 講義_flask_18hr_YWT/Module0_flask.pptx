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331" r:id="rId2"/>
    <p:sldId id="399" r:id="rId3"/>
    <p:sldId id="400" r:id="rId4"/>
    <p:sldId id="401" r:id="rId5"/>
    <p:sldId id="403" r:id="rId6"/>
    <p:sldId id="402" r:id="rId7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370" autoAdjust="0"/>
  </p:normalViewPr>
  <p:slideViewPr>
    <p:cSldViewPr showGuides="1">
      <p:cViewPr varScale="1">
        <p:scale>
          <a:sx n="57" d="100"/>
          <a:sy n="57" d="100"/>
        </p:scale>
        <p:origin x="154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826"/>
    </p:cViewPr>
  </p:sorterViewPr>
  <p:notesViewPr>
    <p:cSldViewPr>
      <p:cViewPr varScale="1">
        <p:scale>
          <a:sx n="60" d="100"/>
          <a:sy n="60" d="100"/>
        </p:scale>
        <p:origin x="327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2025/12/22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 dirty="0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 dirty="0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 dirty="0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violin-tao.blogspot.com/2017/07/ml-backpropagation.html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zhihu.com/question/27239198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0000FF"/>
                </a:solidFill>
              </a:rPr>
              <a:t>每一個章節預估用</a:t>
            </a:r>
            <a:r>
              <a:rPr lang="en-US" altLang="zh-TW" sz="1200" dirty="0">
                <a:solidFill>
                  <a:srgbClr val="0000FF"/>
                </a:solidFill>
              </a:rPr>
              <a:t>30</a:t>
            </a:r>
            <a:r>
              <a:rPr lang="zh-TW" altLang="en-US" sz="1200" dirty="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 dirty="0">
                <a:solidFill>
                  <a:srgbClr val="0000FF"/>
                </a:solidFill>
              </a:rPr>
              <a:t>20</a:t>
            </a:r>
            <a:r>
              <a:rPr lang="zh-TW" altLang="en-US" sz="1200" dirty="0">
                <a:solidFill>
                  <a:srgbClr val="0000FF"/>
                </a:solidFill>
              </a:rPr>
              <a:t>分鐘讓學員實做</a:t>
            </a:r>
            <a:r>
              <a:rPr lang="en-US" altLang="zh-TW" sz="1200" dirty="0">
                <a:solidFill>
                  <a:srgbClr val="0000FF"/>
                </a:solidFill>
              </a:rPr>
              <a:t>Lab</a:t>
            </a:r>
            <a:r>
              <a:rPr lang="zh-TW" altLang="en-US" sz="1200" dirty="0">
                <a:solidFill>
                  <a:srgbClr val="0000FF"/>
                </a:solidFill>
              </a:rPr>
              <a:t>，</a:t>
            </a:r>
            <a:r>
              <a:rPr lang="en-US" altLang="zh-TW" sz="1200" dirty="0">
                <a:solidFill>
                  <a:srgbClr val="0000FF"/>
                </a:solidFill>
              </a:rPr>
              <a:t>10</a:t>
            </a:r>
            <a:r>
              <a:rPr lang="zh-TW" altLang="en-US" sz="1200" dirty="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1D05AC55-597A-4D2A-AE03-3E3DA8F10BBC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 dirty="0">
                <a:solidFill>
                  <a:srgbClr val="0000FF"/>
                </a:solidFill>
              </a:rPr>
              <a:t>Backpropagation</a:t>
            </a:r>
            <a:r>
              <a:rPr lang="zh-TW" altLang="en-US" sz="1200" dirty="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 dirty="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 dirty="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en-US" altLang="zh-TW" sz="1200" dirty="0">
                <a:solidFill>
                  <a:srgbClr val="0000FF"/>
                </a:solidFill>
              </a:rPr>
              <a:t>Learning rate </a:t>
            </a:r>
            <a:r>
              <a:rPr lang="zh-TW" altLang="en-US" sz="1200" dirty="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18687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0E4DDA4-E70E-4F2F-991C-AE6749A9BEA7}"/>
              </a:ext>
            </a:extLst>
          </p:cNvPr>
          <p:cNvSpPr txBox="1"/>
          <p:nvPr/>
        </p:nvSpPr>
        <p:spPr>
          <a:xfrm>
            <a:off x="91232" y="8426053"/>
            <a:ext cx="6623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zh-TW" sz="1200" dirty="0">
                <a:hlinkClick r:id="rId3"/>
              </a:rPr>
              <a:t>http://violin-tao.blogspot.com/2017/07/ml-backpropagation.html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en-US" altLang="zh-TW" sz="1200" dirty="0">
                <a:hlinkClick r:id="rId4"/>
              </a:rPr>
              <a:t>https://www.zhihu.com/question/27239198</a:t>
            </a:r>
            <a:endParaRPr lang="en-US" altLang="zh-TW" sz="1200" dirty="0"/>
          </a:p>
          <a:p>
            <a:pPr marL="228600" indent="-228600">
              <a:buAutoNum type="arabicPeriod"/>
            </a:pPr>
            <a:r>
              <a:rPr lang="zh-TW" altLang="en-US" sz="1200" dirty="0">
                <a:solidFill>
                  <a:srgbClr val="0000FF"/>
                </a:solidFill>
              </a:rPr>
              <a:t>更新權重的方法</a:t>
            </a:r>
          </a:p>
        </p:txBody>
      </p:sp>
    </p:spTree>
    <p:extLst>
      <p:ext uri="{BB962C8B-B14F-4D97-AF65-F5344CB8AC3E}">
        <p14:creationId xmlns:p14="http://schemas.microsoft.com/office/powerpoint/2010/main" val="1656891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FC6B90E-64C2-4328-B98F-17735C42B6AA}"/>
              </a:ext>
            </a:extLst>
          </p:cNvPr>
          <p:cNvSpPr txBox="1"/>
          <p:nvPr/>
        </p:nvSpPr>
        <p:spPr>
          <a:xfrm>
            <a:off x="91232" y="8426053"/>
            <a:ext cx="662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1.Z</a:t>
            </a:r>
            <a:r>
              <a:rPr lang="zh-TW" altLang="en-US" sz="1200" dirty="0">
                <a:solidFill>
                  <a:srgbClr val="0000FF"/>
                </a:solidFill>
              </a:rPr>
              <a:t>值為權重相加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2.</a:t>
            </a:r>
            <a:r>
              <a:rPr lang="zh-TW" altLang="en-US" sz="1200" dirty="0">
                <a:solidFill>
                  <a:srgbClr val="0000FF"/>
                </a:solidFill>
              </a:rPr>
              <a:t>通常 </a:t>
            </a:r>
            <a:r>
              <a:rPr lang="en-US" altLang="zh-TW" sz="1200" dirty="0">
                <a:solidFill>
                  <a:srgbClr val="0000FF"/>
                </a:solidFill>
              </a:rPr>
              <a:t>activation function </a:t>
            </a:r>
            <a:r>
              <a:rPr lang="zh-TW" altLang="en-US" sz="1200" dirty="0">
                <a:solidFill>
                  <a:srgbClr val="0000FF"/>
                </a:solidFill>
              </a:rPr>
              <a:t>會根據訓練的目的而定</a:t>
            </a:r>
            <a:endParaRPr lang="en-US" altLang="zh-TW" sz="1200" dirty="0">
              <a:solidFill>
                <a:srgbClr val="0000FF"/>
              </a:solidFill>
            </a:endParaRPr>
          </a:p>
          <a:p>
            <a:r>
              <a:rPr lang="en-US" altLang="zh-TW" sz="1200" dirty="0">
                <a:solidFill>
                  <a:srgbClr val="0000FF"/>
                </a:solidFill>
              </a:rPr>
              <a:t>3. activation function</a:t>
            </a:r>
            <a:r>
              <a:rPr lang="zh-TW" altLang="en-US" sz="1200" dirty="0">
                <a:solidFill>
                  <a:srgbClr val="0000FF"/>
                </a:solidFill>
              </a:rPr>
              <a:t>是為了讓神經網路變為非線性</a:t>
            </a:r>
            <a:endParaRPr lang="en-US" altLang="zh-TW" sz="1200" dirty="0">
              <a:solidFill>
                <a:srgbClr val="0000FF"/>
              </a:solidFill>
            </a:endParaRPr>
          </a:p>
          <a:p>
            <a:endParaRPr lang="zh-TW" altLang="en-US" sz="1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966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 dirty="0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677996" y="1536002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 dirty="0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dirty="0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 dirty="0"/>
              <a:t>按一下編輯文字樣式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 dirty="0"/>
              <a:t>按一下以編輯文字樣式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dirty="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 dirty="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 dirty="0"/>
              <a:t>Arial(</a:t>
            </a:r>
            <a:r>
              <a:rPr lang="zh-TW" altLang="en-US" dirty="0"/>
              <a:t>標題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  <a:r>
              <a:rPr lang="en-US" altLang="zh-TW" dirty="0"/>
              <a:t>40</a:t>
            </a:r>
            <a:r>
              <a:rPr lang="zh-TW" altLang="en-US" dirty="0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第一層 </a:t>
            </a:r>
            <a:r>
              <a:rPr lang="en-US" altLang="zh-TW" dirty="0"/>
              <a:t>28</a:t>
            </a:r>
            <a:r>
              <a:rPr lang="zh-TW" altLang="en-US" dirty="0"/>
              <a:t>號 粗體</a:t>
            </a:r>
          </a:p>
          <a:p>
            <a:pPr lvl="1"/>
            <a:r>
              <a:rPr lang="zh-TW" altLang="en-US" dirty="0"/>
              <a:t>第二層 </a:t>
            </a:r>
            <a:r>
              <a:rPr lang="en-US" altLang="zh-TW" dirty="0"/>
              <a:t>24</a:t>
            </a:r>
            <a:r>
              <a:rPr lang="zh-TW" altLang="en-US" dirty="0"/>
              <a:t>號 粗體</a:t>
            </a:r>
          </a:p>
          <a:p>
            <a:pPr lvl="2"/>
            <a:r>
              <a:rPr lang="zh-TW" altLang="en-US" dirty="0"/>
              <a:t>第三層 </a:t>
            </a:r>
            <a:r>
              <a:rPr lang="en-US" altLang="zh-TW" dirty="0"/>
              <a:t>20</a:t>
            </a:r>
            <a:r>
              <a:rPr lang="zh-TW" altLang="en-US" dirty="0"/>
              <a:t>號</a:t>
            </a:r>
          </a:p>
          <a:p>
            <a:pPr lvl="3"/>
            <a:r>
              <a:rPr lang="zh-TW" altLang="en-US" dirty="0"/>
              <a:t>第四層 </a:t>
            </a:r>
            <a:r>
              <a:rPr lang="en-US" altLang="zh-TW" dirty="0"/>
              <a:t>20</a:t>
            </a:r>
            <a:r>
              <a:rPr lang="zh-TW" altLang="en-US" dirty="0"/>
              <a:t>號</a:t>
            </a:r>
          </a:p>
          <a:p>
            <a:pPr lvl="4"/>
            <a:r>
              <a:rPr lang="zh-TW" altLang="en-US" dirty="0"/>
              <a:t>第五層 </a:t>
            </a:r>
            <a:r>
              <a:rPr lang="en-US" altLang="zh-TW" dirty="0"/>
              <a:t>20</a:t>
            </a:r>
            <a:r>
              <a:rPr lang="zh-TW" altLang="en-US" dirty="0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cs typeface="Arial"/>
              </a:rPr>
              <a:t>Flask 安裝與環境建制</a:t>
            </a:r>
            <a:endParaRPr lang="zh-TW" altLang="en-US" dirty="0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 dirty="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 dirty="0">
                <a:solidFill>
                  <a:srgbClr val="FF0000"/>
                </a:solidFill>
              </a:rPr>
              <a:t>45 </a:t>
            </a:r>
            <a:r>
              <a:rPr kumimoji="0" lang="en-US" altLang="zh-TW" sz="2000" dirty="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359B2F9-689C-491F-A316-114813A90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00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B7A2-C859-4B36-A3C9-1FD50872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cs typeface="Arial"/>
              </a:rPr>
              <a:t>虛擬環境</a:t>
            </a:r>
            <a:endParaRPr lang="zh-TW" altLang="en-US" dirty="0">
              <a:cs typeface="Arial"/>
            </a:endParaRPr>
          </a:p>
        </p:txBody>
      </p:sp>
      <p:sp>
        <p:nvSpPr>
          <p:cNvPr id="12" name="TextShape 3">
            <a:extLst>
              <a:ext uri="{FF2B5EF4-FFF2-40B4-BE49-F238E27FC236}">
                <a16:creationId xmlns:a16="http://schemas.microsoft.com/office/drawing/2014/main" id="{86774D70-246A-48AB-8731-3BAF91BC106E}"/>
              </a:ext>
            </a:extLst>
          </p:cNvPr>
          <p:cNvSpPr txBox="1"/>
          <p:nvPr/>
        </p:nvSpPr>
        <p:spPr>
          <a:xfrm>
            <a:off x="493080" y="1161320"/>
            <a:ext cx="9820640" cy="13050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103"/>
              </a:spcBef>
              <a:tabLst>
                <a:tab pos="0" algn="l"/>
              </a:tabLst>
            </a:pPr>
            <a:r>
              <a:rPr lang="zh-TW" sz="3200" b="1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開發環境管理：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960755" lvl="1" indent="-456565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2000" b="0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內建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微軟正黑體"/>
                <a:ea typeface="微軟正黑體"/>
              </a:rPr>
              <a:t>venv</a:t>
            </a:r>
            <a:r>
              <a:rPr lang="en-US" sz="2000" b="0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(python3.5</a:t>
            </a:r>
            <a:r>
              <a:rPr lang="zh-TW" sz="2000" b="0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版以上</a:t>
            </a:r>
            <a:r>
              <a:rPr lang="en-US" sz="2000" b="0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)</a:t>
            </a:r>
            <a:endParaRPr lang="en-US" sz="20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960755" lvl="1" indent="-456565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000000"/>
                </a:solidFill>
                <a:latin typeface="微軟正黑體"/>
                <a:ea typeface="微軟正黑體"/>
              </a:rPr>
              <a:t>Virtualenv</a:t>
            </a:r>
            <a:endParaRPr lang="en-US" sz="2000" b="0" strike="noStrike" spc="-1" dirty="0" err="1">
              <a:solidFill>
                <a:srgbClr val="000000"/>
              </a:solidFill>
              <a:latin typeface="Calibri"/>
              <a:cs typeface="Calibri"/>
            </a:endParaRPr>
          </a:p>
          <a:p>
            <a:pPr marL="960755" lvl="1" indent="-456565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Anaconda</a:t>
            </a:r>
            <a:endParaRPr lang="en-US" sz="20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4" name="TextShape 3">
            <a:extLst>
              <a:ext uri="{FF2B5EF4-FFF2-40B4-BE49-F238E27FC236}">
                <a16:creationId xmlns:a16="http://schemas.microsoft.com/office/drawing/2014/main" id="{20594DBC-D827-486A-9510-DBBF8F1F19BE}"/>
              </a:ext>
            </a:extLst>
          </p:cNvPr>
          <p:cNvSpPr txBox="1"/>
          <p:nvPr/>
        </p:nvSpPr>
        <p:spPr>
          <a:xfrm>
            <a:off x="493080" y="3620040"/>
            <a:ext cx="9820640" cy="13050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103"/>
              </a:spcBef>
              <a:tabLst>
                <a:tab pos="0" algn="l"/>
              </a:tabLst>
            </a:pPr>
            <a:r>
              <a:rPr lang="en-US" altLang="zh-TW" sz="3200" b="1" spc="-1" dirty="0" err="1">
                <a:solidFill>
                  <a:srgbClr val="000000"/>
                </a:solidFill>
                <a:ea typeface="+mn-lt"/>
                <a:cs typeface="+mn-lt"/>
              </a:rPr>
              <a:t>Virtualenv</a:t>
            </a:r>
            <a:r>
              <a:rPr lang="en-US" altLang="zh-TW" sz="3200" b="1" spc="-1" dirty="0">
                <a:solidFill>
                  <a:srgbClr val="000000"/>
                </a:solidFill>
                <a:latin typeface="Arial"/>
                <a:ea typeface="微軟正黑體"/>
                <a:cs typeface="Arial"/>
              </a:rPr>
              <a:t> </a:t>
            </a:r>
            <a:r>
              <a:rPr lang="en-US" altLang="zh-TW" sz="3200" b="1" spc="-1" dirty="0" err="1">
                <a:solidFill>
                  <a:srgbClr val="000000"/>
                </a:solidFill>
                <a:latin typeface="Arial"/>
                <a:ea typeface="微軟正黑體"/>
                <a:cs typeface="Arial"/>
              </a:rPr>
              <a:t>安裝</a:t>
            </a:r>
            <a:r>
              <a:rPr lang="zh-TW" sz="3200" b="1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：</a:t>
            </a:r>
            <a:endParaRPr lang="en-US" sz="3200" b="1" strike="noStrike" spc="-1">
              <a:solidFill>
                <a:srgbClr val="000000"/>
              </a:solidFill>
              <a:latin typeface="Calibri"/>
              <a:cs typeface="Calibri"/>
            </a:endParaRPr>
          </a:p>
          <a:p>
            <a:pPr marL="960755" lvl="1" indent="-456565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altLang="en-US" sz="2000" spc="-1">
                <a:solidFill>
                  <a:srgbClr val="000000"/>
                </a:solidFill>
                <a:latin typeface="微軟正黑體"/>
                <a:cs typeface="Calibri"/>
              </a:rPr>
              <a:t>pip install virtualenv (請用系統管理員的身份執行安裝)</a:t>
            </a:r>
          </a:p>
          <a:p>
            <a:pPr marL="960755" lvl="1" indent="-456565">
              <a:lnSpc>
                <a:spcPct val="9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CN" sz="2000" spc="-1">
                <a:solidFill>
                  <a:srgbClr val="717171"/>
                </a:solidFill>
                <a:latin typeface="Arial"/>
                <a:cs typeface="Arial"/>
              </a:rPr>
              <a:t>virtualenv --version</a:t>
            </a:r>
            <a:endParaRPr lang="zh-CN" altLang="en-US" sz="2000" spc="-1" dirty="0">
              <a:solidFill>
                <a:srgbClr val="000000"/>
              </a:solidFill>
              <a:latin typeface="微軟正黑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9450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79D1-2D8D-4153-997D-65E5A6F6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微軟正黑體"/>
                <a:cs typeface="+mj-lt"/>
              </a:rPr>
              <a:t>Virtualenv</a:t>
            </a:r>
            <a:r>
              <a:rPr lang="en-US" altLang="zh-TW" dirty="0">
                <a:ea typeface="+mj-lt"/>
                <a:cs typeface="+mj-lt"/>
              </a:rPr>
              <a:t> </a:t>
            </a:r>
            <a:r>
              <a:rPr lang="zh-TW" altLang="en-US">
                <a:ea typeface="+mj-lt"/>
                <a:cs typeface="+mj-lt"/>
              </a:rPr>
              <a:t>使用方法</a:t>
            </a:r>
            <a:r>
              <a:rPr lang="en-US" altLang="zh-TW" dirty="0">
                <a:ea typeface="+mj-lt"/>
                <a:cs typeface="+mj-lt"/>
              </a:rPr>
              <a:t> </a:t>
            </a:r>
            <a:endParaRPr lang="zh-TW" altLang="en-US" dirty="0"/>
          </a:p>
        </p:txBody>
      </p:sp>
      <p:sp>
        <p:nvSpPr>
          <p:cNvPr id="8" name="TextShape 2">
            <a:extLst>
              <a:ext uri="{FF2B5EF4-FFF2-40B4-BE49-F238E27FC236}">
                <a16:creationId xmlns:a16="http://schemas.microsoft.com/office/drawing/2014/main" id="{59A512D9-2474-42CE-87AF-527DE1393025}"/>
              </a:ext>
            </a:extLst>
          </p:cNvPr>
          <p:cNvSpPr txBox="1"/>
          <p:nvPr/>
        </p:nvSpPr>
        <p:spPr>
          <a:xfrm>
            <a:off x="607000" y="908440"/>
            <a:ext cx="12309840" cy="523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103"/>
              </a:spcBef>
              <a:tabLst>
                <a:tab pos="0" algn="l"/>
              </a:tabLst>
            </a:pPr>
            <a:r>
              <a:rPr lang="en-US" sz="3200" b="0" strike="noStrike" spc="-1" dirty="0" err="1">
                <a:solidFill>
                  <a:srgbClr val="000000"/>
                </a:solidFill>
                <a:latin typeface="微軟正黑體"/>
                <a:ea typeface="微軟正黑體"/>
              </a:rPr>
              <a:t>Virtualenv</a:t>
            </a:r>
            <a:r>
              <a:rPr lang="en-US" sz="3200" b="0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 </a:t>
            </a:r>
            <a:r>
              <a:rPr lang="zh-TW" sz="3200" b="0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使用方法：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457200" indent="-456565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2400" b="0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建立專案的虛擬環境</a:t>
            </a:r>
            <a:endParaRPr lang="en-US" sz="2400" b="0" strike="noStrike" spc="-1">
              <a:solidFill>
                <a:srgbClr val="000000"/>
              </a:solidFill>
              <a:latin typeface="Calibri"/>
              <a:cs typeface="Calibri"/>
            </a:endParaRPr>
          </a:p>
          <a:p>
            <a:pPr marL="960755" lvl="1" indent="-456565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2400" b="0" strike="noStrike" spc="-1">
                <a:solidFill>
                  <a:srgbClr val="000000"/>
                </a:solidFill>
                <a:latin typeface="Arial"/>
                <a:ea typeface="微軟正黑體"/>
              </a:rPr>
              <a:t>移至專案目錄 →</a:t>
            </a:r>
            <a:r>
              <a:rPr lang="zh-TW" altLang="en-US" sz="2400" spc="-1">
                <a:solidFill>
                  <a:srgbClr val="000000"/>
                </a:solidFill>
                <a:latin typeface="Arial"/>
                <a:ea typeface="微軟正黑體"/>
              </a:rPr>
              <a:t> </a:t>
            </a:r>
            <a:r>
              <a:rPr lang="en-US" altLang="zh-TW" sz="2400" spc="-1" dirty="0" err="1">
                <a:solidFill>
                  <a:srgbClr val="000000"/>
                </a:solidFill>
                <a:latin typeface="Arial"/>
                <a:ea typeface="微軟正黑體"/>
              </a:rPr>
              <a:t>virtualenv</a:t>
            </a:r>
            <a:r>
              <a:rPr lang="zh-TW" altLang="en-US" sz="2400" spc="-1" dirty="0">
                <a:solidFill>
                  <a:srgbClr val="000000"/>
                </a:solidFill>
                <a:latin typeface="Arial"/>
                <a:ea typeface="微軟正黑體"/>
                <a:cs typeface="Arial"/>
              </a:rPr>
              <a:t> </a:t>
            </a:r>
            <a:r>
              <a:rPr lang="en-US" sz="2400" b="0" strike="noStrike" spc="-1" dirty="0">
                <a:solidFill>
                  <a:srgbClr val="000000"/>
                </a:solidFill>
                <a:latin typeface="Arial Unicode MS"/>
                <a:ea typeface="微軟正黑體"/>
              </a:rPr>
              <a:t>&lt;env name&gt;</a:t>
            </a:r>
            <a:r>
              <a:rPr lang="en-US" sz="2400" spc="-1" dirty="0">
                <a:solidFill>
                  <a:srgbClr val="000000"/>
                </a:solidFill>
                <a:latin typeface="微軟正黑體"/>
                <a:ea typeface="微軟正黑體"/>
              </a:rPr>
              <a:t> </a:t>
            </a:r>
            <a:endParaRPr lang="en-US" sz="24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457200" indent="-456565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zh-TW" sz="2400" b="0" strike="noStrike" spc="-1">
                <a:solidFill>
                  <a:srgbClr val="000000"/>
                </a:solidFill>
                <a:latin typeface="Arial"/>
                <a:ea typeface="微軟正黑體"/>
              </a:rPr>
              <a:t>啟用虛擬環境 </a:t>
            </a:r>
            <a:endParaRPr lang="en-US" sz="2400" b="0" strike="noStrike" spc="-1">
              <a:solidFill>
                <a:srgbClr val="000000"/>
              </a:solidFill>
              <a:latin typeface="Calibri"/>
              <a:cs typeface="Calibri"/>
            </a:endParaRPr>
          </a:p>
          <a:p>
            <a:pPr marL="914400" lvl="1" indent="-456565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微軟正黑體"/>
              </a:rPr>
              <a:t>windows</a:t>
            </a:r>
            <a:endParaRPr lang="en-US" sz="24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1464945" lvl="2" indent="-456565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zh-TW" sz="2400" b="0" strike="noStrike" spc="-1">
                <a:solidFill>
                  <a:srgbClr val="000000"/>
                </a:solidFill>
                <a:latin typeface="Arial"/>
                <a:ea typeface="微軟正黑體"/>
              </a:rPr>
              <a:t>移至專案目錄 → </a:t>
            </a:r>
            <a:r>
              <a:rPr lang="en-US" sz="2400" b="0" strike="noStrike" spc="-1" dirty="0">
                <a:solidFill>
                  <a:srgbClr val="000000"/>
                </a:solidFill>
                <a:latin typeface="Arial Unicode MS"/>
                <a:ea typeface="微軟正黑體"/>
              </a:rPr>
              <a:t>cd &lt;env name</a:t>
            </a:r>
            <a:r>
              <a:rPr lang="en-US" sz="2400" spc="-1" dirty="0">
                <a:solidFill>
                  <a:srgbClr val="000000"/>
                </a:solidFill>
                <a:latin typeface="Arial Unicode MS"/>
                <a:ea typeface="微軟正黑體"/>
              </a:rPr>
              <a:t>&gt;\\</a:t>
            </a:r>
            <a:r>
              <a:rPr lang="en-US" sz="2400" b="0" strike="noStrike" spc="-1" dirty="0">
                <a:solidFill>
                  <a:srgbClr val="000000"/>
                </a:solidFill>
                <a:latin typeface="Arial Unicode MS"/>
                <a:ea typeface="微軟正黑體"/>
              </a:rPr>
              <a:t>Scripts</a:t>
            </a:r>
            <a:endParaRPr lang="en-US" sz="24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1464945" lvl="2" indent="-456565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 Unicode MS"/>
                <a:ea typeface="微軟正黑體"/>
              </a:rPr>
              <a:t>activate.bat</a:t>
            </a:r>
            <a:endParaRPr lang="en-US" sz="24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914400" lvl="1" indent="-456565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Arial"/>
                <a:ea typeface="微軟正黑體"/>
              </a:rPr>
              <a:t>Linux</a:t>
            </a:r>
            <a:endParaRPr lang="en-US" sz="24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1464945" lvl="2" indent="-456565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pos="0" algn="l"/>
              </a:tabLst>
            </a:pPr>
            <a:r>
              <a:rPr lang="zh-TW" sz="2400" b="0" strike="noStrike" spc="-1">
                <a:solidFill>
                  <a:srgbClr val="000000"/>
                </a:solidFill>
                <a:latin typeface="Arial"/>
                <a:ea typeface="微軟正黑體"/>
              </a:rPr>
              <a:t>移至專案目錄 → </a:t>
            </a:r>
            <a:r>
              <a:rPr lang="en-US" sz="2400" b="0" strike="noStrike" spc="-1" dirty="0">
                <a:solidFill>
                  <a:srgbClr val="000000"/>
                </a:solidFill>
                <a:latin typeface="Arial Unicode MS"/>
                <a:ea typeface="微軟正黑體"/>
              </a:rPr>
              <a:t>source &lt;env name</a:t>
            </a:r>
            <a:r>
              <a:rPr lang="en-US" sz="2400" spc="-1" dirty="0">
                <a:solidFill>
                  <a:srgbClr val="000000"/>
                </a:solidFill>
                <a:latin typeface="Arial Unicode MS"/>
                <a:ea typeface="微軟正黑體"/>
              </a:rPr>
              <a:t>&gt;/bin/activate</a:t>
            </a:r>
            <a:endParaRPr lang="en-US" sz="24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50000"/>
              </a:lnSpc>
              <a:spcBef>
                <a:spcPts val="1103"/>
              </a:spcBef>
              <a:tabLst>
                <a:tab pos="0" algn="l"/>
              </a:tabLst>
            </a:pP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100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0D50B-2A75-4639-91F0-3896672F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ea typeface="+mj-lt"/>
                <a:cs typeface="+mj-lt"/>
              </a:rPr>
              <a:t>Virtualenv</a:t>
            </a:r>
            <a:r>
              <a:rPr lang="zh-TW" altLang="en-US">
                <a:ea typeface="+mj-lt"/>
                <a:cs typeface="+mj-lt"/>
              </a:rPr>
              <a:t> 使用方</a:t>
            </a:r>
            <a:r>
              <a:rPr lang="zh-TW">
                <a:ea typeface="+mj-lt"/>
                <a:cs typeface="+mj-lt"/>
              </a:rPr>
              <a:t>法</a:t>
            </a:r>
            <a:r>
              <a:rPr lang="zh-TW" altLang="en-US">
                <a:ea typeface="+mj-lt"/>
                <a:cs typeface="+mj-lt"/>
              </a:rPr>
              <a:t> </a:t>
            </a:r>
            <a:endParaRPr lang="zh-TW" altLang="en-US"/>
          </a:p>
        </p:txBody>
      </p:sp>
      <p:sp>
        <p:nvSpPr>
          <p:cNvPr id="15" name="TextShape 2">
            <a:extLst>
              <a:ext uri="{FF2B5EF4-FFF2-40B4-BE49-F238E27FC236}">
                <a16:creationId xmlns:a16="http://schemas.microsoft.com/office/drawing/2014/main" id="{C7F4E917-86AF-4527-953D-C4A167FB9EC2}"/>
              </a:ext>
            </a:extLst>
          </p:cNvPr>
          <p:cNvSpPr txBox="1"/>
          <p:nvPr/>
        </p:nvSpPr>
        <p:spPr>
          <a:xfrm>
            <a:off x="829195" y="3009035"/>
            <a:ext cx="12309840" cy="27727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6565">
              <a:lnSpc>
                <a:spcPct val="150000"/>
              </a:lnSpc>
              <a:spcBef>
                <a:spcPts val="1103"/>
              </a:spcBef>
              <a:buClr>
                <a:srgbClr val="000000"/>
              </a:buClr>
              <a:buFont typeface="微軟正黑體"/>
              <a:buChar char="※"/>
            </a:pPr>
            <a:r>
              <a:rPr lang="en-US" sz="2400" b="1" strike="noStrike" spc="-1" dirty="0" err="1">
                <a:solidFill>
                  <a:srgbClr val="000000"/>
                </a:solidFill>
                <a:latin typeface="微軟正黑體"/>
                <a:ea typeface="微軟正黑體"/>
              </a:rPr>
              <a:t>Virtualenv</a:t>
            </a:r>
            <a:r>
              <a:rPr lang="zh-TW" sz="2400" b="1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可以選取 </a:t>
            </a:r>
            <a:r>
              <a:rPr lang="en-US" sz="2400" b="1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Python </a:t>
            </a:r>
            <a:r>
              <a:rPr lang="zh-TW" sz="2400" b="1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版本</a:t>
            </a:r>
            <a:r>
              <a:rPr lang="en-US" sz="2400" b="1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(</a:t>
            </a:r>
            <a:r>
              <a:rPr lang="zh-TW" sz="2400" b="1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如果電腦裡有多版本的話</a:t>
            </a:r>
            <a:r>
              <a:rPr lang="en-US" sz="2400" b="1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)</a:t>
            </a:r>
            <a:endParaRPr lang="en-US" sz="24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960755" lvl="1" indent="-456565">
              <a:lnSpc>
                <a:spcPct val="15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 err="1">
                <a:solidFill>
                  <a:srgbClr val="000000"/>
                </a:solidFill>
                <a:latin typeface="微軟正黑體"/>
                <a:ea typeface="微軟正黑體"/>
              </a:rPr>
              <a:t>virtualenv</a:t>
            </a:r>
            <a:r>
              <a:rPr lang="en-US" sz="2000" b="0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 --python=“&lt;path to python.exe&gt;" </a:t>
            </a:r>
            <a:r>
              <a:rPr lang="en-US" sz="2000" b="0" strike="noStrike" spc="-1" dirty="0">
                <a:solidFill>
                  <a:srgbClr val="000000"/>
                </a:solidFill>
                <a:latin typeface="Arial Unicode MS"/>
                <a:ea typeface="微軟正黑體"/>
              </a:rPr>
              <a:t>&lt;env name</a:t>
            </a:r>
            <a:r>
              <a:rPr lang="en-US" sz="2000" b="0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&gt;</a:t>
            </a:r>
            <a:endParaRPr lang="en-US" sz="20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1464945" lvl="2" indent="-456565">
              <a:lnSpc>
                <a:spcPct val="150000"/>
              </a:lnSpc>
              <a:spcBef>
                <a:spcPts val="550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zh-TW" sz="2000" b="0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如果路徑中有空白務必加上雙引號</a:t>
            </a:r>
            <a:endParaRPr lang="en-US" sz="2000" b="0" strike="noStrike" spc="-1">
              <a:solidFill>
                <a:srgbClr val="000000"/>
              </a:solidFill>
              <a:latin typeface="Calibri"/>
              <a:cs typeface="Calibri"/>
            </a:endParaRPr>
          </a:p>
          <a:p>
            <a:pPr marL="1464945" lvl="2" indent="-456565">
              <a:lnSpc>
                <a:spcPct val="150000"/>
              </a:lnSpc>
              <a:spcBef>
                <a:spcPts val="550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lang="zh-TW" sz="2000" b="0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路徑記得加上 </a:t>
            </a:r>
            <a:r>
              <a:rPr lang="en-US" sz="2000" b="0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python.exe</a:t>
            </a:r>
            <a:endParaRPr lang="en-US" sz="20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571500" indent="-570865">
              <a:lnSpc>
                <a:spcPct val="150000"/>
              </a:lnSpc>
              <a:spcBef>
                <a:spcPts val="1103"/>
              </a:spcBef>
              <a:buClr>
                <a:srgbClr val="000000"/>
              </a:buClr>
              <a:buFont typeface="微軟正黑體"/>
              <a:buChar char="※"/>
            </a:pPr>
            <a:r>
              <a:rPr lang="zh-TW" sz="2400" b="1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列出所有被安裝的 </a:t>
            </a:r>
            <a:r>
              <a:rPr lang="en-US" sz="2400" b="1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Python </a:t>
            </a:r>
            <a:r>
              <a:rPr lang="zh-TW" sz="2400" b="1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模組及其版本，並輸出到 </a:t>
            </a:r>
            <a:r>
              <a:rPr lang="en-US" sz="2400" b="1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XXX.txt :</a:t>
            </a:r>
            <a:r>
              <a:rPr lang="en-US" sz="2400" b="1" spc="-1" dirty="0">
                <a:solidFill>
                  <a:srgbClr val="000000"/>
                </a:solidFill>
                <a:latin typeface="微軟正黑體"/>
                <a:ea typeface="微軟正黑體"/>
              </a:rPr>
              <a:t> </a:t>
            </a:r>
            <a:endParaRPr lang="en-US" sz="2400" b="0" strike="noStrike" spc="-1">
              <a:solidFill>
                <a:srgbClr val="000000"/>
              </a:solidFill>
              <a:latin typeface="Calibri"/>
              <a:cs typeface="Calibri"/>
            </a:endParaRPr>
          </a:p>
          <a:p>
            <a:pPr marL="846455" lvl="1" indent="-342265">
              <a:lnSpc>
                <a:spcPct val="150000"/>
              </a:lnSpc>
              <a:spcBef>
                <a:spcPts val="55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pip freeze &gt; XXX.txt</a:t>
            </a:r>
            <a:endParaRPr lang="en-US" sz="2000" b="0" strike="noStrike" spc="-1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6" name="CustomShape 3">
            <a:extLst>
              <a:ext uri="{FF2B5EF4-FFF2-40B4-BE49-F238E27FC236}">
                <a16:creationId xmlns:a16="http://schemas.microsoft.com/office/drawing/2014/main" id="{50B39FA0-DBE8-4E07-A625-1102F177024E}"/>
              </a:ext>
            </a:extLst>
          </p:cNvPr>
          <p:cNvSpPr/>
          <p:nvPr/>
        </p:nvSpPr>
        <p:spPr>
          <a:xfrm rot="10800000" flipV="1">
            <a:off x="1565755" y="4935395"/>
            <a:ext cx="7526160" cy="640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latin typeface="Arial"/>
            </a:endParaRPr>
          </a:p>
        </p:txBody>
      </p:sp>
      <p:sp>
        <p:nvSpPr>
          <p:cNvPr id="17" name="CustomShape 4">
            <a:extLst>
              <a:ext uri="{FF2B5EF4-FFF2-40B4-BE49-F238E27FC236}">
                <a16:creationId xmlns:a16="http://schemas.microsoft.com/office/drawing/2014/main" id="{3A7F783E-0232-4C13-BB2F-DF9501D09037}"/>
              </a:ext>
            </a:extLst>
          </p:cNvPr>
          <p:cNvSpPr/>
          <p:nvPr/>
        </p:nvSpPr>
        <p:spPr>
          <a:xfrm>
            <a:off x="829195" y="814475"/>
            <a:ext cx="12309840" cy="21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0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Python </a:t>
            </a:r>
            <a:r>
              <a:rPr lang="zh-TW" sz="3200" b="0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套件安裝：</a:t>
            </a:r>
            <a:endParaRPr lang="en-US" sz="3200" b="0" strike="noStrike" spc="-1">
              <a:latin typeface="Arial"/>
            </a:endParaRPr>
          </a:p>
          <a:p>
            <a:pPr marL="971550" lvl="1" indent="-513715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zh-TW" sz="2000" b="0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移至專案目錄</a:t>
            </a:r>
            <a:endParaRPr lang="en-US" sz="2000" b="0" strike="noStrike" spc="-1">
              <a:latin typeface="Arial"/>
              <a:cs typeface="Arial"/>
            </a:endParaRPr>
          </a:p>
          <a:p>
            <a:pPr marL="971550" lvl="1" indent="-513715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zh-TW" sz="2000" b="0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開啟虛擬環境下</a:t>
            </a:r>
            <a:endParaRPr lang="en-US" sz="2000" b="0" strike="noStrike" spc="-1">
              <a:latin typeface="Arial"/>
              <a:cs typeface="Arial"/>
            </a:endParaRPr>
          </a:p>
          <a:p>
            <a:pPr marL="971550" lvl="1" indent="-513715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2000" b="0" strike="noStrike" spc="-1" dirty="0">
                <a:solidFill>
                  <a:srgbClr val="000000"/>
                </a:solidFill>
                <a:latin typeface="微軟正黑體"/>
                <a:ea typeface="微軟正黑體"/>
              </a:rPr>
              <a:t>pip install –</a:t>
            </a:r>
            <a:r>
              <a:rPr lang="en-US" sz="2000" b="0" strike="noStrike" spc="-1">
                <a:solidFill>
                  <a:srgbClr val="000000"/>
                </a:solidFill>
                <a:latin typeface="微軟正黑體"/>
                <a:ea typeface="微軟正黑體"/>
              </a:rPr>
              <a:t>r requirements.</a:t>
            </a:r>
            <a:r>
              <a:rPr lang="en-US" sz="2000" spc="-1" dirty="0">
                <a:solidFill>
                  <a:srgbClr val="000000"/>
                </a:solidFill>
                <a:latin typeface="微軟正黑體"/>
                <a:ea typeface="微軟正黑體"/>
              </a:rPr>
              <a:t>txt</a:t>
            </a:r>
            <a:endParaRPr lang="en-US" sz="2000" b="0" strike="noStrike" spc="-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361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1FFF4D-8DF2-4323-AFA5-C1793C0B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課程範例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B7C5AB-AF8B-43E7-90E0-E2C2046D9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/>
              <a:t>練習</a:t>
            </a:r>
            <a:endParaRPr lang="en-US" altLang="zh-TW"/>
          </a:p>
          <a:p>
            <a:pPr lvl="1"/>
            <a:r>
              <a:rPr lang="zh-TW" altLang="en-US"/>
              <a:t>在</a:t>
            </a:r>
            <a:r>
              <a:rPr lang="en-US" altLang="zh-TW"/>
              <a:t>practice start </a:t>
            </a:r>
            <a:r>
              <a:rPr lang="zh-TW" altLang="en-US"/>
              <a:t>到</a:t>
            </a:r>
            <a:r>
              <a:rPr lang="en-US" altLang="zh-TW"/>
              <a:t>practice end </a:t>
            </a:r>
            <a:r>
              <a:rPr lang="zh-TW" altLang="en-US"/>
              <a:t>之間填空</a:t>
            </a:r>
            <a:endParaRPr lang="en-US" altLang="zh-TW"/>
          </a:p>
          <a:p>
            <a:r>
              <a:rPr lang="zh-TW" altLang="en-US"/>
              <a:t>答案會在課程結束時給大家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79EA662-9BA1-49F8-84B2-A6B9EEC70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570" y="3068960"/>
            <a:ext cx="7722859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260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4D159D-C0DC-5BE8-C38D-A97D8181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cs typeface="Arial"/>
              </a:rPr>
              <a:t>課程目標</a:t>
            </a:r>
            <a:endParaRPr lang="zh-TW" altLang="en-US" dirty="0">
              <a:cs typeface="Arial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CFB9FE-D39A-4A7D-97E4-22573D595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>
                <a:latin typeface="Arial"/>
                <a:ea typeface="微軟正黑體"/>
                <a:cs typeface="Arial"/>
              </a:rPr>
              <a:t>基礎目標：在本機上運行flask，並運用flask來展示ML 模型的成果</a:t>
            </a:r>
          </a:p>
          <a:p>
            <a:pPr marL="421640" indent="-421640"/>
            <a:r>
              <a:rPr lang="zh-TW" altLang="en-US">
                <a:latin typeface="Arial"/>
                <a:ea typeface="微軟正黑體"/>
                <a:cs typeface="Arial"/>
              </a:rPr>
              <a:t>進階目標：能夠將flask上學習到的概念套用到其他相似功能的框架</a:t>
            </a:r>
            <a:endParaRPr lang="zh-TW" altLang="en-US" dirty="0"/>
          </a:p>
          <a:p>
            <a:pPr marL="878840" lvl="1" indent="-433705"/>
            <a:r>
              <a:rPr lang="zh-TW" altLang="en-US">
                <a:latin typeface="Arial"/>
                <a:ea typeface="微軟正黑體"/>
                <a:cs typeface="Arial"/>
              </a:rPr>
              <a:t>e.g: node.js 的 express, python 的 Django...</a:t>
            </a:r>
            <a:endParaRPr lang="zh-TW" altLang="en-US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zh-TW" altLang="en-US" dirty="0"/>
          </a:p>
          <a:p>
            <a:pPr marL="878840" lvl="1" indent="-433705">
              <a:buClr>
                <a:srgbClr val="42BBC6"/>
              </a:buClr>
            </a:pP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7355593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3088</TotalTime>
  <Words>538</Words>
  <Application>Microsoft Office PowerPoint</Application>
  <PresentationFormat>寬螢幕</PresentationFormat>
  <Paragraphs>59</Paragraphs>
  <Slides>6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2019簡報範本_light</vt:lpstr>
      <vt:lpstr>Flask 安裝與環境建制</vt:lpstr>
      <vt:lpstr>虛擬環境</vt:lpstr>
      <vt:lpstr>Virtualenv 使用方法 </vt:lpstr>
      <vt:lpstr>Virtualenv 使用方法 </vt:lpstr>
      <vt:lpstr>課程範例</vt:lpstr>
      <vt:lpstr>課程目標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ywt01</cp:lastModifiedBy>
  <cp:revision>581</cp:revision>
  <cp:lastPrinted>2019-04-29T05:54:36Z</cp:lastPrinted>
  <dcterms:created xsi:type="dcterms:W3CDTF">2019-04-17T09:27:11Z</dcterms:created>
  <dcterms:modified xsi:type="dcterms:W3CDTF">2025-12-22T10:51:22Z</dcterms:modified>
  <cp:category>淺色</cp:category>
</cp:coreProperties>
</file>