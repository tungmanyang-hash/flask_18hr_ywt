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331" r:id="rId2"/>
    <p:sldId id="417" r:id="rId3"/>
    <p:sldId id="426" r:id="rId4"/>
    <p:sldId id="418" r:id="rId5"/>
    <p:sldId id="419" r:id="rId6"/>
    <p:sldId id="420" r:id="rId7"/>
    <p:sldId id="422" r:id="rId8"/>
    <p:sldId id="423" r:id="rId9"/>
    <p:sldId id="424" r:id="rId10"/>
    <p:sldId id="425" r:id="rId11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218D-7AE9-2F51-4B91-BDBC0F63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5FEEC-46AF-D1EF-8FC3-58E495980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CCA75C-6003-72EC-D2D2-E33759972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C1571-795F-36DE-E281-ABAAED05CF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4DDB9-9F9F-D508-840D-8FD663D09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F27C1B55-8C8A-57C3-6FFC-FD3CE5FADF9F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933061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F575-96AF-160B-4213-D25CCE95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B2EA1-E102-61AC-39AB-B57D390E7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4D406-103F-7EB0-F85F-405664A02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5841B-64E9-FD32-AE76-24CD8CE8EE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D4A93-6C24-8278-5CE5-1C7703DCDE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BF407100-AD2C-8B04-6E80-E5AFDA1AD5DE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53140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10410-75A0-7A65-3C8A-F7485AE4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E0DC9-54E8-9240-FAC7-B9EC9F618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1D3FE-16BB-9534-A50A-8F53D0E83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A9B0A-BC07-7D57-54FC-3040E86660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6142F-F46D-E120-1230-5D8245B3C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76F5D3B5-B27E-A610-496D-883A0C05A62A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02473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BC21-3266-8513-E2E2-DB72714E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4AA21-31D9-D654-5708-B628E7213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E14F1-3DBF-0ADA-C33F-F018E23B4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F6E9D-87C1-AD82-B12F-5B4A3A56B7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956FF-4A87-9FC6-0958-EED778FF7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2A608A1D-3347-3FEE-3AAF-BDA28902A562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75509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5224-8B8B-2E1C-0B27-98305D64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57EC5-4733-4649-1E29-B3D0AB169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A94B8-E37B-125F-BCE5-DB86B3ADD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AF561-7F06-488B-72A9-3577631B81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26B9A-0961-04EB-EC80-2FCBA4F9F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311E10A-1E60-3DBF-805F-64520553E189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227976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EB3C4-27C4-6BB2-4260-13D75E14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BFE60-BAFE-C9B1-562B-E289DC8C4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B337A-525B-9B4D-DD47-217EC4C3A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F8661-9892-5A81-6E1E-6F51FA262A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6FF37-FF32-C534-56C2-5E9923E65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8AC8A3D2-A64A-DFE2-DC4E-58DA633D4E8E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800500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42CC1-DBDF-D5F4-5CB1-E96E0BBD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3E8F8-5A0B-E0E8-08EE-A008A4F21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C4A55-8E94-937B-BF83-7135867B6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0F476-3A93-84AD-5AE8-5B2846A41A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694FA-5BE9-18CB-092B-4B890604B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AF94D09D-C6E1-C2B5-87C3-01EA9E3A501D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842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C5FBC-BC87-E3D9-8BB5-344898D1C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8F04A-60F8-2F71-93B0-62388F82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C5E28-46C7-7203-1AA5-FBC2958A8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3EC85-98C0-5CF0-3D97-495FCE6F0E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AF2BA-E3B4-3374-6306-8F4AB1753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A81F5326-F21D-7C0A-D342-F7DABFF5CD8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124317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4141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30" y="2852936"/>
            <a:ext cx="11825109" cy="587594"/>
          </a:xfrm>
        </p:spPr>
        <p:txBody>
          <a:bodyPr/>
          <a:lstStyle/>
          <a:p>
            <a:r>
              <a:rPr lang="en-US" altLang="en-US" dirty="0" err="1">
                <a:cs typeface="Arial"/>
              </a:rPr>
              <a:t>Pytest</a:t>
            </a:r>
            <a:endParaRPr lang="zh-TW" altLang="en-US" dirty="0" err="1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F68FC8F-8C93-46BF-9594-D49A56F9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16</a:t>
            </a: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pytest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zh-TW">
                <a:ea typeface="+mj-lt"/>
                <a:cs typeface="+mj-lt"/>
              </a:rPr>
              <a:t>基礎操作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安裝pytest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950">
                <a:latin typeface="Arial"/>
                <a:ea typeface="微軟正黑體"/>
                <a:cs typeface="Arial"/>
              </a:rPr>
              <a:t>pip install pytest</a:t>
            </a:r>
            <a:endParaRPr lang="zh-TW" altLang="en-US" sz="2950" dirty="0">
              <a:latin typeface="Arial"/>
              <a:ea typeface="微軟正黑體"/>
              <a:cs typeface="Arial"/>
            </a:endParaRPr>
          </a:p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在terminal 執行 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pytest &lt;目錄or檔案位置&gt;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 :  會針對指定目錄或檔案執行測試</a:t>
            </a:r>
            <a:endParaRPr lang="zh-TW" dirty="0"/>
          </a:p>
          <a:p>
            <a:pPr marL="878840" lvl="1" indent="-433705">
              <a:buClr>
                <a:srgbClr val="42BBC6"/>
              </a:buClr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不指定目錄或檔案, 則自動(recursively)找出所有符合「pytest設置條件」的測試腳本(.py), 並執行測試</a:t>
            </a:r>
          </a:p>
          <a:p>
            <a:pPr marL="421640" indent="-421640">
              <a:buClr>
                <a:srgbClr val="E1CB1A"/>
              </a:buClr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Pytest設置條件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500" b="0">
                <a:latin typeface="Arial"/>
                <a:ea typeface="微軟正黑體"/>
                <a:cs typeface="Arial"/>
              </a:rPr>
              <a:t>測試腳本(.py) 的名稱需要以 </a:t>
            </a:r>
            <a:r>
              <a:rPr lang="zh-TW" altLang="en-US" sz="2500">
                <a:latin typeface="Arial"/>
                <a:ea typeface="微軟正黑體"/>
                <a:cs typeface="Arial"/>
              </a:rPr>
              <a:t>test </a:t>
            </a:r>
            <a:r>
              <a:rPr lang="zh-TW" altLang="en-US" sz="2500" b="0">
                <a:latin typeface="Arial"/>
                <a:ea typeface="微軟正黑體"/>
                <a:cs typeface="Arial"/>
              </a:rPr>
              <a:t>開頭</a:t>
            </a:r>
          </a:p>
          <a:p>
            <a:pPr marL="878840" lvl="1" indent="-433705"/>
            <a:r>
              <a:rPr lang="zh-TW" sz="2500" b="0">
                <a:latin typeface="Arial"/>
                <a:ea typeface="微軟正黑體"/>
                <a:cs typeface="Arial"/>
              </a:rPr>
              <a:t>測試函數(def)的名稱需要以 </a:t>
            </a:r>
            <a:r>
              <a:rPr lang="zh-TW" sz="2500">
                <a:latin typeface="Microsoft JhengHei"/>
                <a:ea typeface="Microsoft JhengHei"/>
                <a:cs typeface="Arial"/>
              </a:rPr>
              <a:t>test </a:t>
            </a:r>
            <a:r>
              <a:rPr lang="zh-TW" sz="2500" b="0">
                <a:latin typeface="Arial"/>
                <a:ea typeface="微軟正黑體"/>
                <a:cs typeface="Arial"/>
              </a:rPr>
              <a:t>開頭</a:t>
            </a:r>
            <a:endParaRPr lang="zh-TW" altLang="en-US" sz="2500" b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sz="2500" b="0">
                <a:latin typeface="Arial"/>
                <a:ea typeface="微軟正黑體"/>
                <a:cs typeface="Arial"/>
              </a:rPr>
              <a:t>測試類別(class)的名稱需要以 </a:t>
            </a:r>
            <a:r>
              <a:rPr lang="zh-TW" sz="2500">
                <a:latin typeface="Consolas"/>
                <a:ea typeface="微軟正黑體"/>
                <a:cs typeface="Arial"/>
              </a:rPr>
              <a:t>Test</a:t>
            </a:r>
            <a:r>
              <a:rPr lang="zh-TW" sz="2500">
                <a:latin typeface="Arial"/>
                <a:ea typeface="微軟正黑體"/>
                <a:cs typeface="Arial"/>
              </a:rPr>
              <a:t> </a:t>
            </a:r>
            <a:r>
              <a:rPr lang="zh-TW" sz="2500" b="0">
                <a:latin typeface="Arial"/>
                <a:ea typeface="微軟正黑體"/>
                <a:cs typeface="Arial"/>
              </a:rPr>
              <a:t>開頭</a:t>
            </a:r>
            <a:endParaRPr lang="zh-TW" sz="2500"/>
          </a:p>
          <a:p>
            <a:pPr marL="878840" lvl="1" indent="-433705"/>
            <a:r>
              <a:rPr lang="zh-TW" sz="2500" b="0">
                <a:latin typeface="Arial"/>
                <a:ea typeface="微軟正黑體"/>
                <a:cs typeface="Arial"/>
              </a:rPr>
              <a:t>在必要的地方加上 </a:t>
            </a:r>
            <a:r>
              <a:rPr lang="zh-TW" sz="2500">
                <a:latin typeface="Consolas"/>
                <a:ea typeface="微軟正黑體"/>
                <a:cs typeface="Arial"/>
              </a:rPr>
              <a:t>__init__.py</a:t>
            </a:r>
            <a:endParaRPr lang="zh-TW" sz="2500"/>
          </a:p>
          <a:p>
            <a:pPr marL="878840" lvl="1" indent="-433705"/>
            <a:endParaRPr lang="zh-TW" altLang="en-US" sz="2950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9FEB-63F2-AAA0-7904-D99AAC02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A2A7F-4C78-5C4E-92E9-73E4AF2A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+mj-lt"/>
                <a:cs typeface="+mj-lt"/>
              </a:rPr>
              <a:t>測試資料的擺放方式</a:t>
            </a:r>
            <a:endParaRPr lang="zh-TW" altLang="en-US" dirty="0"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5464CF3-BED4-9557-BC85-2EA8DBA92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endParaRPr lang="zh-TW" altLang="en-US" sz="3400" b="0" dirty="0"/>
          </a:p>
          <a:p>
            <a:pPr marL="878840" lvl="1" indent="-433705"/>
            <a:endParaRPr lang="zh-TW" altLang="en-US" sz="2950" b="0" dirty="0">
              <a:latin typeface="Arial"/>
              <a:ea typeface="微軟正黑體"/>
              <a:cs typeface="Arial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006B2BD-3B35-F0B4-277F-5C4C6586DF52}"/>
              </a:ext>
            </a:extLst>
          </p:cNvPr>
          <p:cNvGrpSpPr/>
          <p:nvPr/>
        </p:nvGrpSpPr>
        <p:grpSpPr>
          <a:xfrm>
            <a:off x="5826179" y="2532830"/>
            <a:ext cx="6202088" cy="3182002"/>
            <a:chOff x="5826179" y="2532830"/>
            <a:chExt cx="6202088" cy="3182002"/>
          </a:xfrm>
        </p:grpSpPr>
        <p:pic>
          <p:nvPicPr>
            <p:cNvPr id="6" name="圖片 5" descr="一張含有 文字, 字型, 螢幕擷取畫面, 圖表 的圖片&#10;&#10;AI 產生的內容可能不正確。">
              <a:extLst>
                <a:ext uri="{FF2B5EF4-FFF2-40B4-BE49-F238E27FC236}">
                  <a16:creationId xmlns:a16="http://schemas.microsoft.com/office/drawing/2014/main" id="{CC29C042-7BB3-CBAF-3D79-8E79BDB2D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6179" y="2532830"/>
              <a:ext cx="6202088" cy="2659444"/>
            </a:xfrm>
            <a:prstGeom prst="rect">
              <a:avLst/>
            </a:prstGeom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A75C967-AED2-73F4-57EA-05F8A5453420}"/>
                </a:ext>
              </a:extLst>
            </p:cNvPr>
            <p:cNvSpPr txBox="1"/>
            <p:nvPr/>
          </p:nvSpPr>
          <p:spPr>
            <a:xfrm>
              <a:off x="6827823" y="5314722"/>
              <a:ext cx="4030591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Tests Outside Application Code</a:t>
              </a:r>
              <a:endParaRPr lang="zh-TW" sz="2000">
                <a:solidFill>
                  <a:schemeClr val="tx1">
                    <a:lumMod val="75000"/>
                  </a:schemeClr>
                </a:solidFill>
                <a:cs typeface="Arial"/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0A56013-F6CE-9188-4320-ECBE5686213D}"/>
              </a:ext>
            </a:extLst>
          </p:cNvPr>
          <p:cNvGrpSpPr/>
          <p:nvPr/>
        </p:nvGrpSpPr>
        <p:grpSpPr>
          <a:xfrm>
            <a:off x="470010" y="2676854"/>
            <a:ext cx="4893245" cy="2906598"/>
            <a:chOff x="601389" y="2571751"/>
            <a:chExt cx="4893245" cy="2906598"/>
          </a:xfrm>
        </p:grpSpPr>
        <p:pic>
          <p:nvPicPr>
            <p:cNvPr id="4" name="圖片 3" descr="一張含有 文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AFCDB5DD-612C-C42F-7855-81889C984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529" r="293" b="588"/>
            <a:stretch>
              <a:fillRect/>
            </a:stretch>
          </p:blipFill>
          <p:spPr>
            <a:xfrm>
              <a:off x="601389" y="2571751"/>
              <a:ext cx="4893245" cy="2371668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A10E1F8F-7354-A7AD-0EA7-9AA13AB514F2}"/>
                </a:ext>
              </a:extLst>
            </p:cNvPr>
            <p:cNvSpPr txBox="1"/>
            <p:nvPr/>
          </p:nvSpPr>
          <p:spPr>
            <a:xfrm>
              <a:off x="718685" y="5078239"/>
              <a:ext cx="424379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Tests </a:t>
              </a:r>
              <a:r>
                <a:rPr lang="en-US" alt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as</a:t>
              </a:r>
              <a:r>
                <a:rPr lang="zh-TW" altLang="en-US" sz="2000" b="1" dirty="0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Par</a:t>
              </a:r>
              <a:r>
                <a:rPr 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t</a:t>
              </a:r>
              <a:r>
                <a:rPr lang="zh-TW" altLang="en-US" sz="2000" b="1" dirty="0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 </a:t>
              </a:r>
              <a:r>
                <a:rPr lang="en-US" alt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of</a:t>
              </a:r>
              <a:r>
                <a:rPr lang="zh-TW" sz="2000" b="1">
                  <a:solidFill>
                    <a:schemeClr val="tx1">
                      <a:lumMod val="75000"/>
                    </a:schemeClr>
                  </a:solidFill>
                  <a:ea typeface="+mn-lt"/>
                  <a:cs typeface="+mn-lt"/>
                </a:rPr>
                <a:t> Application Code</a:t>
              </a:r>
              <a:endParaRPr lang="zh-TW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8689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9EC2-16CD-0AC0-4567-970B0FA0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3812-9546-0FF6-C23B-BADD6F86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setup 和 teardown</a:t>
            </a:r>
            <a:endParaRPr lang="zh-TW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1E697B-AD4F-59B3-201B-605100759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setup &amp; teardown 可以類比為測試腳本/函數的middleware 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sz="2950" b="0">
                <a:latin typeface="微軟正黑體"/>
                <a:ea typeface="微軟正黑體"/>
                <a:cs typeface="Arial"/>
              </a:rPr>
              <a:t>setup &amp; tea</a:t>
            </a:r>
            <a:r>
              <a:rPr lang="en-US" altLang="zh-TW" sz="2950" b="0" dirty="0" err="1">
                <a:latin typeface="微軟正黑體"/>
                <a:ea typeface="微軟正黑體"/>
                <a:cs typeface="Arial"/>
              </a:rPr>
              <a:t>rdow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n 的常見用途</a:t>
            </a:r>
            <a:r>
              <a:rPr lang="en-US" altLang="zh-TW" sz="2950" b="0" dirty="0">
                <a:latin typeface="微軟正黑體"/>
                <a:ea typeface="微軟正黑體"/>
                <a:cs typeface="Arial"/>
              </a:rPr>
              <a:t>:  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設定環境變數</a:t>
            </a:r>
            <a:r>
              <a:rPr lang="zh-TW" altLang="en-US" sz="2950" b="0">
                <a:latin typeface="微軟正黑體"/>
                <a:ea typeface="微軟正黑體"/>
                <a:cs typeface="Arial"/>
              </a:rPr>
              <a:t>、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建立測試資料</a:t>
            </a:r>
            <a:endParaRPr lang="zh-TW" sz="295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en-US" altLang="zh-TW" sz="3400" b="0" dirty="0">
                <a:latin typeface="Arial"/>
                <a:ea typeface="微軟正黑體"/>
                <a:cs typeface="Arial"/>
              </a:rPr>
              <a:t>setup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&amp;</a:t>
            </a:r>
            <a:r>
              <a:rPr lang="zh-TW" altLang="en-US" sz="34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teardown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的執行順序 </a:t>
            </a:r>
            <a:r>
              <a:rPr lang="en-US" altLang="zh-TW" sz="3400" b="0" dirty="0">
                <a:latin typeface="Arial"/>
                <a:ea typeface="微軟正黑體"/>
                <a:cs typeface="Arial"/>
              </a:rPr>
              <a:t>:</a:t>
            </a:r>
            <a:endParaRPr lang="zh-TW" altLang="en-US" sz="3400" b="0" dirty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</a:pPr>
            <a:r>
              <a:rPr lang="zh-TW" altLang="en-US" sz="3000" b="0">
                <a:latin typeface="Microsoft JhengHei"/>
                <a:ea typeface="Microsoft JhengHei"/>
                <a:cs typeface="Arial"/>
              </a:rPr>
              <a:t>執行 </a:t>
            </a:r>
            <a:r>
              <a:rPr lang="en-US" altLang="zh-TW" sz="3000" b="0" dirty="0">
                <a:latin typeface="Microsoft JhengHei"/>
                <a:ea typeface="Microsoft JhengHei"/>
                <a:cs typeface="Arial"/>
              </a:rPr>
              <a:t>setup</a:t>
            </a:r>
            <a:r>
              <a:rPr lang="zh-TW" altLang="en-US" sz="3000" b="0">
                <a:latin typeface="Microsoft JhengHei"/>
                <a:ea typeface="Microsoft JhengHei"/>
                <a:cs typeface="Arial"/>
              </a:rPr>
              <a:t> → 執行測試程式 → 執行 </a:t>
            </a:r>
            <a:r>
              <a:rPr lang="en-US" altLang="zh-TW" sz="3000" b="0" dirty="0">
                <a:latin typeface="Microsoft JhengHei"/>
                <a:ea typeface="Microsoft JhengHei"/>
                <a:cs typeface="Arial"/>
              </a:rPr>
              <a:t>teardown</a:t>
            </a:r>
            <a:endParaRPr lang="en-US" dirty="0"/>
          </a:p>
          <a:p>
            <a:pPr marL="421640" indent="-421640">
              <a:buClr>
                <a:srgbClr val="E1CB1A"/>
              </a:buClr>
            </a:pPr>
            <a:r>
              <a:rPr lang="en-US" altLang="zh-TW" sz="3400" b="0" dirty="0">
                <a:latin typeface="Arial"/>
                <a:ea typeface="微軟正黑體"/>
                <a:cs typeface="Arial"/>
              </a:rPr>
              <a:t>setup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與 t</a:t>
            </a:r>
            <a:r>
              <a:rPr lang="en-US" altLang="zh-TW" sz="3400" b="0" dirty="0" err="1">
                <a:latin typeface="Arial"/>
                <a:ea typeface="微軟正黑體"/>
                <a:cs typeface="Arial"/>
              </a:rPr>
              <a:t>eardown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的作用層級可分為四級</a:t>
            </a:r>
            <a:endParaRPr lang="zh-TW" sz="3400" b="0">
              <a:latin typeface="微軟正黑體"/>
            </a:endParaRPr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Function 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altLang="zh-TW" sz="2950" b="0" dirty="0">
                <a:latin typeface="Arial"/>
                <a:ea typeface="微軟正黑體"/>
                <a:cs typeface="Arial"/>
              </a:rPr>
              <a:t>Class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endParaRPr lang="zh-TW" sz="295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altLang="zh-TW" sz="2950" b="0" dirty="0">
                <a:latin typeface="Arial"/>
                <a:ea typeface="微軟正黑體"/>
                <a:cs typeface="Arial"/>
              </a:rPr>
              <a:t>M</a:t>
            </a:r>
            <a:r>
              <a:rPr lang="zh-TW" sz="2950" b="0">
                <a:latin typeface="Arial"/>
                <a:ea typeface="微軟正黑體"/>
                <a:cs typeface="Arial"/>
              </a:rPr>
              <a:t>ethod </a:t>
            </a:r>
            <a:endParaRPr lang="zh-TW" altLang="en-US" sz="295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altLang="zh-TW" sz="2950" b="0" dirty="0">
                <a:latin typeface="Arial"/>
                <a:ea typeface="微軟正黑體"/>
                <a:cs typeface="Arial"/>
              </a:rPr>
              <a:t>Module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endParaRPr lang="zh-TW" sz="2950" b="0" dirty="0"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altLang="en-US" sz="3400" b="0" dirty="0"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400" b="0" dirty="0">
              <a:latin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sz="2950" b="0" dirty="0">
              <a:latin typeface="Arial"/>
            </a:endParaRPr>
          </a:p>
          <a:p>
            <a:pPr marL="0" indent="0">
              <a:buNone/>
            </a:pPr>
            <a:endParaRPr lang="zh-TW" altLang="en-US" sz="34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5140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B857-D70D-1404-C864-739833FD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329-4071-AE7C-3697-891AC6B0E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fixture</a:t>
            </a:r>
            <a:endParaRPr 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B94865-3B90-0BF7-4ED7-887E82AFB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f</a:t>
            </a:r>
            <a:r>
              <a:rPr lang="en-US" altLang="en-US" sz="3400" dirty="0" err="1">
                <a:latin typeface="Arial"/>
                <a:ea typeface="微軟正黑體"/>
                <a:cs typeface="Arial"/>
              </a:rPr>
              <a:t>i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xtur</a:t>
            </a:r>
            <a:r>
              <a:rPr lang="en-US" altLang="en-US" sz="3400" dirty="0">
                <a:latin typeface="Arial"/>
                <a:ea typeface="微軟正黑體"/>
                <a:cs typeface="Arial"/>
              </a:rPr>
              <a:t>e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與setup &amp; teardown相似</a:t>
            </a:r>
            <a:r>
              <a:rPr lang="en-US" altLang="en-US" sz="3400" b="0" dirty="0">
                <a:latin typeface="Arial"/>
                <a:ea typeface="微軟正黑體"/>
                <a:cs typeface="Arial"/>
              </a:rPr>
              <a:t>,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可以在每次測試之前設置前提條件 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</a:pPr>
            <a:r>
              <a:rPr lang="zh-TW" sz="3400">
                <a:latin typeface="微軟正黑體"/>
                <a:ea typeface="微軟正黑體"/>
                <a:cs typeface="Arial"/>
              </a:rPr>
              <a:t>fixture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可以作為參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數給測試程式使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用</a:t>
            </a:r>
            <a:endParaRPr lang="zh-TW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 b="0">
                <a:latin typeface="微軟正黑體"/>
                <a:ea typeface="微軟正黑體"/>
                <a:cs typeface="Arial"/>
              </a:rPr>
              <a:t>將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測試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代碼中經常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用到的一些對象定義為</a:t>
            </a:r>
            <a:r>
              <a:rPr lang="zh-TW" sz="3400">
                <a:latin typeface="微軟正黑體"/>
                <a:ea typeface="微軟正黑體"/>
                <a:cs typeface="Arial"/>
              </a:rPr>
              <a:t>fixt</a:t>
            </a:r>
            <a:r>
              <a:rPr lang="en-US" altLang="zh-TW" sz="3400" err="1">
                <a:latin typeface="微軟正黑體"/>
                <a:ea typeface="微軟正黑體"/>
                <a:cs typeface="Arial"/>
              </a:rPr>
              <a:t>ur</a:t>
            </a:r>
            <a:r>
              <a:rPr lang="zh-TW" sz="3400">
                <a:latin typeface="微軟正黑體"/>
                <a:ea typeface="微軟正黑體"/>
                <a:cs typeface="Arial"/>
              </a:rPr>
              <a:t>e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來統一進行管理</a:t>
            </a:r>
            <a:endParaRPr lang="zh-TW"/>
          </a:p>
          <a:p>
            <a:pPr marL="421640" indent="-421640">
              <a:lnSpc>
                <a:spcPct val="90000"/>
              </a:lnSpc>
            </a:pPr>
            <a:r>
              <a:rPr lang="zh-TW" altLang="en-US" sz="3400" b="0">
                <a:latin typeface="微軟正黑體"/>
                <a:ea typeface="微軟正黑體"/>
                <a:cs typeface="Arial"/>
              </a:rPr>
              <a:t>透過 </a:t>
            </a:r>
            <a:r>
              <a:rPr lang="zh-TW" altLang="en-US" sz="3400">
                <a:latin typeface="微軟正黑體"/>
                <a:ea typeface="微軟正黑體"/>
                <a:cs typeface="Arial"/>
              </a:rPr>
              <a:t>@pytest.fixture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 建立 fixture</a:t>
            </a:r>
            <a:endParaRPr lang="zh-TW" altLang="en-US" sz="3400" b="0" dirty="0">
              <a:latin typeface="微軟正黑體" pitchFamily="34" charset="-120"/>
            </a:endParaRPr>
          </a:p>
          <a:p>
            <a:pPr marL="421640" indent="-421640">
              <a:lnSpc>
                <a:spcPct val="90000"/>
              </a:lnSpc>
            </a:pPr>
            <a:r>
              <a:rPr lang="zh-TW" sz="3400" b="0">
                <a:latin typeface="微軟正黑體"/>
                <a:ea typeface="微軟正黑體"/>
                <a:cs typeface="Arial"/>
              </a:rPr>
              <a:t>於測試函式的參數部分打上 </a:t>
            </a:r>
            <a:r>
              <a:rPr lang="en-US" altLang="zh-TW" sz="3400" b="0" dirty="0">
                <a:latin typeface="微軟正黑體"/>
                <a:ea typeface="微軟正黑體"/>
                <a:cs typeface="Arial"/>
              </a:rPr>
              <a:t>f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ixture 名稱</a:t>
            </a:r>
            <a:endParaRPr lang="zh-TW"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</a:pPr>
            <a:endParaRPr lang="zh-TW" altLang="en-US" sz="3400" b="0" dirty="0">
              <a:latin typeface="微軟正黑體"/>
            </a:endParaRPr>
          </a:p>
          <a:p>
            <a:pPr marL="421640" indent="-421640"/>
            <a:endParaRPr lang="zh-TW" altLang="en-US" sz="34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464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A9A1-A0A9-EB4C-CF92-FE1F0C07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B73D-1C7C-165E-57BA-E26C8F7C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conftest.py</a:t>
            </a:r>
            <a:endParaRPr lang="zh-TW" altLang="en-US" dirty="0">
              <a:cs typeface="Arial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81B58A-E6F1-CC64-CE9C-AACA20E8F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c</a:t>
            </a:r>
            <a:r>
              <a:rPr lang="en-US" altLang="en-US" sz="3400" dirty="0">
                <a:latin typeface="Arial"/>
                <a:ea typeface="微軟正黑體"/>
                <a:cs typeface="Arial"/>
              </a:rPr>
              <a:t>on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ft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e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st</a:t>
            </a:r>
            <a:r>
              <a:rPr lang="en-US" altLang="zh-TW" sz="3400" dirty="0">
                <a:latin typeface="Arial"/>
                <a:ea typeface="微軟正黑體"/>
                <a:cs typeface="Arial"/>
              </a:rPr>
              <a:t>.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py 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的用途 : 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sz="2950" b="0">
                <a:latin typeface="微軟正黑體"/>
                <a:ea typeface="微軟正黑體"/>
                <a:cs typeface="Arial"/>
              </a:rPr>
              <a:t>可以將</a:t>
            </a:r>
            <a:r>
              <a:rPr lang="zh-TW" sz="2950">
                <a:latin typeface="微軟正黑體"/>
                <a:ea typeface="微軟正黑體"/>
                <a:cs typeface="Arial"/>
              </a:rPr>
              <a:t>fixture</a:t>
            </a:r>
            <a:r>
              <a:rPr lang="zh-TW" altLang="en-US" sz="2950">
                <a:latin typeface="微軟正黑體"/>
                <a:ea typeface="微軟正黑體"/>
                <a:cs typeface="Arial"/>
              </a:rPr>
              <a:t> </a:t>
            </a:r>
            <a:r>
              <a:rPr lang="zh-TW" altLang="en-US" sz="2950" b="0">
                <a:latin typeface="微軟正黑體"/>
                <a:ea typeface="微軟正黑體"/>
                <a:cs typeface="Arial"/>
              </a:rPr>
              <a:t>設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定在 </a:t>
            </a:r>
            <a:r>
              <a:rPr lang="zh-TW" sz="2950">
                <a:latin typeface="微軟正黑體"/>
                <a:ea typeface="微軟正黑體"/>
                <a:cs typeface="Arial"/>
              </a:rPr>
              <a:t>conftest.py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 以方便統一管理</a:t>
            </a:r>
            <a:endParaRPr lang="zh-TW" sz="295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sz="3400" b="0">
                <a:latin typeface="微軟正黑體"/>
                <a:ea typeface="微軟正黑體"/>
                <a:cs typeface="Arial"/>
              </a:rPr>
              <a:t>在 </a:t>
            </a:r>
            <a:r>
              <a:rPr lang="zh-TW" sz="3400">
                <a:latin typeface="微軟正黑體"/>
                <a:ea typeface="微軟正黑體"/>
                <a:cs typeface="Arial"/>
              </a:rPr>
              <a:t>conftest.</a:t>
            </a:r>
            <a:r>
              <a:rPr lang="en-US" altLang="zh-TW" sz="3400" dirty="0" err="1">
                <a:latin typeface="微軟正黑體"/>
                <a:ea typeface="微軟正黑體"/>
                <a:cs typeface="Arial"/>
              </a:rPr>
              <a:t>py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 中所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建立的 </a:t>
            </a:r>
            <a:r>
              <a:rPr lang="zh-TW" sz="3400">
                <a:latin typeface="微軟正黑體"/>
                <a:ea typeface="微軟正黑體"/>
                <a:cs typeface="Arial"/>
              </a:rPr>
              <a:t>fixture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, 會自動在測試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程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式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中直接進行使用</a:t>
            </a:r>
            <a:r>
              <a:rPr lang="en-US" altLang="zh-TW" sz="3400" b="0" dirty="0">
                <a:latin typeface="微軟正黑體"/>
                <a:ea typeface="微軟正黑體"/>
                <a:cs typeface="Arial"/>
              </a:rPr>
              <a:t>,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 不需要另外引入</a:t>
            </a:r>
            <a:endParaRPr lang="zh-TW"/>
          </a:p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conftest.py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的有效範圍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</p:txBody>
      </p:sp>
      <p:pic>
        <p:nvPicPr>
          <p:cNvPr id="4" name="圖片 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FC58BEE3-DAC2-5942-4595-90B8FE75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952" y="3580967"/>
            <a:ext cx="6432550" cy="2801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65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2DA11-5031-568E-5C9B-191A6CBF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33A3B-FFB4-BF8C-4BA5-D2ACF958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pytest.raises</a:t>
            </a:r>
            <a:endParaRPr lang="zh-TW" b="0" dirty="0" err="1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767382-B229-6C26-DC3E-F7FBCC6C3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pytest.raises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的用途 : </a:t>
            </a:r>
            <a:endParaRPr lang="zh-TW" altLang="en-US" sz="3400" b="0">
              <a:latin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en-US" altLang="zh-TW" sz="2950" err="1">
                <a:latin typeface="微軟正黑體"/>
                <a:ea typeface="微軟正黑體"/>
                <a:cs typeface="Arial"/>
              </a:rPr>
              <a:t>py</a:t>
            </a:r>
            <a:r>
              <a:rPr lang="zh-TW" sz="2950">
                <a:latin typeface="微軟正黑體"/>
                <a:ea typeface="微軟正黑體"/>
                <a:cs typeface="Arial"/>
              </a:rPr>
              <a:t>t</a:t>
            </a:r>
            <a:r>
              <a:rPr lang="en-US" altLang="zh-TW" sz="2950" dirty="0">
                <a:latin typeface="微軟正黑體"/>
                <a:ea typeface="微軟正黑體"/>
                <a:cs typeface="Arial"/>
              </a:rPr>
              <a:t>es</a:t>
            </a:r>
            <a:r>
              <a:rPr lang="zh-TW" sz="2950">
                <a:latin typeface="微軟正黑體"/>
                <a:ea typeface="微軟正黑體"/>
                <a:cs typeface="Arial"/>
              </a:rPr>
              <a:t>t</a:t>
            </a:r>
            <a:r>
              <a:rPr lang="en-US" altLang="zh-TW" sz="2950" dirty="0">
                <a:latin typeface="微軟正黑體"/>
                <a:ea typeface="微軟正黑體"/>
                <a:cs typeface="Arial"/>
              </a:rPr>
              <a:t>.</a:t>
            </a:r>
            <a:r>
              <a:rPr lang="en-US" altLang="zh-TW" sz="2950" err="1">
                <a:latin typeface="微軟正黑體"/>
                <a:ea typeface="微軟正黑體"/>
                <a:cs typeface="Arial"/>
              </a:rPr>
              <a:t>ra</a:t>
            </a:r>
            <a:r>
              <a:rPr lang="zh-TW" sz="2950">
                <a:latin typeface="微軟正黑體"/>
                <a:ea typeface="微軟正黑體"/>
                <a:cs typeface="Arial"/>
              </a:rPr>
              <a:t>i</a:t>
            </a:r>
            <a:r>
              <a:rPr lang="en-US" altLang="zh-TW" sz="2950" dirty="0">
                <a:latin typeface="微軟正黑體"/>
                <a:ea typeface="微軟正黑體"/>
                <a:cs typeface="Arial"/>
              </a:rPr>
              <a:t>s</a:t>
            </a:r>
            <a:r>
              <a:rPr lang="zh-TW" sz="2950">
                <a:latin typeface="微軟正黑體"/>
                <a:ea typeface="微軟正黑體"/>
                <a:cs typeface="Arial"/>
              </a:rPr>
              <a:t>e</a:t>
            </a:r>
            <a:r>
              <a:rPr lang="en-US" altLang="zh-TW" sz="2950" dirty="0">
                <a:latin typeface="微軟正黑體"/>
                <a:ea typeface="微軟正黑體"/>
                <a:cs typeface="Arial"/>
              </a:rPr>
              <a:t>s</a:t>
            </a:r>
            <a:r>
              <a:rPr lang="zh-TW" altLang="en-US" sz="2950" dirty="0">
                <a:latin typeface="微軟正黑體"/>
                <a:ea typeface="微軟正黑體"/>
                <a:cs typeface="Arial"/>
              </a:rPr>
              <a:t> </a:t>
            </a:r>
            <a:r>
              <a:rPr lang="zh-TW" altLang="en-US" sz="2950" b="0">
                <a:latin typeface="微軟正黑體"/>
                <a:ea typeface="微軟正黑體"/>
                <a:cs typeface="Arial"/>
              </a:rPr>
              <a:t>用來驗證常見預期內錯誤</a:t>
            </a:r>
            <a:endParaRPr lang="zh-TW" sz="2950" b="0">
              <a:latin typeface="微軟正黑體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 b="0">
                <a:latin typeface="微軟正黑體"/>
                <a:ea typeface="微軟正黑體"/>
                <a:cs typeface="Arial"/>
              </a:rPr>
              <a:t>建立context manager: </a:t>
            </a:r>
            <a:endParaRPr lang="zh-TW" altLang="en-US" sz="3400" b="0" dirty="0">
              <a:latin typeface="微軟正黑體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altLang="en-US" sz="2950">
                <a:latin typeface="微軟正黑體"/>
                <a:ea typeface="微軟正黑體"/>
                <a:cs typeface="Arial"/>
              </a:rPr>
              <a:t>with pytest.raises(Exception) as exc_info </a:t>
            </a:r>
          </a:p>
          <a:p>
            <a:pPr marL="1219200" lvl="2" indent="-339725">
              <a:lnSpc>
                <a:spcPct val="90000"/>
              </a:lnSpc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450" b="0">
                <a:latin typeface="微軟正黑體"/>
                <a:ea typeface="微軟正黑體"/>
                <a:cs typeface="Arial"/>
              </a:rPr>
              <a:t>並在其scope中置入預計會出錯的測試程式</a:t>
            </a:r>
            <a:endParaRPr lang="zh-TW" sz="245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sz="3400" b="0" dirty="0">
              <a:latin typeface="微軟正黑體"/>
            </a:endParaRPr>
          </a:p>
          <a:p>
            <a:pPr marL="421640" indent="-421640">
              <a:lnSpc>
                <a:spcPct val="90000"/>
              </a:lnSpc>
            </a:pPr>
            <a:endParaRPr lang="zh-TW" sz="3400" b="0" dirty="0">
              <a:latin typeface="微軟正黑體"/>
            </a:endParaRPr>
          </a:p>
          <a:p>
            <a:pPr marL="421640" indent="-421640"/>
            <a:endParaRPr lang="zh-TW" altLang="en-US" sz="34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174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4715-A13F-3A16-9C50-3CD12A73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87E5-B6F7-DA21-3736-2634BAAC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skip</a:t>
            </a:r>
            <a:endParaRPr 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5646684-69F7-B760-226A-E81778EFF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Microsoft JhengHei"/>
                <a:ea typeface="Microsoft JhengHei"/>
                <a:cs typeface="Arial"/>
              </a:rPr>
              <a:t>pytest.mark.skip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的用途: 跳過測試</a:t>
            </a: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sz="3400">
                <a:latin typeface="微軟正黑體"/>
                <a:ea typeface="微軟正黑體"/>
                <a:cs typeface="Arial"/>
              </a:rPr>
              <a:t>pytest.mark.skipif</a:t>
            </a:r>
            <a:r>
              <a:rPr lang="zh-TW" sz="3400" b="0">
                <a:latin typeface="微軟正黑體"/>
                <a:ea typeface="微軟正黑體"/>
                <a:cs typeface="Arial"/>
              </a:rPr>
              <a:t> 的用途 : 依照條件決定是否跳過測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試</a:t>
            </a:r>
            <a:endParaRPr lang="en-US" altLang="zh-TW" sz="3400" b="0">
              <a:latin typeface="微軟正黑體"/>
            </a:endParaRPr>
          </a:p>
          <a:p>
            <a:pPr marL="421640" indent="-421640">
              <a:lnSpc>
                <a:spcPct val="90000"/>
              </a:lnSpc>
            </a:pPr>
            <a:r>
              <a:rPr lang="zh-TW" altLang="en-US" sz="3400" b="0">
                <a:latin typeface="微軟正黑體"/>
                <a:ea typeface="微軟正黑體"/>
                <a:cs typeface="Arial"/>
              </a:rPr>
              <a:t>在測試程式上加上: </a:t>
            </a:r>
            <a:r>
              <a:rPr lang="zh-TW" altLang="en-US" sz="3400">
                <a:latin typeface="微軟正黑體"/>
                <a:ea typeface="微軟正黑體"/>
                <a:cs typeface="Arial"/>
              </a:rPr>
              <a:t>@pytest.mark.skip() </a:t>
            </a:r>
            <a:r>
              <a:rPr lang="zh-TW" altLang="en-US" sz="3400" b="0">
                <a:latin typeface="微軟正黑體"/>
                <a:ea typeface="微軟正黑體"/>
                <a:cs typeface="Arial"/>
              </a:rPr>
              <a:t>or </a:t>
            </a:r>
            <a:r>
              <a:rPr lang="zh-TW" altLang="en-US" sz="3400">
                <a:latin typeface="微軟正黑體"/>
                <a:ea typeface="微軟正黑體"/>
                <a:cs typeface="Arial"/>
              </a:rPr>
              <a:t>@pytest.mark.skipif()</a:t>
            </a:r>
          </a:p>
          <a:p>
            <a:pPr marL="878840" lvl="1" indent="-433705">
              <a:lnSpc>
                <a:spcPct val="90000"/>
              </a:lnSpc>
            </a:pPr>
            <a:r>
              <a:rPr lang="zh-TW" altLang="en-US" sz="2950" b="0">
                <a:latin typeface="微軟正黑體"/>
                <a:ea typeface="微軟正黑體"/>
                <a:cs typeface="Arial"/>
              </a:rPr>
              <a:t>藉參數</a:t>
            </a:r>
            <a:r>
              <a:rPr lang="zh-TW" altLang="en-US" sz="2950">
                <a:latin typeface="微軟正黑體"/>
                <a:ea typeface="微軟正黑體"/>
                <a:cs typeface="Arial"/>
              </a:rPr>
              <a:t>reason</a:t>
            </a:r>
            <a:r>
              <a:rPr lang="zh-TW" altLang="en-US" sz="2950" b="0">
                <a:latin typeface="微軟正黑體"/>
                <a:ea typeface="微軟正黑體"/>
                <a:cs typeface="Arial"/>
              </a:rPr>
              <a:t>設定跳過的說明</a:t>
            </a:r>
            <a:endParaRPr lang="zh-TW" altLang="en-US" sz="2950" b="0" dirty="0">
              <a:latin typeface="微軟正黑體"/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200" b="0">
                <a:latin typeface="微軟正黑體"/>
                <a:ea typeface="微軟正黑體"/>
                <a:cs typeface="Arial"/>
              </a:rPr>
              <a:t>執行測試時, 會將跳過的說明列印出來</a:t>
            </a:r>
          </a:p>
          <a:p>
            <a:pPr marL="878840" lvl="1" indent="-433705">
              <a:lnSpc>
                <a:spcPct val="90000"/>
              </a:lnSpc>
              <a:buClr>
                <a:srgbClr val="42BBC6"/>
              </a:buClr>
            </a:pPr>
            <a:r>
              <a:rPr lang="zh-TW" altLang="en-US" sz="3000">
                <a:latin typeface="Microsoft JhengHei"/>
                <a:ea typeface="Microsoft JhengHei"/>
                <a:cs typeface="Arial"/>
              </a:rPr>
              <a:t>$ pytest –r s test_xxx.py</a:t>
            </a:r>
            <a:endParaRPr lang="zh-TW" altLang="en-US" sz="3000" dirty="0">
              <a:latin typeface="Microsoft JhengHei"/>
              <a:ea typeface="Microsoft JhengHei"/>
              <a:cs typeface="Arial"/>
            </a:endParaRPr>
          </a:p>
          <a:p>
            <a:pPr marL="421640" indent="-421640">
              <a:lnSpc>
                <a:spcPct val="90000"/>
              </a:lnSpc>
            </a:pPr>
            <a:endParaRPr lang="zh-TW" altLang="en-US" sz="3400" b="0" dirty="0">
              <a:latin typeface="微軟正黑體" pitchFamily="34" charset="-120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altLang="en-US" sz="34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EBD0-2DD4-7087-89BC-F9F36CF3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8A43-6C78-2286-6D08-CDCC78CA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parametrize</a:t>
            </a:r>
            <a:endParaRPr 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D1D6E89-B18B-B505-36C4-C92D61FED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400">
                <a:latin typeface="Arial"/>
                <a:ea typeface="微軟正黑體"/>
                <a:cs typeface="Arial"/>
              </a:rPr>
              <a:t>pytest.mark.p</a:t>
            </a:r>
            <a:r>
              <a:rPr lang="en-US" altLang="en-US" sz="3400" err="1">
                <a:latin typeface="Arial"/>
                <a:ea typeface="微軟正黑體"/>
                <a:cs typeface="Arial"/>
              </a:rPr>
              <a:t>aram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etri</a:t>
            </a:r>
            <a:r>
              <a:rPr lang="en-US" altLang="en-US" sz="3400" dirty="0">
                <a:latin typeface="Arial"/>
                <a:ea typeface="微軟正黑體"/>
                <a:cs typeface="Arial"/>
              </a:rPr>
              <a:t>ze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 的用途:</a:t>
            </a:r>
            <a:endParaRPr lang="zh-TW"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要對同一個測試程式進行多個參數組合的測試時, 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pytest.mark.parametrize 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可以用來進行參數化</a:t>
            </a:r>
            <a:endParaRPr lang="zh-TW" sz="2950">
              <a:ea typeface="微軟正黑體"/>
              <a:cs typeface="Arial"/>
            </a:endParaRP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400" b="0">
                <a:latin typeface="Arial"/>
                <a:ea typeface="微軟正黑體"/>
                <a:cs typeface="Arial"/>
              </a:rPr>
              <a:t>在測試程式上加上: </a:t>
            </a:r>
            <a:r>
              <a:rPr lang="zh-TW" altLang="en-US" sz="3400">
                <a:latin typeface="Arial"/>
                <a:ea typeface="微軟正黑體"/>
                <a:cs typeface="Arial"/>
              </a:rPr>
              <a:t>@pytest.mark.parametrize()</a:t>
            </a:r>
            <a:endParaRPr lang="zh-TW" altLang="en-US" sz="34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sz="2950" b="0">
                <a:latin typeface="微軟正黑體"/>
                <a:ea typeface="微軟正黑體"/>
                <a:cs typeface="Arial"/>
              </a:rPr>
              <a:t>透過</a:t>
            </a:r>
            <a:r>
              <a:rPr lang="zh-TW" sz="2950">
                <a:latin typeface="微軟正黑體"/>
                <a:ea typeface="微軟正黑體"/>
                <a:cs typeface="Arial"/>
              </a:rPr>
              <a:t>argnames 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: 設定fixture</a:t>
            </a:r>
            <a:endParaRPr lang="zh-TW" sz="2950"/>
          </a:p>
          <a:p>
            <a:pPr marL="878840" lvl="1" indent="-433705">
              <a:lnSpc>
                <a:spcPct val="90000"/>
              </a:lnSpc>
            </a:pPr>
            <a:r>
              <a:rPr lang="zh-TW" sz="2950" b="0">
                <a:latin typeface="微軟正黑體"/>
                <a:ea typeface="微軟正黑體"/>
                <a:cs typeface="Arial"/>
              </a:rPr>
              <a:t>透過</a:t>
            </a:r>
            <a:r>
              <a:rPr lang="zh-TW" sz="2950">
                <a:latin typeface="微軟正黑體"/>
                <a:ea typeface="微軟正黑體"/>
                <a:cs typeface="Arial"/>
              </a:rPr>
              <a:t>argvalues 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: 設定參數組合</a:t>
            </a:r>
            <a:endParaRPr lang="zh-TW" sz="2950"/>
          </a:p>
          <a:p>
            <a:pPr marL="878840" lvl="1" indent="-433705">
              <a:lnSpc>
                <a:spcPct val="90000"/>
              </a:lnSpc>
            </a:pPr>
            <a:r>
              <a:rPr lang="zh-TW" sz="2950" b="0">
                <a:latin typeface="微軟正黑體"/>
                <a:ea typeface="微軟正黑體"/>
                <a:cs typeface="Arial"/>
              </a:rPr>
              <a:t>透過</a:t>
            </a:r>
            <a:r>
              <a:rPr lang="zh-TW" sz="2950">
                <a:latin typeface="微軟正黑體"/>
                <a:ea typeface="微軟正黑體"/>
                <a:cs typeface="Arial"/>
              </a:rPr>
              <a:t>ids</a:t>
            </a:r>
            <a:r>
              <a:rPr lang="zh-TW" sz="2950" b="0">
                <a:latin typeface="微軟正黑體"/>
                <a:ea typeface="微軟正黑體"/>
                <a:cs typeface="Arial"/>
              </a:rPr>
              <a:t>: 設定參數組合的編號</a:t>
            </a:r>
            <a:endParaRPr lang="zh-TW" sz="295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altLang="en-US" sz="3400" b="0" dirty="0"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612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02E94-11FE-28DF-7A35-2E279526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3A0C-537C-7BB3-97E3-CDEAAA0D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mock</a:t>
            </a:r>
            <a:endParaRPr lang="en-US" alt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EDEB972-21B8-EA7A-3701-0CF5880A6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>
              <a:lnSpc>
                <a:spcPct val="90000"/>
              </a:lnSpc>
            </a:pPr>
            <a:r>
              <a:rPr lang="zh-TW" altLang="en-US" sz="3200" b="0">
                <a:latin typeface="Arial"/>
                <a:ea typeface="微軟正黑體"/>
                <a:cs typeface="Arial"/>
              </a:rPr>
              <a:t>mocker.p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a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tch() 的用途:</a:t>
            </a:r>
            <a:endParaRPr lang="zh-TW" sz="3200"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altLang="en-US" sz="2950" b="0">
                <a:latin typeface="Arial"/>
                <a:ea typeface="微軟正黑體"/>
                <a:cs typeface="Arial"/>
              </a:rPr>
              <a:t> 將「匯入路徑存取的＂模組、類別或物件上的屬性＂」取代掉</a:t>
            </a:r>
            <a:r>
              <a:rPr lang="en-US" altLang="en-US" sz="2950" b="0" dirty="0">
                <a:latin typeface="Arial"/>
                <a:ea typeface="微軟正黑體"/>
                <a:cs typeface="Arial"/>
              </a:rPr>
              <a:t>,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藉此在測試過程中避開不需要部分程式碼</a:t>
            </a:r>
          </a:p>
          <a:p>
            <a:pPr marL="1219200" lvl="2" indent="-339725">
              <a:lnSpc>
                <a:spcPct val="90000"/>
              </a:lnSpc>
              <a:buClr>
                <a:srgbClr val="F0591B"/>
              </a:buClr>
              <a:buFont typeface="Wingdings" pitchFamily="34" charset="0"/>
              <a:buChar char="§"/>
            </a:pPr>
            <a:r>
              <a:rPr lang="zh-TW" sz="3000">
                <a:latin typeface="Arial"/>
                <a:ea typeface="微軟正黑體"/>
                <a:cs typeface="Arial"/>
              </a:rPr>
              <a:t>attributes on modules, classes, or objects that ar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e</a:t>
            </a:r>
            <a:r>
              <a:rPr lang="zh-TW" sz="3000">
                <a:latin typeface="Arial"/>
                <a:ea typeface="微軟正黑體"/>
                <a:cs typeface="Arial"/>
              </a:rPr>
              <a:t> a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cc</a:t>
            </a:r>
            <a:r>
              <a:rPr lang="zh-TW" sz="3000">
                <a:latin typeface="Arial"/>
                <a:ea typeface="微軟正黑體"/>
                <a:cs typeface="Arial"/>
              </a:rPr>
              <a:t>es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s</a:t>
            </a:r>
            <a:r>
              <a:rPr lang="zh-TW" sz="3000">
                <a:latin typeface="Arial"/>
                <a:ea typeface="微軟正黑體"/>
                <a:cs typeface="Arial"/>
              </a:rPr>
              <a:t>i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bl</a:t>
            </a:r>
            <a:r>
              <a:rPr lang="zh-TW" sz="3000">
                <a:latin typeface="Arial"/>
                <a:ea typeface="微軟正黑體"/>
                <a:cs typeface="Arial"/>
              </a:rPr>
              <a:t>e 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vi</a:t>
            </a:r>
            <a:r>
              <a:rPr lang="zh-TW" sz="3000">
                <a:latin typeface="Arial"/>
                <a:ea typeface="微軟正黑體"/>
                <a:cs typeface="Arial"/>
              </a:rPr>
              <a:t>a </a:t>
            </a:r>
            <a:r>
              <a:rPr lang="en-US" altLang="zh-TW" sz="3000" dirty="0" err="1">
                <a:latin typeface="Arial"/>
                <a:ea typeface="微軟正黑體"/>
                <a:cs typeface="Arial"/>
              </a:rPr>
              <a:t>impo</a:t>
            </a:r>
            <a:r>
              <a:rPr lang="zh-TW" sz="3000">
                <a:latin typeface="Arial"/>
                <a:ea typeface="微軟正黑體"/>
                <a:cs typeface="Arial"/>
              </a:rPr>
              <a:t>r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t</a:t>
            </a:r>
            <a:r>
              <a:rPr lang="zh-TW" sz="300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000" dirty="0">
                <a:latin typeface="Arial"/>
                <a:ea typeface="微軟正黑體"/>
                <a:cs typeface="Arial"/>
              </a:rPr>
              <a:t>p</a:t>
            </a:r>
            <a:r>
              <a:rPr lang="zh-TW" sz="3000">
                <a:latin typeface="Arial"/>
                <a:ea typeface="微軟正黑體"/>
                <a:cs typeface="Arial"/>
              </a:rPr>
              <a:t>a</a:t>
            </a:r>
            <a:r>
              <a:rPr lang="en-US" altLang="zh-TW" sz="3000" dirty="0" err="1">
                <a:latin typeface="Arial"/>
                <a:ea typeface="微軟正黑體"/>
                <a:cs typeface="Arial"/>
              </a:rPr>
              <a:t>th</a:t>
            </a:r>
            <a:r>
              <a:rPr lang="zh-TW" sz="3000">
                <a:latin typeface="Arial"/>
                <a:ea typeface="微軟正黑體"/>
                <a:cs typeface="Arial"/>
              </a:rPr>
              <a:t>s</a:t>
            </a:r>
            <a:endParaRPr lang="en-US" altLang="zh-TW" sz="300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lnSpc>
                <a:spcPct val="90000"/>
              </a:lnSpc>
            </a:pPr>
            <a:r>
              <a:rPr lang="zh-TW" altLang="en-US" sz="3200" b="0">
                <a:latin typeface="Arial"/>
                <a:ea typeface="微軟正黑體"/>
                <a:cs typeface="Arial"/>
              </a:rPr>
              <a:t>要先安裝: </a:t>
            </a:r>
            <a:r>
              <a:rPr lang="zh-TW" altLang="en-US" sz="3200">
                <a:latin typeface="Arial"/>
                <a:ea typeface="微軟正黑體"/>
                <a:cs typeface="Arial"/>
              </a:rPr>
              <a:t>pytest-mock</a:t>
            </a:r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200" b="0">
                <a:latin typeface="Arial"/>
                <a:ea typeface="微軟正黑體"/>
                <a:cs typeface="Arial"/>
              </a:rPr>
              <a:t>在測試程式參數部分打上 </a:t>
            </a:r>
            <a:r>
              <a:rPr lang="en-US" altLang="zh-TW" sz="3200" dirty="0">
                <a:latin typeface="Arial"/>
                <a:ea typeface="微軟正黑體"/>
                <a:cs typeface="Arial"/>
              </a:rPr>
              <a:t>mocker</a:t>
            </a:r>
            <a:r>
              <a:rPr lang="zh-TW" altLang="en-US" sz="3200">
                <a:latin typeface="Arial"/>
                <a:ea typeface="微軟正黑體"/>
                <a:cs typeface="Arial"/>
              </a:rPr>
              <a:t> 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參數 </a:t>
            </a:r>
          </a:p>
          <a:p>
            <a:pPr marL="878840" lvl="1" indent="-433705">
              <a:lnSpc>
                <a:spcPct val="90000"/>
              </a:lnSpc>
            </a:pPr>
            <a:r>
              <a:rPr lang="zh-TW" altLang="en-US" sz="3000" b="0">
                <a:latin typeface="微軟正黑體"/>
                <a:ea typeface="微軟正黑體"/>
                <a:cs typeface="Arial"/>
              </a:rPr>
              <a:t>一定要叫</a:t>
            </a:r>
            <a:r>
              <a:rPr lang="en-US" altLang="zh-TW" sz="3000" dirty="0">
                <a:latin typeface="微軟正黑體"/>
                <a:ea typeface="微軟正黑體"/>
                <a:cs typeface="Arial"/>
              </a:rPr>
              <a:t>mocker</a:t>
            </a:r>
            <a:r>
              <a:rPr lang="zh-TW" altLang="en-US" sz="3000" dirty="0">
                <a:latin typeface="微軟正黑體"/>
                <a:ea typeface="微軟正黑體"/>
                <a:cs typeface="Arial"/>
              </a:rPr>
              <a:t> </a:t>
            </a:r>
            <a:r>
              <a:rPr lang="en-US" altLang="zh-TW" sz="3000" b="0" dirty="0">
                <a:latin typeface="微軟正黑體"/>
                <a:ea typeface="微軟正黑體"/>
                <a:cs typeface="Arial"/>
              </a:rPr>
              <a:t>(</a:t>
            </a:r>
            <a:r>
              <a:rPr lang="en-US" altLang="zh-TW" sz="3000" b="0" err="1">
                <a:latin typeface="微軟正黑體"/>
                <a:ea typeface="微軟正黑體"/>
                <a:cs typeface="Arial"/>
              </a:rPr>
              <a:t>它是一個fixture</a:t>
            </a:r>
            <a:r>
              <a:rPr lang="en-US" altLang="zh-TW" sz="3000" b="0" dirty="0">
                <a:latin typeface="微軟正黑體"/>
                <a:ea typeface="微軟正黑體"/>
                <a:cs typeface="Arial"/>
              </a:rPr>
              <a:t>, </a:t>
            </a:r>
            <a:r>
              <a:rPr lang="en-US" altLang="zh-TW" sz="3000" b="0" err="1">
                <a:latin typeface="微軟正黑體"/>
                <a:ea typeface="微軟正黑體"/>
                <a:cs typeface="Arial"/>
              </a:rPr>
              <a:t>由pytest-mock提供</a:t>
            </a:r>
            <a:r>
              <a:rPr lang="en-US" altLang="zh-TW" sz="3000" b="0" dirty="0">
                <a:latin typeface="微軟正黑體"/>
                <a:ea typeface="微軟正黑體"/>
                <a:cs typeface="Arial"/>
              </a:rPr>
              <a:t>)</a:t>
            </a:r>
            <a:endParaRPr lang="zh-TW" altLang="en-US" sz="3000" b="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r>
              <a:rPr lang="zh-TW" altLang="en-US" sz="3200" b="0">
                <a:latin typeface="微軟正黑體"/>
                <a:ea typeface="微軟正黑體"/>
                <a:cs typeface="Arial"/>
              </a:rPr>
              <a:t>於測試程式內使用 </a:t>
            </a:r>
            <a:r>
              <a:rPr lang="en-US" altLang="zh-TW" sz="3200" err="1">
                <a:latin typeface="微軟正黑體"/>
                <a:ea typeface="微軟正黑體"/>
                <a:cs typeface="Arial"/>
              </a:rPr>
              <a:t>mocker.patch</a:t>
            </a:r>
            <a:r>
              <a:rPr lang="en-US" altLang="zh-TW" sz="3200" dirty="0">
                <a:latin typeface="微軟正黑體"/>
                <a:ea typeface="微軟正黑體"/>
                <a:cs typeface="Arial"/>
              </a:rPr>
              <a:t>()</a:t>
            </a:r>
            <a:r>
              <a:rPr lang="zh-TW" altLang="en-US" sz="3200" b="0">
                <a:latin typeface="微軟正黑體"/>
                <a:ea typeface="微軟正黑體"/>
                <a:cs typeface="Arial"/>
              </a:rPr>
              <a:t> 進行屬性替換</a:t>
            </a:r>
            <a:endParaRPr lang="zh-TW" altLang="en-US" sz="3200"/>
          </a:p>
          <a:p>
            <a:pPr marL="421640" indent="-421640">
              <a:lnSpc>
                <a:spcPct val="90000"/>
              </a:lnSpc>
              <a:buClr>
                <a:srgbClr val="E1CB1A"/>
              </a:buClr>
            </a:pPr>
            <a:endParaRPr lang="zh-TW" sz="3950" b="0" dirty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5336056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10</Slides>
  <Notes>10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2019簡報範本_light</vt:lpstr>
      <vt:lpstr>Pytest</vt:lpstr>
      <vt:lpstr>pytest 基礎操作</vt:lpstr>
      <vt:lpstr>測試資料的擺放方式</vt:lpstr>
      <vt:lpstr>setup 和 teardown</vt:lpstr>
      <vt:lpstr>fixture</vt:lpstr>
      <vt:lpstr>conftest.py</vt:lpstr>
      <vt:lpstr>pytest.raises</vt:lpstr>
      <vt:lpstr>skip</vt:lpstr>
      <vt:lpstr>parametrize</vt:lpstr>
      <vt:lpstr>mock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262</cp:revision>
  <cp:lastPrinted>2019-04-29T05:54:36Z</cp:lastPrinted>
  <dcterms:created xsi:type="dcterms:W3CDTF">2019-04-17T09:27:11Z</dcterms:created>
  <dcterms:modified xsi:type="dcterms:W3CDTF">2026-06-13T08:31:23Z</dcterms:modified>
  <cp:category>淺色</cp:category>
</cp:coreProperties>
</file>