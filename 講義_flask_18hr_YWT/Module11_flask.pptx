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331" r:id="rId2"/>
    <p:sldId id="424" r:id="rId3"/>
    <p:sldId id="422" r:id="rId4"/>
    <p:sldId id="258" r:id="rId5"/>
    <p:sldId id="259" r:id="rId6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&#27231;&#22120;&#23416;&#32722;-&#22522;&#30990;&#25976;&#23416;-&#19977;-&#26799;&#24230;&#26368;&#20339;&#35299;&#30456;&#38364;&#31639;&#27861;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&#27231;&#22120;&#23416;&#32722;-&#22522;&#30990;&#25976;&#23416;-&#19977;-&#26799;&#24230;&#26368;&#20339;&#35299;&#30456;&#38364;&#31639;&#27861;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  <a:prstGeom prst="rect">
            <a:avLst/>
          </a:prstGeom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91080" y="4609800"/>
            <a:ext cx="6622560" cy="35002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81" name="TextShape 3"/>
          <p:cNvSpPr txBox="1"/>
          <p:nvPr/>
        </p:nvSpPr>
        <p:spPr>
          <a:xfrm>
            <a:off x="0" y="9441000"/>
            <a:ext cx="3763440" cy="496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© Institute for Information Industry. All rights reserved. </a:t>
            </a:r>
            <a:endParaRPr lang="en-US" sz="1100" b="0" strike="noStrike" spc="-1">
              <a:latin typeface="Times New Roman"/>
            </a:endParaRPr>
          </a:p>
        </p:txBody>
      </p:sp>
      <p:sp>
        <p:nvSpPr>
          <p:cNvPr id="182" name="TextShape 4"/>
          <p:cNvSpPr txBox="1"/>
          <p:nvPr/>
        </p:nvSpPr>
        <p:spPr>
          <a:xfrm>
            <a:off x="3855960" y="9441000"/>
            <a:ext cx="2949120" cy="496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1-</a:t>
            </a:r>
            <a:fld id="{02E71CF8-9ED5-4B87-A622-580844176E0D}" type="slidenum">
              <a:rPr lang="en-US" sz="1200" b="0" strike="noStrike" spc="-1">
                <a:solidFill>
                  <a:srgbClr val="000000"/>
                </a:solidFill>
                <a:latin typeface="Arial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83" name="CustomShape 5"/>
          <p:cNvSpPr/>
          <p:nvPr/>
        </p:nvSpPr>
        <p:spPr>
          <a:xfrm>
            <a:off x="91080" y="8354160"/>
            <a:ext cx="6622560" cy="63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28600" indent="-228240">
              <a:lnSpc>
                <a:spcPct val="100000"/>
              </a:lnSpc>
              <a:buClr>
                <a:srgbClr val="0000FF"/>
              </a:buClr>
              <a:buFont typeface="StarSymbol"/>
              <a:buAutoNum type="arabicPeriod"/>
            </a:pPr>
            <a:r>
              <a:rPr lang="en-US" sz="1200" b="0" strike="noStrike" spc="-1">
                <a:solidFill>
                  <a:srgbClr val="0000FF"/>
                </a:solidFill>
                <a:latin typeface="+mn-lt"/>
                <a:ea typeface="+mn-ea"/>
              </a:rPr>
              <a:t>Backpropagation</a:t>
            </a:r>
            <a:r>
              <a:rPr lang="zh-TW" sz="1200" b="0" strike="noStrike" spc="-1">
                <a:solidFill>
                  <a:srgbClr val="0000FF"/>
                </a:solidFill>
                <a:latin typeface="+mn-lt"/>
                <a:ea typeface="+mn-ea"/>
              </a:rPr>
              <a:t>是一種與最優化方結合使用的，用來訓練神經網路的常見方法</a:t>
            </a:r>
            <a:endParaRPr lang="en-US" sz="1200" b="0" strike="noStrike" spc="-1">
              <a:latin typeface="Arial"/>
            </a:endParaRPr>
          </a:p>
          <a:p>
            <a:pPr marL="228600" indent="-2282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200" b="0" u="sng" strike="noStrike" spc="-1">
                <a:solidFill>
                  <a:srgbClr val="000000"/>
                </a:solidFill>
                <a:uFillTx/>
                <a:latin typeface="+mn-lt"/>
                <a:ea typeface="+mn-ea"/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sz="1200" b="0" strike="noStrike" spc="-1">
              <a:latin typeface="Arial"/>
            </a:endParaRPr>
          </a:p>
          <a:p>
            <a:pPr marL="228600" indent="-228240">
              <a:lnSpc>
                <a:spcPct val="100000"/>
              </a:lnSpc>
              <a:buClr>
                <a:srgbClr val="0000FF"/>
              </a:buClr>
              <a:buFont typeface="StarSymbol"/>
              <a:buAutoNum type="arabicPeriod"/>
            </a:pPr>
            <a:r>
              <a:rPr lang="en-US" sz="1200" b="0" strike="noStrike" spc="-1">
                <a:solidFill>
                  <a:srgbClr val="0000FF"/>
                </a:solidFill>
                <a:latin typeface="+mn-lt"/>
                <a:ea typeface="+mn-ea"/>
              </a:rPr>
              <a:t>Learning rate </a:t>
            </a:r>
            <a:r>
              <a:rPr lang="zh-TW" sz="1200" b="0" strike="noStrike" spc="-1">
                <a:solidFill>
                  <a:srgbClr val="0000FF"/>
                </a:solidFill>
                <a:latin typeface="+mn-lt"/>
                <a:ea typeface="+mn-ea"/>
              </a:rPr>
              <a:t>調整會對訓練有很大影響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  <a:prstGeom prst="rect">
            <a:avLst/>
          </a:prstGeom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91080" y="4609800"/>
            <a:ext cx="6622560" cy="35002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86" name="TextShape 3"/>
          <p:cNvSpPr txBox="1"/>
          <p:nvPr/>
        </p:nvSpPr>
        <p:spPr>
          <a:xfrm>
            <a:off x="0" y="9441000"/>
            <a:ext cx="3763440" cy="496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© Institute for Information Industry. All rights reserved. </a:t>
            </a:r>
            <a:endParaRPr lang="en-US" sz="1100" b="0" strike="noStrike" spc="-1">
              <a:latin typeface="Times New Roman"/>
            </a:endParaRPr>
          </a:p>
        </p:txBody>
      </p:sp>
      <p:sp>
        <p:nvSpPr>
          <p:cNvPr id="187" name="TextShape 4"/>
          <p:cNvSpPr txBox="1"/>
          <p:nvPr/>
        </p:nvSpPr>
        <p:spPr>
          <a:xfrm>
            <a:off x="3855960" y="9441000"/>
            <a:ext cx="2949120" cy="496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1-</a:t>
            </a:r>
            <a:fld id="{D2B4FAB9-1E01-42CE-AEF4-92D216E7EA80}" type="slidenum">
              <a:rPr lang="en-US" sz="1200" b="0" strike="noStrike" spc="-1">
                <a:solidFill>
                  <a:srgbClr val="000000"/>
                </a:solidFill>
                <a:latin typeface="Arial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88" name="CustomShape 5"/>
          <p:cNvSpPr/>
          <p:nvPr/>
        </p:nvSpPr>
        <p:spPr>
          <a:xfrm>
            <a:off x="91080" y="8354160"/>
            <a:ext cx="6622560" cy="63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28600" indent="-228240">
              <a:lnSpc>
                <a:spcPct val="100000"/>
              </a:lnSpc>
              <a:buClr>
                <a:srgbClr val="0000FF"/>
              </a:buClr>
              <a:buFont typeface="StarSymbol"/>
              <a:buAutoNum type="arabicPeriod"/>
            </a:pPr>
            <a:r>
              <a:rPr lang="en-US" sz="1200" b="0" strike="noStrike" spc="-1">
                <a:solidFill>
                  <a:srgbClr val="0000FF"/>
                </a:solidFill>
                <a:latin typeface="+mn-lt"/>
                <a:ea typeface="+mn-ea"/>
              </a:rPr>
              <a:t>Backpropagation</a:t>
            </a:r>
            <a:r>
              <a:rPr lang="zh-TW" sz="1200" b="0" strike="noStrike" spc="-1">
                <a:solidFill>
                  <a:srgbClr val="0000FF"/>
                </a:solidFill>
                <a:latin typeface="+mn-lt"/>
                <a:ea typeface="+mn-ea"/>
              </a:rPr>
              <a:t>是一種與最優化方結合使用的，用來訓練神經網路的常見方法</a:t>
            </a:r>
            <a:endParaRPr lang="en-US" sz="1200" b="0" strike="noStrike" spc="-1">
              <a:latin typeface="Arial"/>
            </a:endParaRPr>
          </a:p>
          <a:p>
            <a:pPr marL="228600" indent="-2282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200" b="0" u="sng" strike="noStrike" spc="-1">
                <a:solidFill>
                  <a:srgbClr val="000000"/>
                </a:solidFill>
                <a:uFillTx/>
                <a:latin typeface="+mn-lt"/>
                <a:ea typeface="+mn-ea"/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sz="1200" b="0" strike="noStrike" spc="-1">
              <a:latin typeface="Arial"/>
            </a:endParaRPr>
          </a:p>
          <a:p>
            <a:pPr marL="228600" indent="-228240">
              <a:lnSpc>
                <a:spcPct val="100000"/>
              </a:lnSpc>
              <a:buClr>
                <a:srgbClr val="0000FF"/>
              </a:buClr>
              <a:buFont typeface="StarSymbol"/>
              <a:buAutoNum type="arabicPeriod"/>
            </a:pPr>
            <a:r>
              <a:rPr lang="en-US" sz="1200" b="0" strike="noStrike" spc="-1">
                <a:solidFill>
                  <a:srgbClr val="0000FF"/>
                </a:solidFill>
                <a:latin typeface="+mn-lt"/>
                <a:ea typeface="+mn-ea"/>
              </a:rPr>
              <a:t>Learning rate </a:t>
            </a:r>
            <a:r>
              <a:rPr lang="zh-TW" sz="1200" b="0" strike="noStrike" spc="-1">
                <a:solidFill>
                  <a:srgbClr val="0000FF"/>
                </a:solidFill>
                <a:latin typeface="+mn-lt"/>
                <a:ea typeface="+mn-ea"/>
              </a:rPr>
              <a:t>調整會對訓練有很大影響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16000"/>
            <a:ext cx="11102760" cy="54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717171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980640"/>
            <a:ext cx="5418000" cy="5300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98920" y="980640"/>
            <a:ext cx="5418000" cy="5300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1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080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4" r:id="rId12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5000" b="1" strike="noStrike" spc="367">
                <a:solidFill>
                  <a:srgbClr val="0000FF"/>
                </a:solidFill>
                <a:latin typeface="Arial"/>
                <a:ea typeface="微軟正黑體"/>
              </a:rPr>
              <a:t>MVC</a:t>
            </a:r>
            <a:endParaRPr lang="en-US" altLang="en-US" err="1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A4DF13A-3ED4-4BEB-970D-CF26B6874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>
                <a:solidFill>
                  <a:srgbClr val="0000FF"/>
                </a:solidFill>
                <a:latin typeface="Georgia"/>
                <a:ea typeface="標楷體"/>
              </a:rPr>
              <a:t>Module 11</a:t>
            </a:r>
            <a:endParaRPr lang="zh-TW" altLang="zh-TW" sz="2400" i="1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3908C3-29D6-4D59-8C51-F86EF134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strike="noStrike" spc="367">
                <a:solidFill>
                  <a:srgbClr val="FF0000"/>
                </a:solidFill>
                <a:latin typeface="Arial"/>
                <a:ea typeface="微軟正黑體"/>
              </a:rPr>
              <a:t>MVC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70C4E0-9603-4064-9587-DC81F54C5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0" strike="noStrike" spc="-1">
                <a:solidFill>
                  <a:schemeClr val="bg1"/>
                </a:solidFill>
                <a:latin typeface="Arial"/>
              </a:rPr>
              <a:t>Model – </a:t>
            </a:r>
            <a:r>
              <a:rPr lang="zh-CN" altLang="en-US" sz="2400" spc="-1">
                <a:solidFill>
                  <a:schemeClr val="bg1"/>
                </a:solidFill>
                <a:latin typeface="Arial"/>
              </a:rPr>
              <a:t>商務邏輯</a:t>
            </a:r>
            <a:r>
              <a:rPr lang="en-US" altLang="zh-TW" sz="2400" spc="-1">
                <a:solidFill>
                  <a:schemeClr val="bg1"/>
                </a:solidFill>
                <a:latin typeface="Arial"/>
              </a:rPr>
              <a:t>,</a:t>
            </a:r>
            <a:r>
              <a:rPr lang="en-US" altLang="zh-CN" sz="2400" spc="-1">
                <a:solidFill>
                  <a:schemeClr val="bg1"/>
                </a:solidFill>
                <a:latin typeface="Arial"/>
              </a:rPr>
              <a:t> 資料存取邏輯</a:t>
            </a:r>
            <a:r>
              <a:rPr lang="zh-CN" altLang="en-US" sz="2400" spc="-1">
                <a:solidFill>
                  <a:schemeClr val="bg1"/>
                </a:solidFill>
                <a:latin typeface="Arial"/>
              </a:rPr>
              <a:t>。</a:t>
            </a:r>
            <a:endParaRPr lang="en-US" altLang="zh-TW" sz="2400" b="0" strike="noStrike" spc="-1">
              <a:solidFill>
                <a:schemeClr val="bg1"/>
              </a:solidFill>
              <a:latin typeface="Arial"/>
            </a:endParaRPr>
          </a:p>
          <a:p>
            <a:r>
              <a:rPr lang="en-US" altLang="zh-TW" sz="2400" b="0" strike="noStrike" spc="-1">
                <a:solidFill>
                  <a:schemeClr val="bg1"/>
                </a:solidFill>
                <a:latin typeface="Arial"/>
              </a:rPr>
              <a:t>View – </a:t>
            </a:r>
            <a:r>
              <a:rPr lang="zh-CN" altLang="zh-TW" sz="2400" strike="noStrike" spc="-1">
                <a:solidFill>
                  <a:schemeClr val="bg1"/>
                </a:solidFill>
                <a:latin typeface="Arial"/>
              </a:rPr>
              <a:t>負責使用者介面設計。</a:t>
            </a:r>
            <a:endParaRPr lang="en-US" altLang="zh-TW" sz="2400" strike="noStrike" spc="-1">
              <a:solidFill>
                <a:schemeClr val="bg1"/>
              </a:solidFill>
              <a:latin typeface="Arial"/>
            </a:endParaRPr>
          </a:p>
          <a:p>
            <a:r>
              <a:rPr lang="en-US" altLang="zh-TW" sz="2400" b="0" strike="noStrike" spc="-1">
                <a:solidFill>
                  <a:schemeClr val="bg1"/>
                </a:solidFill>
                <a:latin typeface="Arial"/>
              </a:rPr>
              <a:t>Controller – (Flask </a:t>
            </a:r>
            <a:r>
              <a:rPr lang="zh-CN" altLang="zh-TW" sz="2400" b="0" strike="noStrike" spc="-1">
                <a:solidFill>
                  <a:schemeClr val="bg1"/>
                </a:solidFill>
                <a:latin typeface="Arial"/>
              </a:rPr>
              <a:t>內稱為</a:t>
            </a:r>
            <a:r>
              <a:rPr lang="zh-TW" altLang="en-US" sz="2400" b="0" strike="noStrike" spc="-1">
                <a:solidFill>
                  <a:schemeClr val="bg1"/>
                </a:solidFill>
                <a:latin typeface="Arial"/>
              </a:rPr>
              <a:t>視圖函數</a:t>
            </a:r>
            <a:r>
              <a:rPr lang="en-US" altLang="zh-CN" sz="2400" b="0" strike="noStrike" spc="-1">
                <a:solidFill>
                  <a:schemeClr val="bg1"/>
                </a:solidFill>
                <a:latin typeface="Arial"/>
              </a:rPr>
              <a:t>(</a:t>
            </a:r>
            <a:r>
              <a:rPr lang="en-US" altLang="zh-TW" sz="2400" b="0" strike="noStrike" spc="-1">
                <a:solidFill>
                  <a:schemeClr val="bg1"/>
                </a:solidFill>
                <a:latin typeface="Arial"/>
              </a:rPr>
              <a:t>View function)) – </a:t>
            </a:r>
            <a:r>
              <a:rPr lang="zh-CN" altLang="zh-TW" sz="2400" strike="noStrike" spc="-1">
                <a:solidFill>
                  <a:schemeClr val="bg1"/>
                </a:solidFill>
                <a:latin typeface="Arial"/>
              </a:rPr>
              <a:t>負責對 </a:t>
            </a:r>
            <a:r>
              <a:rPr lang="en-US" altLang="zh-TW" sz="2400" strike="noStrike" spc="-1">
                <a:solidFill>
                  <a:schemeClr val="bg1"/>
                </a:solidFill>
                <a:latin typeface="Arial"/>
              </a:rPr>
              <a:t>Request / Response </a:t>
            </a:r>
            <a:r>
              <a:rPr lang="zh-CN" altLang="zh-TW" sz="2400" strike="noStrike" spc="-1">
                <a:solidFill>
                  <a:schemeClr val="bg1"/>
                </a:solidFill>
                <a:latin typeface="Arial"/>
              </a:rPr>
              <a:t>處理</a:t>
            </a:r>
            <a:r>
              <a:rPr lang="zh-CN" altLang="en-US" sz="2400" spc="-1">
                <a:solidFill>
                  <a:schemeClr val="bg1"/>
                </a:solidFill>
                <a:latin typeface="Arial"/>
              </a:rPr>
              <a:t>，</a:t>
            </a:r>
            <a:r>
              <a:rPr lang="zh-CN" altLang="zh-TW" sz="2400" spc="-1">
                <a:solidFill>
                  <a:schemeClr val="bg1"/>
                </a:solidFill>
                <a:latin typeface="Arial"/>
              </a:rPr>
              <a:t>解讀使用者的資料</a:t>
            </a:r>
            <a:r>
              <a:rPr lang="zh-CN" altLang="zh-TW" sz="2400" strike="noStrike" spc="-1">
                <a:solidFill>
                  <a:schemeClr val="bg1"/>
                </a:solidFill>
                <a:latin typeface="Arial"/>
              </a:rPr>
              <a:t>，</a:t>
            </a:r>
            <a:r>
              <a:rPr lang="zh-CN" altLang="zh-TW" sz="2400" spc="-1">
                <a:solidFill>
                  <a:schemeClr val="bg1"/>
                </a:solidFill>
                <a:latin typeface="Arial"/>
              </a:rPr>
              <a:t>決定網頁</a:t>
            </a:r>
            <a:r>
              <a:rPr lang="zh-CN" altLang="en-US" sz="2400" spc="-1">
                <a:solidFill>
                  <a:schemeClr val="bg1"/>
                </a:solidFill>
                <a:latin typeface="Arial"/>
              </a:rPr>
              <a:t>流</a:t>
            </a:r>
            <a:r>
              <a:rPr lang="zh-CN" altLang="zh-TW" sz="2400" spc="-1">
                <a:solidFill>
                  <a:schemeClr val="bg1"/>
                </a:solidFill>
                <a:latin typeface="Arial"/>
              </a:rPr>
              <a:t>程</a:t>
            </a:r>
            <a:r>
              <a:rPr lang="zh-CN" altLang="zh-TW" sz="2400" b="0" spc="-1">
                <a:solidFill>
                  <a:schemeClr val="bg1"/>
                </a:solidFill>
                <a:latin typeface="Arial"/>
              </a:rPr>
              <a:t>，</a:t>
            </a:r>
            <a:r>
              <a:rPr lang="zh-CN" altLang="en-US" sz="2400" b="0" spc="-1">
                <a:solidFill>
                  <a:schemeClr val="bg1"/>
                </a:solidFill>
                <a:latin typeface="Arial"/>
              </a:rPr>
              <a:t>執行</a:t>
            </a:r>
            <a:r>
              <a:rPr lang="zh-CN" altLang="zh-TW" sz="2400" b="0" spc="-1">
                <a:solidFill>
                  <a:schemeClr val="bg1"/>
                </a:solidFill>
                <a:latin typeface="Arial"/>
                <a:cs typeface="Arial"/>
              </a:rPr>
              <a:t>商務邏輯</a:t>
            </a:r>
            <a:r>
              <a:rPr lang="en-US" altLang="zh-CN" sz="2400" b="0" spc="-1">
                <a:solidFill>
                  <a:schemeClr val="bg1"/>
                </a:solidFill>
                <a:latin typeface="Arial"/>
                <a:cs typeface="Arial"/>
              </a:rPr>
              <a:t>(Model)</a:t>
            </a:r>
            <a:r>
              <a:rPr lang="zh-CN" altLang="zh-TW" sz="2400" b="0" strike="noStrike" spc="-1">
                <a:solidFill>
                  <a:schemeClr val="bg1"/>
                </a:solidFill>
                <a:latin typeface="Arial"/>
              </a:rPr>
              <a:t>溝通，並將資料串接到 </a:t>
            </a:r>
            <a:r>
              <a:rPr lang="en-US" altLang="zh-TW" sz="2400" b="0" strike="noStrike" spc="-1">
                <a:solidFill>
                  <a:schemeClr val="bg1"/>
                </a:solidFill>
                <a:latin typeface="Arial"/>
              </a:rPr>
              <a:t>View(Template)</a:t>
            </a:r>
            <a:r>
              <a:rPr lang="zh-CN" altLang="zh-TW" sz="2800" b="0" strike="noStrike" spc="-1">
                <a:solidFill>
                  <a:schemeClr val="bg1"/>
                </a:solidFill>
                <a:latin typeface="Arial"/>
              </a:rPr>
              <a:t>。</a:t>
            </a:r>
            <a:endParaRPr lang="en-US" altLang="zh-TW" sz="2800" b="0" strike="noStrike" spc="-1">
              <a:solidFill>
                <a:schemeClr val="bg1"/>
              </a:solidFill>
              <a:latin typeface="Arial"/>
            </a:endParaRPr>
          </a:p>
          <a:p>
            <a:endParaRPr lang="zh-TW" altLang="en-US"/>
          </a:p>
        </p:txBody>
      </p:sp>
      <p:pic>
        <p:nvPicPr>
          <p:cNvPr id="4" name="Picture 2" descr="Model-View-Controller (MVC) Explained – With Legos – Real Python">
            <a:extLst>
              <a:ext uri="{FF2B5EF4-FFF2-40B4-BE49-F238E27FC236}">
                <a16:creationId xmlns:a16="http://schemas.microsoft.com/office/drawing/2014/main" id="{F9B7816D-A663-48F4-848E-24FDBEAFDD5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472238" y="3429000"/>
            <a:ext cx="5247524" cy="299258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34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309D464-1C34-4694-82FA-42C94001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MVC</a:t>
            </a:r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301E0D1-9EB9-47BA-AD65-D3AC0F474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80728"/>
            <a:ext cx="11103024" cy="5447781"/>
          </a:xfrm>
        </p:spPr>
        <p:txBody>
          <a:bodyPr>
            <a:normAutofit/>
          </a:bodyPr>
          <a:lstStyle/>
          <a:p>
            <a:r>
              <a:rPr lang="en-US" altLang="zh-TW" sz="2400"/>
              <a:t>Model</a:t>
            </a:r>
            <a:r>
              <a:rPr lang="en-US" altLang="zh-TW" sz="2400" b="0"/>
              <a:t> – </a:t>
            </a:r>
            <a:r>
              <a:rPr lang="zh-TW" altLang="en-US" sz="2400" b="0"/>
              <a:t>商務邏輯</a:t>
            </a:r>
            <a:r>
              <a:rPr lang="en-US" altLang="zh-TW" sz="2400" b="0"/>
              <a:t>, </a:t>
            </a:r>
            <a:r>
              <a:rPr lang="zh-TW" altLang="en-US" sz="2400" b="0"/>
              <a:t>資料存取邏輯。</a:t>
            </a:r>
            <a:endParaRPr lang="en-US" altLang="zh-TW" sz="2400" b="0"/>
          </a:p>
          <a:p>
            <a:pPr lvl="1"/>
            <a:r>
              <a:rPr lang="zh-TW" altLang="en-US" sz="2000" b="0"/>
              <a:t>資料庫設計</a:t>
            </a:r>
            <a:endParaRPr lang="en-US" altLang="zh-TW" sz="2000" b="0"/>
          </a:p>
          <a:p>
            <a:pPr lvl="1"/>
            <a:r>
              <a:rPr lang="zh-TW" altLang="en-US" sz="2000" b="0"/>
              <a:t>透過</a:t>
            </a:r>
            <a:r>
              <a:rPr lang="en-US" altLang="zh-TW" sz="2000" b="0"/>
              <a:t>sqlalchemy</a:t>
            </a:r>
            <a:r>
              <a:rPr lang="zh-TW" altLang="en-US" sz="2000" b="0"/>
              <a:t>存取資料庫</a:t>
            </a:r>
          </a:p>
          <a:p>
            <a:r>
              <a:rPr lang="en-US" altLang="zh-TW" sz="2400"/>
              <a:t>View</a:t>
            </a:r>
            <a:r>
              <a:rPr lang="zh-TW" altLang="en-US" sz="2400" b="0"/>
              <a:t> </a:t>
            </a:r>
            <a:r>
              <a:rPr lang="en-US" altLang="zh-TW" sz="2400" b="0"/>
              <a:t>– </a:t>
            </a:r>
            <a:r>
              <a:rPr lang="zh-TW" altLang="en-US" sz="2400" b="0"/>
              <a:t>負責使用者介面設計。</a:t>
            </a:r>
            <a:endParaRPr lang="en-US" altLang="zh-TW" sz="2400" b="0"/>
          </a:p>
          <a:p>
            <a:pPr lvl="1"/>
            <a:r>
              <a:rPr lang="zh-TW" altLang="en-US" b="0"/>
              <a:t>可以有各種方式呈現</a:t>
            </a:r>
            <a:endParaRPr lang="en-US" altLang="zh-TW" b="0"/>
          </a:p>
          <a:p>
            <a:pPr lvl="2"/>
            <a:r>
              <a:rPr lang="en-US" altLang="zh-TW"/>
              <a:t>html</a:t>
            </a:r>
            <a:r>
              <a:rPr lang="zh-TW" altLang="en-US"/>
              <a:t>文件</a:t>
            </a:r>
            <a:endParaRPr lang="en-US" altLang="zh-TW" b="0"/>
          </a:p>
          <a:p>
            <a:pPr lvl="2"/>
            <a:r>
              <a:rPr lang="en-US" altLang="zh-TW"/>
              <a:t>Smart phone</a:t>
            </a:r>
            <a:r>
              <a:rPr lang="en-US" altLang="zh-TW" b="0"/>
              <a:t> app(swift)</a:t>
            </a:r>
          </a:p>
          <a:p>
            <a:pPr lvl="2"/>
            <a:r>
              <a:rPr lang="en-US" altLang="zh-TW" b="0"/>
              <a:t>Flask </a:t>
            </a:r>
            <a:r>
              <a:rPr lang="zh-TW" altLang="en-US" b="0"/>
              <a:t>的 </a:t>
            </a:r>
            <a:r>
              <a:rPr lang="en-US" altLang="zh-TW" b="0"/>
              <a:t>Templates</a:t>
            </a:r>
            <a:r>
              <a:rPr lang="zh-TW" altLang="en-US"/>
              <a:t>，它類似</a:t>
            </a:r>
            <a:r>
              <a:rPr lang="en-US" altLang="zh-TW"/>
              <a:t>html</a:t>
            </a:r>
            <a:r>
              <a:rPr lang="zh-TW" altLang="en-US"/>
              <a:t>文件</a:t>
            </a:r>
            <a:endParaRPr lang="zh-TW" altLang="en-US" b="0"/>
          </a:p>
          <a:p>
            <a:r>
              <a:rPr lang="en-US" altLang="zh-TW" sz="2400"/>
              <a:t>Controller</a:t>
            </a:r>
            <a:r>
              <a:rPr lang="en-US" altLang="zh-TW" sz="2400" b="0"/>
              <a:t> – </a:t>
            </a:r>
            <a:r>
              <a:rPr lang="zh-TW" altLang="en-US" sz="2400" b="0"/>
              <a:t>負責對 </a:t>
            </a:r>
            <a:r>
              <a:rPr lang="en-US" altLang="zh-TW" sz="2400" b="0"/>
              <a:t>Request / Response </a:t>
            </a:r>
            <a:r>
              <a:rPr lang="zh-TW" altLang="en-US" sz="2400" b="0"/>
              <a:t>處理，解讀使用者的資料，決定網頁流程，執行商務邏輯</a:t>
            </a:r>
            <a:r>
              <a:rPr lang="en-US" altLang="zh-TW" sz="2400" b="0"/>
              <a:t>(Model)</a:t>
            </a:r>
            <a:r>
              <a:rPr lang="zh-TW" altLang="en-US" sz="2400" b="0"/>
              <a:t>溝通，並將資料串接到 </a:t>
            </a:r>
            <a:r>
              <a:rPr lang="en-US" altLang="zh-TW" sz="2400" b="0"/>
              <a:t>View </a:t>
            </a:r>
            <a:r>
              <a:rPr lang="zh-TW" altLang="en-US" sz="2400" b="0"/>
              <a:t>。</a:t>
            </a:r>
            <a:endParaRPr lang="en-US" altLang="zh-TW" sz="2400" b="0"/>
          </a:p>
          <a:p>
            <a:pPr lvl="1"/>
            <a:r>
              <a:rPr lang="en-US" altLang="zh-TW" sz="2000" b="0"/>
              <a:t>Flask </a:t>
            </a:r>
            <a:r>
              <a:rPr lang="zh-TW" altLang="en-US" sz="2000" b="0"/>
              <a:t>內稱為視圖函數</a:t>
            </a:r>
            <a:r>
              <a:rPr lang="en-US" altLang="zh-TW" sz="2000" b="0"/>
              <a:t>(View function)</a:t>
            </a:r>
            <a:endParaRPr lang="zh-TW" altLang="en-US" sz="2000" b="0"/>
          </a:p>
          <a:p>
            <a:endParaRPr lang="zh-TW" altLang="en-US" b="0"/>
          </a:p>
        </p:txBody>
      </p:sp>
    </p:spTree>
    <p:extLst>
      <p:ext uri="{BB962C8B-B14F-4D97-AF65-F5344CB8AC3E}">
        <p14:creationId xmlns:p14="http://schemas.microsoft.com/office/powerpoint/2010/main" val="128215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609480" y="72000"/>
            <a:ext cx="11246760" cy="5482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4000" b="1" strike="noStrike" spc="367">
                <a:solidFill>
                  <a:srgbClr val="FF0000"/>
                </a:solidFill>
                <a:latin typeface="Arial"/>
                <a:ea typeface="微軟正黑體"/>
              </a:rPr>
              <a:t>MVC</a:t>
            </a:r>
            <a:endParaRPr lang="en-US" sz="4000" b="0" strike="noStrike" spc="-1">
              <a:solidFill>
                <a:srgbClr val="717171"/>
              </a:solidFill>
              <a:latin typeface="Arial"/>
            </a:endParaRPr>
          </a:p>
        </p:txBody>
      </p:sp>
      <p:sp>
        <p:nvSpPr>
          <p:cNvPr id="140" name="CustomShape 2"/>
          <p:cNvSpPr/>
          <p:nvPr/>
        </p:nvSpPr>
        <p:spPr>
          <a:xfrm>
            <a:off x="5207760" y="2639520"/>
            <a:ext cx="1669680" cy="82188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ROUTE: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FF0000"/>
                </a:solidFill>
                <a:latin typeface="Arial"/>
                <a:ea typeface="微軟正黑體"/>
              </a:rPr>
              <a:t>/data-list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4961452" y="4471246"/>
            <a:ext cx="2403475" cy="767987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CONTROLLER:</a:t>
            </a:r>
            <a:br>
              <a:rPr/>
            </a:b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def</a:t>
            </a:r>
            <a:r>
              <a:rPr lang="en-US" altLang="zh-TW" sz="2000" b="1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2000" b="1" err="1">
                <a:solidFill>
                  <a:srgbClr val="FF0000"/>
                </a:solidFill>
                <a:ea typeface="+mn-lt"/>
                <a:cs typeface="+mn-lt"/>
              </a:rPr>
              <a:t>data_list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()</a:t>
            </a:r>
            <a:endParaRPr lang="en-US" sz="2000" b="1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142" name="CustomShape 4"/>
          <p:cNvSpPr/>
          <p:nvPr/>
        </p:nvSpPr>
        <p:spPr>
          <a:xfrm>
            <a:off x="159426" y="3851572"/>
            <a:ext cx="3476056" cy="73721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MODEL:</a:t>
            </a:r>
            <a:br>
              <a:rPr/>
            </a:br>
            <a:r>
              <a:rPr lang="en-US" b="1" err="1">
                <a:solidFill>
                  <a:srgbClr val="FF0000"/>
                </a:solidFill>
                <a:ea typeface="+mn-lt"/>
                <a:cs typeface="+mn-lt"/>
              </a:rPr>
              <a:t>select_from</a:t>
            </a:r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(</a:t>
            </a:r>
            <a:r>
              <a:rPr lang="en-US" b="1" err="1">
                <a:solidFill>
                  <a:srgbClr val="FF0000"/>
                </a:solidFill>
                <a:ea typeface="+mn-lt"/>
                <a:cs typeface="+mn-lt"/>
              </a:rPr>
              <a:t>table_customers</a:t>
            </a:r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)</a:t>
            </a:r>
            <a:endParaRPr lang="en-US" sz="2400" b="1" strike="noStrike" spc="-1">
              <a:solidFill>
                <a:srgbClr val="FF0000"/>
              </a:solidFill>
              <a:latin typeface="Arial"/>
              <a:ea typeface="微軟正黑體"/>
            </a:endParaRPr>
          </a:p>
        </p:txBody>
      </p:sp>
      <p:sp>
        <p:nvSpPr>
          <p:cNvPr id="143" name="CustomShape 5"/>
          <p:cNvSpPr/>
          <p:nvPr/>
        </p:nvSpPr>
        <p:spPr>
          <a:xfrm>
            <a:off x="1496520" y="5449680"/>
            <a:ext cx="2038320" cy="82188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DATABASE:</a:t>
            </a:r>
            <a:br/>
            <a:r>
              <a:rPr lang="en-US" sz="2400" b="1" strike="noStrike" spc="-1">
                <a:solidFill>
                  <a:srgbClr val="FF0000"/>
                </a:solidFill>
                <a:latin typeface="Arial"/>
                <a:ea typeface="微軟正黑體"/>
              </a:rPr>
              <a:t>chinook.db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44" name="CustomShape 6"/>
          <p:cNvSpPr/>
          <p:nvPr/>
        </p:nvSpPr>
        <p:spPr>
          <a:xfrm>
            <a:off x="8980560" y="4500000"/>
            <a:ext cx="2275560" cy="82188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VIEW:</a:t>
            </a:r>
            <a:br/>
            <a:r>
              <a:rPr lang="en-US" sz="2400" b="1" strike="noStrike" spc="-1">
                <a:solidFill>
                  <a:srgbClr val="FF0000"/>
                </a:solidFill>
                <a:latin typeface="Arial"/>
                <a:ea typeface="微軟正黑體"/>
              </a:rPr>
              <a:t>data_list.html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45" name="Picture 2" descr="Model-View-Controller (MVC) Explained – With Legos – Real Python"/>
          <p:cNvPicPr/>
          <p:nvPr/>
        </p:nvPicPr>
        <p:blipFill>
          <a:blip r:embed="rId3"/>
          <a:srcRect r="73278" b="82919"/>
          <a:stretch/>
        </p:blipFill>
        <p:spPr>
          <a:xfrm>
            <a:off x="915120" y="1128600"/>
            <a:ext cx="2779920" cy="1132920"/>
          </a:xfrm>
          <a:prstGeom prst="rect">
            <a:avLst/>
          </a:prstGeom>
          <a:ln>
            <a:noFill/>
          </a:ln>
        </p:spPr>
      </p:pic>
      <p:pic>
        <p:nvPicPr>
          <p:cNvPr id="146" name="Picture 2" descr="Model-View-Controller (MVC) Explained – With Legos – Real Python"/>
          <p:cNvPicPr/>
          <p:nvPr/>
        </p:nvPicPr>
        <p:blipFill>
          <a:blip r:embed="rId3"/>
          <a:srcRect l="64016" b="68241"/>
          <a:stretch/>
        </p:blipFill>
        <p:spPr>
          <a:xfrm>
            <a:off x="8980560" y="1372680"/>
            <a:ext cx="2744280" cy="1544400"/>
          </a:xfrm>
          <a:prstGeom prst="rect">
            <a:avLst/>
          </a:prstGeom>
          <a:ln>
            <a:noFill/>
          </a:ln>
        </p:spPr>
      </p:pic>
      <p:sp>
        <p:nvSpPr>
          <p:cNvPr id="147" name="CustomShape 7"/>
          <p:cNvSpPr/>
          <p:nvPr/>
        </p:nvSpPr>
        <p:spPr>
          <a:xfrm>
            <a:off x="3753273" y="1782050"/>
            <a:ext cx="2346840" cy="943560"/>
          </a:xfrm>
          <a:prstGeom prst="curvedConnector2">
            <a:avLst/>
          </a:prstGeom>
          <a:noFill/>
          <a:ln w="76320">
            <a:solidFill>
              <a:srgbClr val="E1CA14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" name="CustomShape 8"/>
          <p:cNvSpPr/>
          <p:nvPr/>
        </p:nvSpPr>
        <p:spPr>
          <a:xfrm>
            <a:off x="5098320" y="3669120"/>
            <a:ext cx="1888560" cy="67824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E8F00"/>
              </a:gs>
              <a:gs pos="100000">
                <a:srgbClr val="F7BA00"/>
              </a:gs>
            </a:gsLst>
            <a:lin ang="16200000"/>
          </a:gradFill>
          <a:ln>
            <a:solidFill>
              <a:srgbClr val="F9BB00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?page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49" name="CustomShape 9"/>
          <p:cNvSpPr/>
          <p:nvPr/>
        </p:nvSpPr>
        <p:spPr>
          <a:xfrm rot="10800000">
            <a:off x="3535560" y="4223880"/>
            <a:ext cx="1422720" cy="691200"/>
          </a:xfrm>
          <a:prstGeom prst="curvedConnector3">
            <a:avLst>
              <a:gd name="adj1" fmla="val 50000"/>
            </a:avLst>
          </a:prstGeom>
          <a:noFill/>
          <a:ln w="76320">
            <a:solidFill>
              <a:srgbClr val="E1CA14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" name="CustomShape 10"/>
          <p:cNvSpPr/>
          <p:nvPr/>
        </p:nvSpPr>
        <p:spPr>
          <a:xfrm rot="16200000" flipH="1">
            <a:off x="2109600" y="5043960"/>
            <a:ext cx="810000" cy="360"/>
          </a:xfrm>
          <a:prstGeom prst="curvedConnector3">
            <a:avLst>
              <a:gd name="adj1" fmla="val 50000"/>
            </a:avLst>
          </a:prstGeom>
          <a:noFill/>
          <a:ln w="76320">
            <a:solidFill>
              <a:srgbClr val="E1CA14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1" name="CustomShape 11"/>
          <p:cNvSpPr/>
          <p:nvPr/>
        </p:nvSpPr>
        <p:spPr>
          <a:xfrm>
            <a:off x="7485480" y="4546800"/>
            <a:ext cx="1243440" cy="8305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E8F00"/>
              </a:gs>
              <a:gs pos="100000">
                <a:srgbClr val="F7BA00"/>
              </a:gs>
            </a:gsLst>
            <a:lin ang="16200000"/>
          </a:gradFill>
          <a:ln>
            <a:solidFill>
              <a:srgbClr val="F9BB00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janja2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52" name="CustomShape 12"/>
          <p:cNvSpPr/>
          <p:nvPr/>
        </p:nvSpPr>
        <p:spPr>
          <a:xfrm rot="5400000" flipH="1" flipV="1">
            <a:off x="9444600" y="3551760"/>
            <a:ext cx="1582560" cy="234000"/>
          </a:xfrm>
          <a:prstGeom prst="curvedConnector3">
            <a:avLst>
              <a:gd name="adj1" fmla="val 50000"/>
            </a:avLst>
          </a:prstGeom>
          <a:noFill/>
          <a:ln w="76320">
            <a:solidFill>
              <a:srgbClr val="E1CA14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E1B3D7F-5B98-C267-37FF-37EA4DF5C3E0}"/>
              </a:ext>
            </a:extLst>
          </p:cNvPr>
          <p:cNvSpPr txBox="1"/>
          <p:nvPr/>
        </p:nvSpPr>
        <p:spPr>
          <a:xfrm>
            <a:off x="1144438" y="486817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b="1" err="1"/>
              <a:t>sqlalchemy</a:t>
            </a:r>
            <a:endParaRPr lang="zh-TW" altLang="en-US" err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609480" y="72000"/>
            <a:ext cx="11246760" cy="5482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4000" b="1" strike="noStrike" spc="367">
                <a:solidFill>
                  <a:srgbClr val="FF0000"/>
                </a:solidFill>
                <a:latin typeface="Arial"/>
                <a:ea typeface="微軟正黑體"/>
              </a:rPr>
              <a:t>MVC</a:t>
            </a:r>
            <a:endParaRPr lang="en-US" sz="4000" b="0" strike="noStrike" spc="-1">
              <a:solidFill>
                <a:srgbClr val="717171"/>
              </a:solidFill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5207760" y="2339640"/>
            <a:ext cx="1669680" cy="82188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ROUTE: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FF0000"/>
                </a:solidFill>
                <a:latin typeface="Arial"/>
                <a:ea typeface="微軟正黑體"/>
              </a:rPr>
              <a:t>/data-edit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4958280" y="4471246"/>
            <a:ext cx="2376201" cy="767987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CONTROLLER:</a:t>
            </a:r>
            <a:br>
              <a:rPr/>
            </a:b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def</a:t>
            </a:r>
            <a:r>
              <a:rPr lang="en-US" altLang="zh-TW" sz="2000" b="1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2000" b="1" err="1">
                <a:solidFill>
                  <a:srgbClr val="FF0000"/>
                </a:solidFill>
                <a:ea typeface="+mn-lt"/>
                <a:cs typeface="+mn-lt"/>
              </a:rPr>
              <a:t>data</a:t>
            </a:r>
            <a:r>
              <a:rPr lang="en-US" sz="2000" b="1" strike="noStrike" err="1">
                <a:solidFill>
                  <a:srgbClr val="FF0000"/>
                </a:solidFill>
                <a:ea typeface="+mn-lt"/>
                <a:cs typeface="+mn-lt"/>
              </a:rPr>
              <a:t>_</a:t>
            </a:r>
            <a:r>
              <a:rPr lang="en-US" sz="2000" b="1" err="1">
                <a:solidFill>
                  <a:srgbClr val="FF0000"/>
                </a:solidFill>
                <a:ea typeface="+mn-lt"/>
                <a:cs typeface="+mn-lt"/>
              </a:rPr>
              <a:t>edit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()</a:t>
            </a:r>
            <a:endParaRPr lang="en-US" sz="2000" b="1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418219" y="3851572"/>
            <a:ext cx="2987225" cy="73721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MODEL:</a:t>
            </a:r>
            <a:br>
              <a:rPr/>
            </a:br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update(</a:t>
            </a:r>
            <a:r>
              <a:rPr lang="en-US" b="1" err="1">
                <a:solidFill>
                  <a:srgbClr val="FF0000"/>
                </a:solidFill>
                <a:ea typeface="+mn-lt"/>
                <a:cs typeface="+mn-lt"/>
              </a:rPr>
              <a:t>table_customers</a:t>
            </a:r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)</a:t>
            </a:r>
            <a:endParaRPr lang="en-US" sz="2400" b="1" strike="noStrike" spc="-1">
              <a:solidFill>
                <a:srgbClr val="FF0000"/>
              </a:solidFill>
              <a:latin typeface="Arial"/>
              <a:ea typeface="微軟正黑體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1496520" y="5449680"/>
            <a:ext cx="2038320" cy="82188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DATABASE:</a:t>
            </a:r>
            <a:br/>
            <a:r>
              <a:rPr lang="en-US" sz="2400" b="1" strike="noStrike" spc="-1">
                <a:solidFill>
                  <a:srgbClr val="FF0000"/>
                </a:solidFill>
                <a:latin typeface="Arial"/>
                <a:ea typeface="微軟正黑體"/>
              </a:rPr>
              <a:t>chinook.db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58" name="CustomShape 6"/>
          <p:cNvSpPr/>
          <p:nvPr/>
        </p:nvSpPr>
        <p:spPr>
          <a:xfrm>
            <a:off x="8980560" y="4500000"/>
            <a:ext cx="2275560" cy="82188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VIEW:</a:t>
            </a:r>
            <a:br/>
            <a:r>
              <a:rPr lang="en-US" sz="2400" b="1" strike="noStrike" spc="-1">
                <a:solidFill>
                  <a:srgbClr val="FF0000"/>
                </a:solidFill>
                <a:latin typeface="Arial"/>
                <a:ea typeface="微軟正黑體"/>
              </a:rPr>
              <a:t>data_edit.html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59" name="Picture 2" descr="Model-View-Controller (MVC) Explained – With Legos – Real Python"/>
          <p:cNvPicPr/>
          <p:nvPr/>
        </p:nvPicPr>
        <p:blipFill>
          <a:blip r:embed="rId3"/>
          <a:srcRect r="73278" b="82919"/>
          <a:stretch/>
        </p:blipFill>
        <p:spPr>
          <a:xfrm>
            <a:off x="915120" y="1128600"/>
            <a:ext cx="2779920" cy="1132920"/>
          </a:xfrm>
          <a:prstGeom prst="rect">
            <a:avLst/>
          </a:prstGeom>
          <a:ln>
            <a:noFill/>
          </a:ln>
        </p:spPr>
      </p:pic>
      <p:pic>
        <p:nvPicPr>
          <p:cNvPr id="160" name="Picture 2" descr="Model-View-Controller (MVC) Explained – With Legos – Real Python"/>
          <p:cNvPicPr/>
          <p:nvPr/>
        </p:nvPicPr>
        <p:blipFill>
          <a:blip r:embed="rId3"/>
          <a:srcRect l="64016" b="68241"/>
          <a:stretch/>
        </p:blipFill>
        <p:spPr>
          <a:xfrm>
            <a:off x="8980560" y="1372680"/>
            <a:ext cx="2744280" cy="1544400"/>
          </a:xfrm>
          <a:prstGeom prst="rect">
            <a:avLst/>
          </a:prstGeom>
          <a:ln>
            <a:noFill/>
          </a:ln>
        </p:spPr>
      </p:pic>
      <p:sp>
        <p:nvSpPr>
          <p:cNvPr id="161" name="CustomShape 7"/>
          <p:cNvSpPr/>
          <p:nvPr/>
        </p:nvSpPr>
        <p:spPr>
          <a:xfrm>
            <a:off x="3695400" y="1695240"/>
            <a:ext cx="2346840" cy="643680"/>
          </a:xfrm>
          <a:prstGeom prst="curvedConnector2">
            <a:avLst/>
          </a:prstGeom>
          <a:noFill/>
          <a:ln w="76320">
            <a:solidFill>
              <a:srgbClr val="E1CA14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" name="CustomShape 8"/>
          <p:cNvSpPr/>
          <p:nvPr/>
        </p:nvSpPr>
        <p:spPr>
          <a:xfrm>
            <a:off x="3990960" y="3268080"/>
            <a:ext cx="4102560" cy="1134360"/>
          </a:xfrm>
          <a:prstGeom prst="downArrow">
            <a:avLst>
              <a:gd name="adj1" fmla="val 43567"/>
              <a:gd name="adj2" fmla="val 22257"/>
            </a:avLst>
          </a:prstGeom>
          <a:gradFill rotWithShape="0">
            <a:gsLst>
              <a:gs pos="0">
                <a:srgbClr val="BE8F00"/>
              </a:gs>
              <a:gs pos="100000">
                <a:srgbClr val="F7BA00"/>
              </a:gs>
            </a:gsLst>
            <a:lin ang="16200000"/>
          </a:gradFill>
          <a:ln>
            <a:solidFill>
              <a:srgbClr val="F9BB00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GET/POST </a:t>
            </a:r>
            <a:br/>
            <a:r>
              <a:rPr lang="en-US" sz="20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+ </a:t>
            </a:r>
            <a:br/>
            <a:r>
              <a:rPr lang="en-US" sz="20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form data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63" name="CustomShape 9"/>
          <p:cNvSpPr/>
          <p:nvPr/>
        </p:nvSpPr>
        <p:spPr>
          <a:xfrm rot="10800000">
            <a:off x="3535560" y="4223880"/>
            <a:ext cx="1422720" cy="691200"/>
          </a:xfrm>
          <a:prstGeom prst="curvedConnector3">
            <a:avLst>
              <a:gd name="adj1" fmla="val 50000"/>
            </a:avLst>
          </a:prstGeom>
          <a:noFill/>
          <a:ln w="76320">
            <a:solidFill>
              <a:srgbClr val="E1CA14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" name="CustomShape 10"/>
          <p:cNvSpPr/>
          <p:nvPr/>
        </p:nvSpPr>
        <p:spPr>
          <a:xfrm rot="16200000" flipH="1">
            <a:off x="2109600" y="5043960"/>
            <a:ext cx="810000" cy="360"/>
          </a:xfrm>
          <a:prstGeom prst="curvedConnector3">
            <a:avLst>
              <a:gd name="adj1" fmla="val 50000"/>
            </a:avLst>
          </a:prstGeom>
          <a:noFill/>
          <a:ln w="76320">
            <a:solidFill>
              <a:srgbClr val="E1CA14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" name="CustomShape 11"/>
          <p:cNvSpPr/>
          <p:nvPr/>
        </p:nvSpPr>
        <p:spPr>
          <a:xfrm>
            <a:off x="7485480" y="4546800"/>
            <a:ext cx="1243440" cy="8305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E8F00"/>
              </a:gs>
              <a:gs pos="100000">
                <a:srgbClr val="F7BA00"/>
              </a:gs>
            </a:gsLst>
            <a:lin ang="16200000"/>
          </a:gradFill>
          <a:ln>
            <a:solidFill>
              <a:srgbClr val="F9BB00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393939"/>
                </a:solidFill>
                <a:latin typeface="Arial"/>
                <a:ea typeface="微軟正黑體"/>
              </a:rPr>
              <a:t>janja2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66" name="CustomShape 12"/>
          <p:cNvSpPr/>
          <p:nvPr/>
        </p:nvSpPr>
        <p:spPr>
          <a:xfrm rot="5400000" flipH="1" flipV="1">
            <a:off x="9444600" y="3551760"/>
            <a:ext cx="1582560" cy="234000"/>
          </a:xfrm>
          <a:prstGeom prst="curvedConnector3">
            <a:avLst>
              <a:gd name="adj1" fmla="val 50000"/>
            </a:avLst>
          </a:prstGeom>
          <a:noFill/>
          <a:ln w="76320">
            <a:solidFill>
              <a:srgbClr val="E1CA14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F05F52-4E6D-A6FA-94DD-CFCF0A581DE3}"/>
              </a:ext>
            </a:extLst>
          </p:cNvPr>
          <p:cNvSpPr txBox="1"/>
          <p:nvPr/>
        </p:nvSpPr>
        <p:spPr>
          <a:xfrm>
            <a:off x="1144438" y="486817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b="1" err="1"/>
              <a:t>sqlalchemy</a:t>
            </a:r>
            <a:endParaRPr lang="zh-TW" altLang="en-US" err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Application>Microsoft Office PowerPoint</Application>
  <PresentationFormat>寬螢幕</PresentationFormat>
  <Slides>5</Slides>
  <Notes>3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2019簡報範本_light</vt:lpstr>
      <vt:lpstr>MVC</vt:lpstr>
      <vt:lpstr>MVC</vt:lpstr>
      <vt:lpstr>MVC</vt:lpstr>
      <vt:lpstr>PowerPoint 簡報</vt:lpstr>
      <vt:lpstr>PowerPoint 簡報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revision>7</cp:revision>
  <cp:lastPrinted>2019-04-29T05:54:36Z</cp:lastPrinted>
  <dcterms:created xsi:type="dcterms:W3CDTF">2019-04-17T09:27:11Z</dcterms:created>
  <dcterms:modified xsi:type="dcterms:W3CDTF">2026-06-13T01:26:53Z</dcterms:modified>
  <cp:category>淺色</cp:category>
</cp:coreProperties>
</file>