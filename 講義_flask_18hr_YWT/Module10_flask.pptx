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51" r:id="rId1"/>
  </p:sldMasterIdLst>
  <p:notesMasterIdLst>
    <p:notesMasterId r:id="rId12"/>
  </p:notesMasterIdLst>
  <p:handoutMasterIdLst>
    <p:handoutMasterId r:id="rId13"/>
  </p:handoutMasterIdLst>
  <p:sldIdLst>
    <p:sldId id="331" r:id="rId2"/>
    <p:sldId id="399" r:id="rId3"/>
    <p:sldId id="417" r:id="rId4"/>
    <p:sldId id="416" r:id="rId5"/>
    <p:sldId id="423" r:id="rId6"/>
    <p:sldId id="420" r:id="rId7"/>
    <p:sldId id="424" r:id="rId8"/>
    <p:sldId id="425" r:id="rId9"/>
    <p:sldId id="426" r:id="rId10"/>
    <p:sldId id="427" r:id="rId11"/>
  </p:sldIdLst>
  <p:sldSz cx="12192000" cy="6858000"/>
  <p:notesSz cx="6807200" cy="993933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saac" initials="i" lastIdx="1" clrIdx="0">
    <p:extLst>
      <p:ext uri="{19B8F6BF-5375-455C-9EA6-DF929625EA0E}">
        <p15:presenceInfo xmlns:p15="http://schemas.microsoft.com/office/powerpoint/2012/main" userId="isaa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FFFFFF"/>
    <a:srgbClr val="323E1A"/>
    <a:srgbClr val="003300"/>
    <a:srgbClr val="00009A"/>
    <a:srgbClr val="0000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D083AE6-46FA-4A59-8FB0-9F97EB10719F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660B408-B3CF-4A94-85FC-2B1E0A45F4A2}" styleName="深色樣式 2 - 輔色 1/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D083AE6-46FA-4A59-8FB0-9F97EB10719F}" styleName="淺色樣式 3 - 輔色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昱維 曹" userId="611d57ab1da5f08a" providerId="Windows Live" clId="Web-{30282F0A-DC3C-5C90-DC12-D750E2675428}"/>
    <pc:docChg chg="modSld">
      <pc:chgData name="昱維 曹" userId="611d57ab1da5f08a" providerId="Windows Live" clId="Web-{30282F0A-DC3C-5C90-DC12-D750E2675428}" dt="2026-05-31T07:13:39.515" v="1" actId="1076"/>
      <pc:docMkLst>
        <pc:docMk/>
      </pc:docMkLst>
      <pc:sldChg chg="modSp">
        <pc:chgData name="昱維 曹" userId="611d57ab1da5f08a" providerId="Windows Live" clId="Web-{30282F0A-DC3C-5C90-DC12-D750E2675428}" dt="2026-05-31T07:13:39.515" v="1" actId="1076"/>
        <pc:sldMkLst>
          <pc:docMk/>
          <pc:sldMk cId="1311091951" sldId="423"/>
        </pc:sldMkLst>
        <pc:picChg chg="mod">
          <ac:chgData name="昱維 曹" userId="611d57ab1da5f08a" providerId="Windows Live" clId="Web-{30282F0A-DC3C-5C90-DC12-D750E2675428}" dt="2026-05-31T07:13:39.515" v="1" actId="1076"/>
          <ac:picMkLst>
            <pc:docMk/>
            <pc:sldMk cId="1311091951" sldId="423"/>
            <ac:picMk id="8" creationId="{AE1EAE36-198F-49BB-82AE-FE2FBC1A45C5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BF5AB9-3463-4E65-AFD3-5431B79ADFDC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A0C45D-A6E0-411D-9D9F-B22D9F5136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210737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376364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7E4D81D0-FCC8-42FD-B0AF-6DA70B5F6E70}"/>
              </a:ext>
            </a:extLst>
          </p:cNvPr>
          <p:cNvSpPr/>
          <p:nvPr/>
        </p:nvSpPr>
        <p:spPr>
          <a:xfrm>
            <a:off x="91232" y="8110145"/>
            <a:ext cx="6623050" cy="110799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【Key Points】</a:t>
            </a:r>
          </a:p>
          <a:p>
            <a:pPr algn="l"/>
            <a:endParaRPr lang="zh-TW" altLang="en-US"/>
          </a:p>
        </p:txBody>
      </p:sp>
      <p:sp>
        <p:nvSpPr>
          <p:cNvPr id="9" name="投影片圖像版面配置區 3">
            <a:extLst>
              <a:ext uri="{FF2B5EF4-FFF2-40B4-BE49-F238E27FC236}">
                <a16:creationId xmlns:a16="http://schemas.microsoft.com/office/drawing/2014/main" id="{3A6EF303-87EA-4AFE-8AF8-60DA97A171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13" name="備忘稿版面配置區 4">
            <a:extLst>
              <a:ext uri="{FF2B5EF4-FFF2-40B4-BE49-F238E27FC236}">
                <a16:creationId xmlns:a16="http://schemas.microsoft.com/office/drawing/2014/main" id="{8E303468-187E-49A8-9D33-C12B34DA2A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232" y="4609629"/>
            <a:ext cx="6623050" cy="350051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9195302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Arial" panose="020B0604020202020204" pitchFamily="34" charset="0"/>
      </a:defRPr>
    </a:lvl1pPr>
    <a:lvl2pPr marL="4572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Arial" panose="020B0604020202020204" pitchFamily="34" charset="0"/>
      </a:defRPr>
    </a:lvl2pPr>
    <a:lvl3pPr marL="9144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0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1BF7A2D-EE60-43A8-8E8A-1CA3E7F4432C}"/>
              </a:ext>
            </a:extLst>
          </p:cNvPr>
          <p:cNvSpPr txBox="1"/>
          <p:nvPr/>
        </p:nvSpPr>
        <p:spPr>
          <a:xfrm>
            <a:off x="91232" y="8426053"/>
            <a:ext cx="6623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>
                <a:solidFill>
                  <a:srgbClr val="0000FF"/>
                </a:solidFill>
              </a:rPr>
              <a:t>每一個章節預估用</a:t>
            </a:r>
            <a:r>
              <a:rPr lang="en-US" altLang="zh-TW" sz="1200">
                <a:solidFill>
                  <a:srgbClr val="0000FF"/>
                </a:solidFill>
              </a:rPr>
              <a:t>30</a:t>
            </a:r>
            <a:r>
              <a:rPr lang="zh-TW" altLang="en-US" sz="1200">
                <a:solidFill>
                  <a:srgbClr val="0000FF"/>
                </a:solidFill>
              </a:rPr>
              <a:t>分鐘講授課程內容，</a:t>
            </a:r>
            <a:r>
              <a:rPr lang="en-US" altLang="zh-TW" sz="1200">
                <a:solidFill>
                  <a:srgbClr val="0000FF"/>
                </a:solidFill>
              </a:rPr>
              <a:t>20</a:t>
            </a:r>
            <a:r>
              <a:rPr lang="zh-TW" altLang="en-US" sz="1200">
                <a:solidFill>
                  <a:srgbClr val="0000FF"/>
                </a:solidFill>
              </a:rPr>
              <a:t>分鐘讓學員實做</a:t>
            </a:r>
            <a:r>
              <a:rPr lang="en-US" altLang="zh-TW" sz="1200">
                <a:solidFill>
                  <a:srgbClr val="0000FF"/>
                </a:solidFill>
              </a:rPr>
              <a:t>Lab</a:t>
            </a:r>
            <a:r>
              <a:rPr lang="zh-TW" altLang="en-US" sz="1200">
                <a:solidFill>
                  <a:srgbClr val="0000FF"/>
                </a:solidFill>
              </a:rPr>
              <a:t>，</a:t>
            </a:r>
            <a:r>
              <a:rPr lang="en-US" altLang="zh-TW" sz="1200">
                <a:solidFill>
                  <a:srgbClr val="0000FF"/>
                </a:solidFill>
              </a:rPr>
              <a:t>10</a:t>
            </a:r>
            <a:r>
              <a:rPr lang="zh-TW" altLang="en-US" sz="1200">
                <a:solidFill>
                  <a:srgbClr val="0000FF"/>
                </a:solidFill>
              </a:rPr>
              <a:t>分鐘討論或休息。</a:t>
            </a:r>
          </a:p>
          <a:p>
            <a:endParaRPr lang="zh-TW" altLang="en-US" sz="120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2231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1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1D05AC55-597A-4D2A-AE03-3E3DA8F10BBC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16186878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2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1D05AC55-597A-4D2A-AE03-3E3DA8F10BBC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12147084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3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1D05AC55-597A-4D2A-AE03-3E3DA8F10BBC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42119921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4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1D05AC55-597A-4D2A-AE03-3E3DA8F10BBC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26973703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5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1D05AC55-597A-4D2A-AE03-3E3DA8F10BBC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13069226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6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1D05AC55-597A-4D2A-AE03-3E3DA8F10BBC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18175287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7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1D05AC55-597A-4D2A-AE03-3E3DA8F10BBC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19787635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8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1D05AC55-597A-4D2A-AE03-3E3DA8F10BBC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17862582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9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1D05AC55-597A-4D2A-AE03-3E3DA8F10BBC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35922396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453940" y="2852936"/>
            <a:ext cx="11247040" cy="692696"/>
          </a:xfrm>
        </p:spPr>
        <p:txBody>
          <a:bodyPr/>
          <a:lstStyle>
            <a:lvl1pPr algn="ctr">
              <a:defRPr sz="5000">
                <a:solidFill>
                  <a:srgbClr val="0000FF"/>
                </a:solidFill>
              </a:defRPr>
            </a:lvl1pPr>
          </a:lstStyle>
          <a:p>
            <a:r>
              <a:rPr lang="zh-TW" altLang="en-US"/>
              <a:t>封面</a:t>
            </a:r>
          </a:p>
        </p:txBody>
      </p:sp>
      <p:sp>
        <p:nvSpPr>
          <p:cNvPr id="5" name="副標題 2"/>
          <p:cNvSpPr>
            <a:spLocks noGrp="1"/>
          </p:cNvSpPr>
          <p:nvPr>
            <p:ph type="subTitle" idx="1"/>
          </p:nvPr>
        </p:nvSpPr>
        <p:spPr>
          <a:xfrm>
            <a:off x="1828800" y="3861048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00FF"/>
                </a:solidFill>
              </a:defRPr>
            </a:lvl1pPr>
            <a:lvl2pPr marL="5627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254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8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508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136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390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017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A592F39-E5A5-4CE6-B04B-B4DCCEDFCE8D}"/>
              </a:ext>
            </a:extLst>
          </p:cNvPr>
          <p:cNvSpPr txBox="1"/>
          <p:nvPr userDrawn="1"/>
        </p:nvSpPr>
        <p:spPr>
          <a:xfrm>
            <a:off x="4677996" y="1536002"/>
            <a:ext cx="2836007" cy="774058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endParaRPr lang="en-US" altLang="zh-TW" sz="2215">
              <a:solidFill>
                <a:schemeClr val="tx1">
                  <a:lumMod val="75000"/>
                </a:schemeClr>
              </a:solidFill>
            </a:endParaRPr>
          </a:p>
          <a:p>
            <a:endParaRPr lang="zh-TW" altLang="en-US" sz="2215" err="1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606502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5000">
                <a:solidFill>
                  <a:srgbClr val="0000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61048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00FF"/>
                </a:solidFill>
              </a:defRPr>
            </a:lvl1pPr>
            <a:lvl2pPr marL="5627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254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8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508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136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390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017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D46DC4E-74EA-4FF4-9DAA-ED2D59AFB0F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2346371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 b="1"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>
                <a:solidFill>
                  <a:srgbClr val="000000"/>
                </a:solidFill>
              </a:defRPr>
            </a:lvl2pPr>
            <a:lvl3pPr marL="1324741" indent="-328254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>
                <a:solidFill>
                  <a:srgbClr val="000000"/>
                </a:solidFill>
              </a:defRPr>
            </a:lvl3pPr>
            <a:lvl4pPr marL="1652995" indent="-222744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>
                <a:solidFill>
                  <a:srgbClr val="000000"/>
                </a:solidFill>
              </a:defRPr>
            </a:lvl4pPr>
            <a:lvl5pPr marL="1992973" indent="-339978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tabLst>
                <a:tab pos="9824184" algn="l"/>
              </a:tabLst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5418C1F-6B55-4A71-AFFD-089A51282D0F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06461826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72008"/>
            <a:ext cx="11247040" cy="548680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6558267" cy="5616624"/>
          </a:xfrm>
        </p:spPr>
        <p:txBody>
          <a:bodyPr/>
          <a:lstStyle>
            <a:lvl1pPr>
              <a:defRPr sz="3446">
                <a:solidFill>
                  <a:srgbClr val="000000"/>
                </a:solidFill>
              </a:defRPr>
            </a:lvl1pPr>
            <a:lvl2pPr>
              <a:defRPr sz="2954">
                <a:solidFill>
                  <a:srgbClr val="000000"/>
                </a:solidFill>
              </a:defRPr>
            </a:lvl2pPr>
            <a:lvl3pPr>
              <a:defRPr sz="2462">
                <a:solidFill>
                  <a:srgbClr val="000000"/>
                </a:solidFill>
              </a:defRPr>
            </a:lvl3pPr>
            <a:lvl4pPr>
              <a:defRPr sz="2215">
                <a:solidFill>
                  <a:srgbClr val="000000"/>
                </a:solidFill>
              </a:defRPr>
            </a:lvl4pPr>
            <a:lvl5pPr>
              <a:defRPr sz="2215">
                <a:solidFill>
                  <a:srgbClr val="000000"/>
                </a:solidFill>
              </a:defRPr>
            </a:lvl5pPr>
            <a:lvl6pPr>
              <a:defRPr sz="2215"/>
            </a:lvl6pPr>
            <a:lvl7pPr>
              <a:defRPr sz="2215"/>
            </a:lvl7pPr>
            <a:lvl8pPr>
              <a:defRPr sz="2215"/>
            </a:lvl8pPr>
            <a:lvl9pPr>
              <a:defRPr sz="2215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7070878" y="764704"/>
            <a:ext cx="4785762" cy="5616624"/>
          </a:xfrm>
        </p:spPr>
        <p:txBody>
          <a:bodyPr/>
          <a:lstStyle>
            <a:lvl1pPr>
              <a:defRPr sz="3446">
                <a:solidFill>
                  <a:srgbClr val="000000"/>
                </a:solidFill>
              </a:defRPr>
            </a:lvl1pPr>
            <a:lvl2pPr>
              <a:defRPr sz="2954">
                <a:solidFill>
                  <a:srgbClr val="000000"/>
                </a:solidFill>
              </a:defRPr>
            </a:lvl2pPr>
            <a:lvl3pPr>
              <a:defRPr sz="2462">
                <a:solidFill>
                  <a:srgbClr val="000000"/>
                </a:solidFill>
              </a:defRPr>
            </a:lvl3pPr>
            <a:lvl4pPr>
              <a:defRPr sz="2215">
                <a:solidFill>
                  <a:srgbClr val="000000"/>
                </a:solidFill>
              </a:defRPr>
            </a:lvl4pPr>
            <a:lvl5pPr>
              <a:defRPr sz="2215">
                <a:solidFill>
                  <a:srgbClr val="000000"/>
                </a:solidFill>
              </a:defRPr>
            </a:lvl5pPr>
            <a:lvl6pPr>
              <a:defRPr sz="2215"/>
            </a:lvl6pPr>
            <a:lvl7pPr>
              <a:defRPr sz="2215"/>
            </a:lvl7pPr>
            <a:lvl8pPr>
              <a:defRPr sz="2215"/>
            </a:lvl8pPr>
            <a:lvl9pPr>
              <a:defRPr sz="2215"/>
            </a:lvl9pPr>
          </a:lstStyle>
          <a:p>
            <a:pPr lvl="0"/>
            <a:r>
              <a:rPr lang="zh-TW" altLang="en-US"/>
              <a:t>按一下編輯文字樣式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FAE68B8-99C7-40B9-B8F1-A798C021C43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16067170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246735" y="764704"/>
            <a:ext cx="6558267" cy="504056"/>
          </a:xfrm>
        </p:spPr>
        <p:txBody>
          <a:bodyPr anchor="b"/>
          <a:lstStyle>
            <a:lvl1pPr marL="0" indent="0">
              <a:buNone/>
              <a:defRPr sz="2954" b="1">
                <a:solidFill>
                  <a:srgbClr val="000000"/>
                </a:solidFill>
              </a:defRPr>
            </a:lvl1pPr>
            <a:lvl2pPr marL="562722" indent="0">
              <a:buNone/>
              <a:defRPr sz="2462" b="1"/>
            </a:lvl2pPr>
            <a:lvl3pPr marL="1125444" indent="0">
              <a:buNone/>
              <a:defRPr sz="2215" b="1"/>
            </a:lvl3pPr>
            <a:lvl4pPr marL="1688165" indent="0">
              <a:buNone/>
              <a:defRPr sz="1969" b="1"/>
            </a:lvl4pPr>
            <a:lvl5pPr marL="2250887" indent="0">
              <a:buNone/>
              <a:defRPr sz="1969" b="1"/>
            </a:lvl5pPr>
            <a:lvl6pPr marL="2813609" indent="0">
              <a:buNone/>
              <a:defRPr sz="1969" b="1"/>
            </a:lvl6pPr>
            <a:lvl7pPr marL="3376331" indent="0">
              <a:buNone/>
              <a:defRPr sz="1969" b="1"/>
            </a:lvl7pPr>
            <a:lvl8pPr marL="3939052" indent="0">
              <a:buNone/>
              <a:defRPr sz="1969" b="1"/>
            </a:lvl8pPr>
            <a:lvl9pPr marL="4501774" indent="0">
              <a:buNone/>
              <a:defRPr sz="1969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246735" y="1340768"/>
            <a:ext cx="6558267" cy="5112568"/>
          </a:xfrm>
        </p:spPr>
        <p:txBody>
          <a:bodyPr/>
          <a:lstStyle>
            <a:lvl1pPr>
              <a:defRPr sz="2954">
                <a:solidFill>
                  <a:srgbClr val="000000"/>
                </a:solidFill>
              </a:defRPr>
            </a:lvl1pPr>
            <a:lvl2pPr>
              <a:defRPr sz="2462">
                <a:solidFill>
                  <a:srgbClr val="000000"/>
                </a:solidFill>
              </a:defRPr>
            </a:lvl2pPr>
            <a:lvl3pPr>
              <a:defRPr sz="2215">
                <a:solidFill>
                  <a:srgbClr val="000000"/>
                </a:solidFill>
              </a:defRPr>
            </a:lvl3pPr>
            <a:lvl4pPr>
              <a:defRPr sz="1969">
                <a:solidFill>
                  <a:srgbClr val="000000"/>
                </a:solidFill>
              </a:defRPr>
            </a:lvl4pPr>
            <a:lvl5pPr>
              <a:defRPr sz="1969">
                <a:solidFill>
                  <a:srgbClr val="000000"/>
                </a:solidFill>
              </a:defRPr>
            </a:lvl5pPr>
            <a:lvl6pPr>
              <a:defRPr sz="1969"/>
            </a:lvl6pPr>
            <a:lvl7pPr>
              <a:defRPr sz="1969"/>
            </a:lvl7pPr>
            <a:lvl8pPr>
              <a:defRPr sz="1969"/>
            </a:lvl8pPr>
            <a:lvl9pPr>
              <a:defRPr sz="1969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893627" y="764704"/>
            <a:ext cx="4945582" cy="504056"/>
          </a:xfrm>
        </p:spPr>
        <p:txBody>
          <a:bodyPr anchor="b"/>
          <a:lstStyle>
            <a:lvl1pPr marL="0" indent="0">
              <a:buNone/>
              <a:defRPr sz="2954" b="1">
                <a:solidFill>
                  <a:srgbClr val="000000"/>
                </a:solidFill>
              </a:defRPr>
            </a:lvl1pPr>
            <a:lvl2pPr marL="562722" indent="0">
              <a:buNone/>
              <a:defRPr sz="2462" b="1"/>
            </a:lvl2pPr>
            <a:lvl3pPr marL="1125444" indent="0">
              <a:buNone/>
              <a:defRPr sz="2215" b="1"/>
            </a:lvl3pPr>
            <a:lvl4pPr marL="1688165" indent="0">
              <a:buNone/>
              <a:defRPr sz="1969" b="1"/>
            </a:lvl4pPr>
            <a:lvl5pPr marL="2250887" indent="0">
              <a:buNone/>
              <a:defRPr sz="1969" b="1"/>
            </a:lvl5pPr>
            <a:lvl6pPr marL="2813609" indent="0">
              <a:buNone/>
              <a:defRPr sz="1969" b="1"/>
            </a:lvl6pPr>
            <a:lvl7pPr marL="3376331" indent="0">
              <a:buNone/>
              <a:defRPr sz="1969" b="1"/>
            </a:lvl7pPr>
            <a:lvl8pPr marL="3939052" indent="0">
              <a:buNone/>
              <a:defRPr sz="1969" b="1"/>
            </a:lvl8pPr>
            <a:lvl9pPr marL="4501774" indent="0">
              <a:buNone/>
              <a:defRPr sz="1969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 hasCustomPrompt="1"/>
          </p:nvPr>
        </p:nvSpPr>
        <p:spPr>
          <a:xfrm>
            <a:off x="6893627" y="1340768"/>
            <a:ext cx="4945582" cy="5112568"/>
          </a:xfrm>
        </p:spPr>
        <p:txBody>
          <a:bodyPr/>
          <a:lstStyle>
            <a:lvl1pPr>
              <a:defRPr sz="2954">
                <a:solidFill>
                  <a:srgbClr val="000000"/>
                </a:solidFill>
              </a:defRPr>
            </a:lvl1pPr>
            <a:lvl2pPr>
              <a:defRPr sz="2462">
                <a:solidFill>
                  <a:srgbClr val="000000"/>
                </a:solidFill>
              </a:defRPr>
            </a:lvl2pPr>
            <a:lvl3pPr>
              <a:defRPr sz="2215">
                <a:solidFill>
                  <a:srgbClr val="000000"/>
                </a:solidFill>
              </a:defRPr>
            </a:lvl3pPr>
            <a:lvl4pPr>
              <a:defRPr sz="1969">
                <a:solidFill>
                  <a:srgbClr val="000000"/>
                </a:solidFill>
              </a:defRPr>
            </a:lvl4pPr>
            <a:lvl5pPr>
              <a:defRPr sz="1969">
                <a:solidFill>
                  <a:srgbClr val="000000"/>
                </a:solidFill>
              </a:defRPr>
            </a:lvl5pPr>
            <a:lvl6pPr>
              <a:defRPr sz="1969"/>
            </a:lvl6pPr>
            <a:lvl7pPr>
              <a:defRPr sz="1969"/>
            </a:lvl7pPr>
            <a:lvl8pPr>
              <a:defRPr sz="1969"/>
            </a:lvl8pPr>
            <a:lvl9pPr>
              <a:defRPr sz="1969"/>
            </a:lvl9pPr>
          </a:lstStyle>
          <a:p>
            <a:pPr lvl="0"/>
            <a:r>
              <a:rPr lang="zh-TW" altLang="en-US"/>
              <a:t>按一下以編輯文字樣式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2C7611D-A327-4D7A-B0CC-BD7C9B9F11E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89333769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56CA749-C98C-4DB3-9FF7-B1074AFD1EAF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91219130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784F4EE5-BCBD-459C-B67D-EBB22C6F76DF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43546685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35360" y="273050"/>
            <a:ext cx="4285487" cy="1162050"/>
          </a:xfrm>
        </p:spPr>
        <p:txBody>
          <a:bodyPr anchor="b"/>
          <a:lstStyle>
            <a:lvl1pPr algn="l">
              <a:defRPr sz="2462" b="1">
                <a:solidFill>
                  <a:srgbClr val="00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7385" y="273050"/>
            <a:ext cx="7089255" cy="6180286"/>
          </a:xfrm>
        </p:spPr>
        <p:txBody>
          <a:bodyPr/>
          <a:lstStyle>
            <a:lvl1pPr>
              <a:defRPr sz="3939">
                <a:solidFill>
                  <a:srgbClr val="000000"/>
                </a:solidFill>
              </a:defRPr>
            </a:lvl1pPr>
            <a:lvl2pPr>
              <a:defRPr sz="3446">
                <a:solidFill>
                  <a:srgbClr val="000000"/>
                </a:solidFill>
              </a:defRPr>
            </a:lvl2pPr>
            <a:lvl3pPr>
              <a:defRPr sz="2954">
                <a:solidFill>
                  <a:srgbClr val="000000"/>
                </a:solidFill>
              </a:defRPr>
            </a:lvl3pPr>
            <a:lvl4pPr>
              <a:defRPr sz="2462">
                <a:solidFill>
                  <a:srgbClr val="000000"/>
                </a:solidFill>
              </a:defRPr>
            </a:lvl4pPr>
            <a:lvl5pPr>
              <a:defRPr sz="2462">
                <a:solidFill>
                  <a:srgbClr val="000000"/>
                </a:solidFill>
              </a:defRPr>
            </a:lvl5pPr>
            <a:lvl6pPr>
              <a:defRPr sz="2462"/>
            </a:lvl6pPr>
            <a:lvl7pPr>
              <a:defRPr sz="2462"/>
            </a:lvl7pPr>
            <a:lvl8pPr>
              <a:defRPr sz="2462"/>
            </a:lvl8pPr>
            <a:lvl9pPr>
              <a:defRPr sz="2462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335360" y="1435100"/>
            <a:ext cx="4285487" cy="5018236"/>
          </a:xfrm>
        </p:spPr>
        <p:txBody>
          <a:bodyPr/>
          <a:lstStyle>
            <a:lvl1pPr marL="0" indent="0">
              <a:buNone/>
              <a:defRPr sz="1723">
                <a:solidFill>
                  <a:srgbClr val="000000"/>
                </a:solidFill>
              </a:defRPr>
            </a:lvl1pPr>
            <a:lvl2pPr marL="562722" indent="0">
              <a:buNone/>
              <a:defRPr sz="1477"/>
            </a:lvl2pPr>
            <a:lvl3pPr marL="1125444" indent="0">
              <a:buNone/>
              <a:defRPr sz="1231"/>
            </a:lvl3pPr>
            <a:lvl4pPr marL="1688165" indent="0">
              <a:buNone/>
              <a:defRPr sz="1108"/>
            </a:lvl4pPr>
            <a:lvl5pPr marL="2250887" indent="0">
              <a:buNone/>
              <a:defRPr sz="1108"/>
            </a:lvl5pPr>
            <a:lvl6pPr marL="2813609" indent="0">
              <a:buNone/>
              <a:defRPr sz="1108"/>
            </a:lvl6pPr>
            <a:lvl7pPr marL="3376331" indent="0">
              <a:buNone/>
              <a:defRPr sz="1108"/>
            </a:lvl7pPr>
            <a:lvl8pPr marL="3939052" indent="0">
              <a:buNone/>
              <a:defRPr sz="1108"/>
            </a:lvl8pPr>
            <a:lvl9pPr marL="4501774" indent="0">
              <a:buNone/>
              <a:defRPr sz="1108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56EE654-F85C-488B-B06D-685A5EF03A3B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17160531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554" y="4800600"/>
            <a:ext cx="7315200" cy="566738"/>
          </a:xfrm>
        </p:spPr>
        <p:txBody>
          <a:bodyPr anchor="b"/>
          <a:lstStyle>
            <a:lvl1pPr algn="l">
              <a:defRPr sz="2462" b="1">
                <a:solidFill>
                  <a:srgbClr val="00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554" y="612775"/>
            <a:ext cx="7315200" cy="4114800"/>
          </a:xfrm>
        </p:spPr>
        <p:txBody>
          <a:bodyPr/>
          <a:lstStyle>
            <a:lvl1pPr marL="0" indent="0">
              <a:buNone/>
              <a:defRPr sz="3939"/>
            </a:lvl1pPr>
            <a:lvl2pPr marL="562722" indent="0">
              <a:buNone/>
              <a:defRPr sz="3446"/>
            </a:lvl2pPr>
            <a:lvl3pPr marL="1125444" indent="0">
              <a:buNone/>
              <a:defRPr sz="2954"/>
            </a:lvl3pPr>
            <a:lvl4pPr marL="1688165" indent="0">
              <a:buNone/>
              <a:defRPr sz="2462"/>
            </a:lvl4pPr>
            <a:lvl5pPr marL="2250887" indent="0">
              <a:buNone/>
              <a:defRPr sz="2462"/>
            </a:lvl5pPr>
            <a:lvl6pPr marL="2813609" indent="0">
              <a:buNone/>
              <a:defRPr sz="2462"/>
            </a:lvl6pPr>
            <a:lvl7pPr marL="3376331" indent="0">
              <a:buNone/>
              <a:defRPr sz="2462"/>
            </a:lvl7pPr>
            <a:lvl8pPr marL="3939052" indent="0">
              <a:buNone/>
              <a:defRPr sz="2462"/>
            </a:lvl8pPr>
            <a:lvl9pPr marL="4501774" indent="0">
              <a:buNone/>
              <a:defRPr sz="2462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554" y="5367338"/>
            <a:ext cx="7315200" cy="804862"/>
          </a:xfrm>
        </p:spPr>
        <p:txBody>
          <a:bodyPr/>
          <a:lstStyle>
            <a:lvl1pPr marL="0" indent="0">
              <a:buNone/>
              <a:defRPr sz="1723">
                <a:solidFill>
                  <a:srgbClr val="000000"/>
                </a:solidFill>
              </a:defRPr>
            </a:lvl1pPr>
            <a:lvl2pPr marL="562722" indent="0">
              <a:buNone/>
              <a:defRPr sz="1477"/>
            </a:lvl2pPr>
            <a:lvl3pPr marL="1125444" indent="0">
              <a:buNone/>
              <a:defRPr sz="1231"/>
            </a:lvl3pPr>
            <a:lvl4pPr marL="1688165" indent="0">
              <a:buNone/>
              <a:defRPr sz="1108"/>
            </a:lvl4pPr>
            <a:lvl5pPr marL="2250887" indent="0">
              <a:buNone/>
              <a:defRPr sz="1108"/>
            </a:lvl5pPr>
            <a:lvl6pPr marL="2813609" indent="0">
              <a:buNone/>
              <a:defRPr sz="1108"/>
            </a:lvl6pPr>
            <a:lvl7pPr marL="3376331" indent="0">
              <a:buNone/>
              <a:defRPr sz="1108"/>
            </a:lvl7pPr>
            <a:lvl8pPr marL="3939052" indent="0">
              <a:buNone/>
              <a:defRPr sz="1108"/>
            </a:lvl8pPr>
            <a:lvl9pPr marL="4501774" indent="0">
              <a:buNone/>
              <a:defRPr sz="1108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6EC7FDE-831C-4773-9CCD-4D6A877F542E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78515228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7CAB5AA-8175-4E01-AC40-A371C4F5007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83834854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928815" cy="6106690"/>
          </a:xfrm>
        </p:spPr>
        <p:txBody>
          <a:bodyPr vert="eaVert"/>
          <a:lstStyle>
            <a:lvl1pPr>
              <a:defRPr sz="3939">
                <a:solidFill>
                  <a:srgbClr val="00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35360" y="274638"/>
            <a:ext cx="8316271" cy="6106690"/>
          </a:xfrm>
        </p:spPr>
        <p:txBody>
          <a:bodyPr vert="eaVert"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F3A9370-114B-41F5-9582-92E53FE088F4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33916010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3E3FB43C-F578-4BAC-B008-B910508BFE59}"/>
              </a:ext>
            </a:extLst>
          </p:cNvPr>
          <p:cNvSpPr/>
          <p:nvPr userDrawn="1"/>
        </p:nvSpPr>
        <p:spPr>
          <a:xfrm>
            <a:off x="0" y="0"/>
            <a:ext cx="1229976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2542" tIns="56271" rIns="112542" bIns="5627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215"/>
          </a:p>
        </p:txBody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 bwMode="ltGray">
          <a:xfrm>
            <a:off x="609600" y="216024"/>
            <a:ext cx="11103024" cy="5486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altLang="zh-TW"/>
              <a:t>Arial(</a:t>
            </a:r>
            <a:r>
              <a:rPr lang="zh-TW" altLang="en-US"/>
              <a:t>標題</a:t>
            </a:r>
            <a:r>
              <a:rPr lang="en-US" altLang="zh-TW"/>
              <a:t>)</a:t>
            </a:r>
            <a:r>
              <a:rPr lang="zh-TW" altLang="en-US"/>
              <a:t> </a:t>
            </a:r>
            <a:r>
              <a:rPr lang="en-US" altLang="zh-TW"/>
              <a:t>40</a:t>
            </a:r>
            <a:r>
              <a:rPr lang="zh-TW" altLang="en-US"/>
              <a:t>號 粗體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 bwMode="ltGray">
          <a:xfrm>
            <a:off x="609600" y="980728"/>
            <a:ext cx="11103024" cy="53004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第一層 </a:t>
            </a:r>
            <a:r>
              <a:rPr lang="en-US" altLang="zh-TW"/>
              <a:t>28</a:t>
            </a:r>
            <a:r>
              <a:rPr lang="zh-TW" altLang="en-US"/>
              <a:t>號 粗體</a:t>
            </a:r>
          </a:p>
          <a:p>
            <a:pPr lvl="1"/>
            <a:r>
              <a:rPr lang="zh-TW" altLang="en-US"/>
              <a:t>第二層 </a:t>
            </a:r>
            <a:r>
              <a:rPr lang="en-US" altLang="zh-TW"/>
              <a:t>24</a:t>
            </a:r>
            <a:r>
              <a:rPr lang="zh-TW" altLang="en-US"/>
              <a:t>號 粗體</a:t>
            </a:r>
          </a:p>
          <a:p>
            <a:pPr lvl="2"/>
            <a:r>
              <a:rPr lang="zh-TW" altLang="en-US"/>
              <a:t>第三層 </a:t>
            </a:r>
            <a:r>
              <a:rPr lang="en-US" altLang="zh-TW"/>
              <a:t>20</a:t>
            </a:r>
            <a:r>
              <a:rPr lang="zh-TW" altLang="en-US"/>
              <a:t>號</a:t>
            </a:r>
          </a:p>
          <a:p>
            <a:pPr lvl="3"/>
            <a:r>
              <a:rPr lang="zh-TW" altLang="en-US"/>
              <a:t>第四層 </a:t>
            </a:r>
            <a:r>
              <a:rPr lang="en-US" altLang="zh-TW"/>
              <a:t>20</a:t>
            </a:r>
            <a:r>
              <a:rPr lang="zh-TW" altLang="en-US"/>
              <a:t>號</a:t>
            </a:r>
          </a:p>
          <a:p>
            <a:pPr lvl="4"/>
            <a:r>
              <a:rPr lang="zh-TW" altLang="en-US"/>
              <a:t>第五層 </a:t>
            </a:r>
            <a:r>
              <a:rPr lang="en-US" altLang="zh-TW"/>
              <a:t>20</a:t>
            </a:r>
            <a:r>
              <a:rPr lang="zh-TW" altLang="en-US"/>
              <a:t>號</a:t>
            </a:r>
          </a:p>
        </p:txBody>
      </p:sp>
    </p:spTree>
    <p:extLst>
      <p:ext uri="{BB962C8B-B14F-4D97-AF65-F5344CB8AC3E}">
        <p14:creationId xmlns:p14="http://schemas.microsoft.com/office/powerpoint/2010/main" val="1322232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52" r:id="rId2"/>
    <p:sldLayoutId id="2147483653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hdr="0" dt="0"/>
  <p:txStyles>
    <p:titleStyle>
      <a:lvl1pPr marL="0" indent="0" algn="ctr" defTabSz="914400" rtl="0" eaLnBrk="1" latinLnBrk="1" hangingPunct="1">
        <a:spcBef>
          <a:spcPct val="20000"/>
        </a:spcBef>
        <a:buFont typeface="Arial" pitchFamily="34" charset="0"/>
        <a:buNone/>
        <a:defRPr lang="zh-TW" altLang="en-US" sz="4000" b="1" kern="1200" spc="369" baseline="0" dirty="0">
          <a:solidFill>
            <a:srgbClr val="FF0000"/>
          </a:solidFill>
          <a:latin typeface="+mj-lt"/>
          <a:ea typeface="+mn-ea"/>
          <a:cs typeface="Arial" pitchFamily="34" charset="0"/>
        </a:defRPr>
      </a:lvl1pPr>
    </p:titleStyle>
    <p:bodyStyle>
      <a:lvl1pPr marL="422041" indent="-422041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1"/>
        </a:buClr>
        <a:buFont typeface="Arial" pitchFamily="34" charset="0"/>
        <a:buChar char="•"/>
        <a:defRPr sz="2800" b="1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1pPr>
      <a:lvl2pPr marL="879253" indent="-433765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2"/>
        </a:buClr>
        <a:buFont typeface="Arial" pitchFamily="34" charset="0"/>
        <a:buChar char="–"/>
        <a:defRPr sz="2400" b="1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2pPr>
      <a:lvl3pPr marL="1219230" indent="-339978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3"/>
        </a:buClr>
        <a:buFont typeface="Arial" pitchFamily="34" charset="0"/>
        <a:buChar char="•"/>
        <a:defRPr sz="2000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3pPr>
      <a:lvl4pPr marL="1547485" indent="-328254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4"/>
        </a:buClr>
        <a:buFont typeface="Arial" pitchFamily="34" charset="0"/>
        <a:buChar char="–"/>
        <a:defRPr sz="2000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4pPr>
      <a:lvl5pPr marL="1875739" indent="-328254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5"/>
        </a:buClr>
        <a:buFont typeface="Arial" pitchFamily="34" charset="0"/>
        <a:buChar char="»"/>
        <a:defRPr sz="2000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5pPr>
      <a:lvl6pPr marL="3094970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6pPr>
      <a:lvl7pPr marL="3657691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7pPr>
      <a:lvl8pPr marL="4220413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8pPr>
      <a:lvl9pPr marL="4783135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1pPr>
      <a:lvl2pPr marL="562722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2pPr>
      <a:lvl3pPr marL="1125444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3pPr>
      <a:lvl4pPr marL="1688165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4pPr>
      <a:lvl5pPr marL="2250887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5pPr>
      <a:lvl6pPr marL="2813609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6pPr>
      <a:lvl7pPr marL="3376331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7pPr>
      <a:lvl8pPr marL="3939052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8pPr>
      <a:lvl9pPr marL="4501774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sqlitebrowser.org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828D6BC7-90B7-48DA-BBBC-D1E248316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err="1"/>
              <a:t>Sqlalchemy</a:t>
            </a:r>
            <a:endParaRPr lang="en-US" altLang="en-US"/>
          </a:p>
        </p:txBody>
      </p:sp>
      <p:sp>
        <p:nvSpPr>
          <p:cNvPr id="7" name="Rectangle 131">
            <a:extLst>
              <a:ext uri="{FF2B5EF4-FFF2-40B4-BE49-F238E27FC236}">
                <a16:creationId xmlns:a16="http://schemas.microsoft.com/office/drawing/2014/main" id="{592B8426-F2A6-4FF0-975A-D6D584A66E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9580" y="5203874"/>
            <a:ext cx="2125663" cy="824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>
              <a:lnSpc>
                <a:spcPct val="125000"/>
              </a:lnSpc>
            </a:pPr>
            <a:r>
              <a:rPr kumimoji="0" lang="en-US" altLang="zh-TW" sz="2000"/>
              <a:t>Estimated time: </a:t>
            </a:r>
          </a:p>
          <a:p>
            <a:pPr algn="ctr" eaLnBrk="0" hangingPunct="0">
              <a:lnSpc>
                <a:spcPct val="125000"/>
              </a:lnSpc>
            </a:pPr>
            <a:r>
              <a:rPr lang="en-US" altLang="zh-TW" sz="2000">
                <a:solidFill>
                  <a:srgbClr val="FF0000"/>
                </a:solidFill>
              </a:rPr>
              <a:t>45 </a:t>
            </a:r>
            <a:r>
              <a:rPr kumimoji="0" lang="en-US" altLang="zh-TW" sz="2000"/>
              <a:t>min.</a:t>
            </a: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CD8F8FB4-7BB2-46B1-85E1-2478150B24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432" y="5172128"/>
            <a:ext cx="1687513" cy="457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265" tIns="43632" rIns="87265" bIns="43632" anchor="t">
            <a:spAutoFit/>
          </a:bodyPr>
          <a:lstStyle/>
          <a:p>
            <a:pPr marL="279400" indent="-279400" algn="ctr" defTabSz="873125" eaLnBrk="0" hangingPunct="0">
              <a:spcBef>
                <a:spcPct val="15000"/>
              </a:spcBef>
              <a:buSzPct val="65000"/>
            </a:pPr>
            <a:r>
              <a:rPr lang="en-US" altLang="zh-TW" sz="2400" i="1">
                <a:solidFill>
                  <a:srgbClr val="0000FF"/>
                </a:solidFill>
                <a:latin typeface="Georgia"/>
                <a:ea typeface="標楷體"/>
              </a:rPr>
              <a:t>Module 10</a:t>
            </a:r>
          </a:p>
        </p:txBody>
      </p:sp>
    </p:spTree>
    <p:extLst>
      <p:ext uri="{BB962C8B-B14F-4D97-AF65-F5344CB8AC3E}">
        <p14:creationId xmlns:p14="http://schemas.microsoft.com/office/powerpoint/2010/main" val="2071263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B7A2-C859-4B36-A3C9-1FD50872A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err="1"/>
              <a:t>Sqlite</a:t>
            </a:r>
            <a:r>
              <a:rPr lang="en-US" altLang="zh-TW"/>
              <a:t> </a:t>
            </a:r>
            <a:r>
              <a:rPr lang="zh-TW" altLang="en-US"/>
              <a:t>資料庫介紹</a:t>
            </a:r>
          </a:p>
        </p:txBody>
      </p:sp>
      <p:sp>
        <p:nvSpPr>
          <p:cNvPr id="8" name="文字版面配置區 4">
            <a:extLst>
              <a:ext uri="{FF2B5EF4-FFF2-40B4-BE49-F238E27FC236}">
                <a16:creationId xmlns:a16="http://schemas.microsoft.com/office/drawing/2014/main" id="{6720A29A-C4BE-4411-B984-01DE680153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4962" y="765175"/>
            <a:ext cx="10797635" cy="5616575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err="1"/>
              <a:t>Sqlite</a:t>
            </a:r>
            <a:r>
              <a:rPr lang="en-US" altLang="zh-TW"/>
              <a:t> </a:t>
            </a:r>
            <a:r>
              <a:rPr lang="zh-TW" altLang="en-US"/>
              <a:t>為 </a:t>
            </a:r>
            <a:r>
              <a:rPr lang="en-US" altLang="zh-TW"/>
              <a:t>python </a:t>
            </a:r>
            <a:r>
              <a:rPr lang="zh-TW" altLang="en-US"/>
              <a:t>內建資料庫</a:t>
            </a:r>
            <a:endParaRPr lang="en-US" altLang="zh-TW"/>
          </a:p>
          <a:p>
            <a:pPr marL="961171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/>
              <a:t>是一種輕量級、關聯性之資料庫</a:t>
            </a:r>
            <a:endParaRPr lang="en-US" altLang="zh-TW"/>
          </a:p>
          <a:p>
            <a:pPr marL="961171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/>
              <a:t>需要使用</a:t>
            </a:r>
            <a:r>
              <a:rPr lang="en-US" altLang="zh-TW"/>
              <a:t>SQL</a:t>
            </a:r>
            <a:r>
              <a:rPr lang="zh-TW" altLang="en-US"/>
              <a:t>語言來跟資料庫做溝通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70878CEF-1543-4197-8C55-27F6511519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1889" y="3364182"/>
            <a:ext cx="4008221" cy="2573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79450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B7A2-C859-4B36-A3C9-1FD50872A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資料庫名詞介紹</a:t>
            </a: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36D046E-31BA-4E65-9370-6ACBCD291D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11445227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endParaRPr lang="zh-TW" altLang="en-US" sz="2400" b="0"/>
          </a:p>
        </p:txBody>
      </p:sp>
      <p:pic>
        <p:nvPicPr>
          <p:cNvPr id="6" name="Picture 2" descr="「DB terminology」的圖片搜尋結果">
            <a:extLst>
              <a:ext uri="{FF2B5EF4-FFF2-40B4-BE49-F238E27FC236}">
                <a16:creationId xmlns:a16="http://schemas.microsoft.com/office/drawing/2014/main" id="{7C6FA6BE-B659-4808-B11F-C2B3F6A8BB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4759" y="1809902"/>
            <a:ext cx="9246283" cy="4559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326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B7A2-C859-4B36-A3C9-1FD50872A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err="1"/>
              <a:t>sqlite</a:t>
            </a:r>
            <a:r>
              <a:rPr lang="en-US" altLang="zh-TW"/>
              <a:t> browser</a:t>
            </a:r>
            <a:endParaRPr lang="en-US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36D046E-31BA-4E65-9370-6ACBCD291D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11445227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TW" sz="2800" err="1"/>
              <a:t>sqlite</a:t>
            </a:r>
            <a:r>
              <a:rPr lang="en-US" altLang="zh-TW" sz="2800"/>
              <a:t> browser</a:t>
            </a:r>
            <a:r>
              <a:rPr lang="zh-TW" altLang="en-US" sz="2800"/>
              <a:t> 是一款協助觀察 </a:t>
            </a:r>
            <a:r>
              <a:rPr lang="en-US" altLang="zh-TW" sz="2800" err="1"/>
              <a:t>sqlite</a:t>
            </a:r>
            <a:r>
              <a:rPr lang="zh-TW" altLang="en-US" sz="2800"/>
              <a:t> 資料庫內資料的軟體</a:t>
            </a:r>
            <a:endParaRPr lang="en-US" altLang="zh-TW" sz="2800"/>
          </a:p>
          <a:p>
            <a:pPr marL="914412" lvl="1" indent="-457200">
              <a:buFont typeface="Arial" panose="020B0604020202020204" pitchFamily="34" charset="0"/>
              <a:buChar char="•"/>
            </a:pPr>
            <a:r>
              <a:rPr lang="en-US" altLang="zh-TW" sz="1908">
                <a:hlinkClick r:id="" action="ppaction://noaction"/>
              </a:rPr>
              <a:t>http</a:t>
            </a:r>
            <a:r>
              <a:rPr lang="en-US" altLang="zh-TW" sz="1908">
                <a:hlinkClick r:id="rId3"/>
              </a:rPr>
              <a:t>://sqlitebrowser.org/</a:t>
            </a:r>
            <a:endParaRPr lang="en-US" altLang="zh-TW" sz="1908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6054DA7-CC44-4608-A55E-6D3A100F79DD}"/>
              </a:ext>
            </a:extLst>
          </p:cNvPr>
          <p:cNvSpPr txBox="1"/>
          <p:nvPr/>
        </p:nvSpPr>
        <p:spPr>
          <a:xfrm>
            <a:off x="4019266" y="4907259"/>
            <a:ext cx="415318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altLang="zh-TW" sz="2400">
              <a:cs typeface="Arial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EC36733-279B-45B8-BB2A-E88C7C8DBB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5184" y="1989478"/>
            <a:ext cx="6355872" cy="4027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191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B7A2-C859-4B36-A3C9-1FD50872A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err="1"/>
              <a:t>sqlite</a:t>
            </a:r>
            <a:r>
              <a:rPr lang="en-US" altLang="zh-TW"/>
              <a:t> browser</a:t>
            </a:r>
            <a:endParaRPr lang="en-US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6054DA7-CC44-4608-A55E-6D3A100F79DD}"/>
              </a:ext>
            </a:extLst>
          </p:cNvPr>
          <p:cNvSpPr txBox="1"/>
          <p:nvPr/>
        </p:nvSpPr>
        <p:spPr>
          <a:xfrm>
            <a:off x="4019266" y="4907259"/>
            <a:ext cx="415318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altLang="zh-TW" sz="2400">
              <a:cs typeface="Arial"/>
            </a:endParaRPr>
          </a:p>
        </p:txBody>
      </p:sp>
      <p:pic>
        <p:nvPicPr>
          <p:cNvPr id="7" name="內容版面配置區 3">
            <a:extLst>
              <a:ext uri="{FF2B5EF4-FFF2-40B4-BE49-F238E27FC236}">
                <a16:creationId xmlns:a16="http://schemas.microsoft.com/office/drawing/2014/main" id="{019ECB5B-90B1-4928-ABB9-8CB8C4D0614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043" y="2386826"/>
            <a:ext cx="5558948" cy="3524406"/>
          </a:xfrm>
          <a:prstGeom prst="rect">
            <a:avLst/>
          </a:prstGeom>
        </p:spPr>
      </p:pic>
      <p:pic>
        <p:nvPicPr>
          <p:cNvPr id="8" name="內容版面配置區 3">
            <a:extLst>
              <a:ext uri="{FF2B5EF4-FFF2-40B4-BE49-F238E27FC236}">
                <a16:creationId xmlns:a16="http://schemas.microsoft.com/office/drawing/2014/main" id="{AE1EAE36-198F-49BB-82AE-FE2FBC1A45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1010" y="2386826"/>
            <a:ext cx="5574971" cy="3524406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15822272-87AB-4AF1-B116-F4F6E6A1723F}"/>
              </a:ext>
            </a:extLst>
          </p:cNvPr>
          <p:cNvSpPr/>
          <p:nvPr/>
        </p:nvSpPr>
        <p:spPr>
          <a:xfrm>
            <a:off x="222043" y="2796467"/>
            <a:ext cx="692357" cy="32847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468536C-8653-441A-9114-BF8B9C8176E4}"/>
              </a:ext>
            </a:extLst>
          </p:cNvPr>
          <p:cNvSpPr/>
          <p:nvPr/>
        </p:nvSpPr>
        <p:spPr>
          <a:xfrm>
            <a:off x="6970552" y="2805250"/>
            <a:ext cx="692357" cy="32847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4327B53-3676-48DE-A587-CAC8A350528C}"/>
              </a:ext>
            </a:extLst>
          </p:cNvPr>
          <p:cNvSpPr/>
          <p:nvPr/>
        </p:nvSpPr>
        <p:spPr>
          <a:xfrm>
            <a:off x="1535837" y="2610035"/>
            <a:ext cx="1198485" cy="19521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1091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B7A2-C859-4B36-A3C9-1FD50872A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err="1">
                <a:cs typeface="Arial"/>
              </a:rPr>
              <a:t>SQLAlchemy</a:t>
            </a:r>
            <a:endParaRPr lang="en-US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36D046E-31BA-4E65-9370-6ACBCD291D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11445227" cy="561662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21640" indent="-421640"/>
            <a:r>
              <a:rPr lang="en-US" altLang="zh-TW" sz="2400" b="0" err="1">
                <a:latin typeface="Arial"/>
                <a:ea typeface="微軟正黑體"/>
                <a:cs typeface="Arial"/>
              </a:rPr>
              <a:t>sqlalchemy</a:t>
            </a:r>
            <a:r>
              <a:rPr lang="zh-TW" altLang="en-US" sz="2400" b="0">
                <a:latin typeface="Arial"/>
                <a:ea typeface="微軟正黑體"/>
                <a:cs typeface="Arial"/>
              </a:rPr>
              <a:t>是一個</a:t>
            </a:r>
            <a:r>
              <a:rPr lang="en-US" altLang="zh-TW" sz="2400" b="0" dirty="0">
                <a:latin typeface="Arial"/>
                <a:ea typeface="微軟正黑體"/>
                <a:cs typeface="Arial"/>
              </a:rPr>
              <a:t>python</a:t>
            </a:r>
            <a:r>
              <a:rPr lang="zh-TW" altLang="en-US" sz="2400" b="0">
                <a:latin typeface="Arial"/>
                <a:ea typeface="微軟正黑體"/>
                <a:cs typeface="Arial"/>
              </a:rPr>
              <a:t>語言實現的的針對關係型資料庫的</a:t>
            </a:r>
            <a:r>
              <a:rPr lang="en-US" altLang="zh-TW" sz="2400" b="0" err="1">
                <a:latin typeface="Arial"/>
                <a:ea typeface="微軟正黑體"/>
                <a:cs typeface="Arial"/>
              </a:rPr>
              <a:t>orm</a:t>
            </a:r>
            <a:r>
              <a:rPr lang="zh-TW" altLang="en-US" sz="2400" b="0">
                <a:latin typeface="Arial"/>
                <a:ea typeface="微軟正黑體"/>
                <a:cs typeface="Arial"/>
              </a:rPr>
              <a:t>庫。可用於連線大多數常見的資料庫，比如</a:t>
            </a:r>
            <a:r>
              <a:rPr lang="en-US" altLang="zh-TW" sz="2400" b="0" dirty="0">
                <a:latin typeface="Arial"/>
                <a:ea typeface="微軟正黑體"/>
                <a:cs typeface="Arial"/>
              </a:rPr>
              <a:t>Postgres</a:t>
            </a:r>
            <a:r>
              <a:rPr lang="zh-TW" altLang="en-US" sz="2400" b="0">
                <a:latin typeface="Arial"/>
                <a:ea typeface="微軟正黑體"/>
                <a:cs typeface="Arial"/>
              </a:rPr>
              <a:t>、</a:t>
            </a:r>
            <a:r>
              <a:rPr lang="en-US" altLang="zh-TW" sz="2400" b="0" dirty="0">
                <a:latin typeface="Arial"/>
                <a:ea typeface="微軟正黑體"/>
                <a:cs typeface="Arial"/>
              </a:rPr>
              <a:t>MySQL</a:t>
            </a:r>
            <a:r>
              <a:rPr lang="zh-TW" altLang="en-US" sz="2400" b="0">
                <a:latin typeface="Arial"/>
                <a:ea typeface="微軟正黑體"/>
                <a:cs typeface="Arial"/>
              </a:rPr>
              <a:t>、</a:t>
            </a:r>
            <a:r>
              <a:rPr lang="en-US" altLang="zh-TW" sz="2400" b="0" dirty="0">
                <a:latin typeface="Arial"/>
                <a:ea typeface="微軟正黑體"/>
                <a:cs typeface="Arial"/>
              </a:rPr>
              <a:t>SQLite</a:t>
            </a:r>
            <a:r>
              <a:rPr lang="zh-TW" altLang="en-US" sz="2400" b="0">
                <a:latin typeface="Arial"/>
                <a:ea typeface="微軟正黑體"/>
                <a:cs typeface="Arial"/>
              </a:rPr>
              <a:t>、</a:t>
            </a:r>
            <a:r>
              <a:rPr lang="en-US" altLang="zh-TW" sz="2400" b="0" dirty="0">
                <a:latin typeface="Arial"/>
                <a:ea typeface="微軟正黑體"/>
                <a:cs typeface="Arial"/>
              </a:rPr>
              <a:t>Oracle</a:t>
            </a:r>
            <a:r>
              <a:rPr lang="zh-TW" altLang="en-US" sz="2400" b="0">
                <a:latin typeface="Arial"/>
                <a:ea typeface="微軟正黑體"/>
                <a:cs typeface="Arial"/>
              </a:rPr>
              <a:t>等。</a:t>
            </a:r>
            <a:endParaRPr lang="en-US" altLang="zh-TW" sz="2400" b="0" dirty="0">
              <a:latin typeface="Arial"/>
              <a:ea typeface="微軟正黑體"/>
              <a:cs typeface="Arial"/>
            </a:endParaRPr>
          </a:p>
          <a:p>
            <a:pPr marL="421640" indent="-421640"/>
            <a:r>
              <a:rPr lang="en-US" altLang="zh-TW" sz="2400" b="0" err="1">
                <a:latin typeface="Arial"/>
                <a:ea typeface="微軟正黑體"/>
                <a:cs typeface="Arial"/>
              </a:rPr>
              <a:t>SQLAlchemy</a:t>
            </a:r>
            <a:r>
              <a:rPr lang="zh-TW" altLang="en-US" sz="2400" b="0">
                <a:latin typeface="Arial"/>
                <a:ea typeface="微軟正黑體"/>
                <a:cs typeface="Arial"/>
              </a:rPr>
              <a:t>有三種處理數據庫數據的方式：</a:t>
            </a:r>
            <a:endParaRPr lang="en-US" altLang="zh-TW" sz="2400" b="0" dirty="0">
              <a:latin typeface="Arial"/>
              <a:ea typeface="微軟正黑體"/>
              <a:cs typeface="Arial"/>
            </a:endParaRPr>
          </a:p>
          <a:p>
            <a:pPr marL="421640" indent="-421640">
              <a:buClr>
                <a:srgbClr val="E1CB1A"/>
              </a:buClr>
            </a:pPr>
            <a:endParaRPr lang="zh-TW" altLang="en-US" sz="2400" b="0" dirty="0">
              <a:latin typeface="Arial"/>
              <a:ea typeface="微軟正黑體"/>
              <a:cs typeface="Arial"/>
            </a:endParaRPr>
          </a:p>
          <a:p>
            <a:pPr marL="421640" indent="-421640"/>
            <a:endParaRPr lang="zh-TW" altLang="en-US" sz="2400" b="0" dirty="0">
              <a:latin typeface="Arial"/>
              <a:ea typeface="微軟正黑體"/>
              <a:cs typeface="Arial"/>
            </a:endParaRPr>
          </a:p>
          <a:p>
            <a:pPr marL="421640" indent="-421640"/>
            <a:endParaRPr lang="zh-TW" altLang="en-US" sz="2400" b="0" dirty="0">
              <a:latin typeface="Arial"/>
              <a:ea typeface="微軟正黑體"/>
              <a:cs typeface="Arial"/>
            </a:endParaRPr>
          </a:p>
          <a:p>
            <a:pPr marL="421640" indent="-421640"/>
            <a:endParaRPr lang="zh-TW" altLang="en-US" sz="2400" b="0" dirty="0">
              <a:latin typeface="Arial"/>
              <a:ea typeface="微軟正黑體"/>
              <a:cs typeface="Arial"/>
            </a:endParaRPr>
          </a:p>
          <a:p>
            <a:pPr marL="421640" indent="-421640"/>
            <a:endParaRPr lang="zh-TW" altLang="en-US" sz="2400" b="0" dirty="0">
              <a:latin typeface="Arial"/>
              <a:ea typeface="微軟正黑體"/>
              <a:cs typeface="Arial"/>
            </a:endParaRPr>
          </a:p>
          <a:p>
            <a:pPr marL="421640" indent="-421640"/>
            <a:r>
              <a:rPr lang="zh-TW" altLang="en-US" sz="2400" b="0">
                <a:latin typeface="Arial"/>
                <a:ea typeface="微軟正黑體"/>
                <a:cs typeface="Arial"/>
              </a:rPr>
              <a:t>安裝</a:t>
            </a:r>
            <a:r>
              <a:rPr lang="en-US" altLang="zh-TW" sz="2400" b="0" err="1">
                <a:latin typeface="Arial"/>
                <a:ea typeface="微軟正黑體"/>
                <a:cs typeface="Arial"/>
              </a:rPr>
              <a:t>sqlalchemy</a:t>
            </a:r>
            <a:r>
              <a:rPr lang="en-US" altLang="zh-TW" sz="2400" b="0" dirty="0">
                <a:latin typeface="Arial"/>
                <a:ea typeface="微軟正黑體"/>
                <a:cs typeface="Arial"/>
              </a:rPr>
              <a:t> : pip install </a:t>
            </a:r>
            <a:r>
              <a:rPr lang="en-US" altLang="zh-TW" sz="2400" b="0" err="1">
                <a:latin typeface="Arial"/>
                <a:ea typeface="微軟正黑體"/>
                <a:cs typeface="Arial"/>
              </a:rPr>
              <a:t>sqlalchemy</a:t>
            </a:r>
            <a:endParaRPr lang="en-US" altLang="zh-TW" sz="2400" b="0">
              <a:latin typeface="Arial"/>
              <a:ea typeface="微軟正黑體"/>
              <a:cs typeface="Arial"/>
            </a:endParaRPr>
          </a:p>
          <a:p>
            <a:pPr marL="421640" indent="-421640"/>
            <a:r>
              <a:rPr lang="en-US" altLang="zh-TW" sz="2400" b="0" dirty="0">
                <a:latin typeface="Arial"/>
                <a:ea typeface="微軟正黑體"/>
                <a:cs typeface="Arial"/>
              </a:rPr>
              <a:t>PS. </a:t>
            </a:r>
            <a:r>
              <a:rPr lang="en-US" altLang="zh-TW" sz="2400" b="0" err="1">
                <a:latin typeface="Arial"/>
                <a:ea typeface="微軟正黑體"/>
                <a:cs typeface="Arial"/>
              </a:rPr>
              <a:t>連接MySQL的話可能需要安裝</a:t>
            </a:r>
            <a:r>
              <a:rPr lang="en-US" altLang="zh-TW" sz="2400" b="0" dirty="0">
                <a:latin typeface="Arial"/>
                <a:ea typeface="微軟正黑體"/>
                <a:cs typeface="Arial"/>
              </a:rPr>
              <a:t> </a:t>
            </a:r>
            <a:r>
              <a:rPr lang="en-US" altLang="zh-TW" sz="2400" b="0" err="1">
                <a:latin typeface="Arial"/>
                <a:ea typeface="微軟正黑體"/>
                <a:cs typeface="Arial"/>
              </a:rPr>
              <a:t>pymysql</a:t>
            </a:r>
            <a:r>
              <a:rPr lang="en-US" altLang="zh-TW" sz="2400" b="0" dirty="0">
                <a:latin typeface="Arial"/>
                <a:ea typeface="微軟正黑體"/>
                <a:cs typeface="Arial"/>
              </a:rPr>
              <a:t> 跟 cryptography</a:t>
            </a:r>
            <a:endParaRPr lang="en-US" altLang="zh-TW" sz="2400" b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B338A66A-1C9B-332D-4A82-D032A9D088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5415561"/>
              </p:ext>
            </p:extLst>
          </p:nvPr>
        </p:nvGraphicFramePr>
        <p:xfrm>
          <a:off x="985345" y="2529538"/>
          <a:ext cx="10803984" cy="2103120"/>
        </p:xfrm>
        <a:graphic>
          <a:graphicData uri="http://schemas.openxmlformats.org/drawingml/2006/table">
            <a:tbl>
              <a:tblPr bandRow="1">
                <a:tableStyleId>{616DA210-FB5B-4158-B5E0-FEB733F419BA}</a:tableStyleId>
              </a:tblPr>
              <a:tblGrid>
                <a:gridCol w="2700996">
                  <a:extLst>
                    <a:ext uri="{9D8B030D-6E8A-4147-A177-3AD203B41FA5}">
                      <a16:colId xmlns:a16="http://schemas.microsoft.com/office/drawing/2014/main" val="2051634962"/>
                    </a:ext>
                  </a:extLst>
                </a:gridCol>
                <a:gridCol w="2700996">
                  <a:extLst>
                    <a:ext uri="{9D8B030D-6E8A-4147-A177-3AD203B41FA5}">
                      <a16:colId xmlns:a16="http://schemas.microsoft.com/office/drawing/2014/main" val="2892184718"/>
                    </a:ext>
                  </a:extLst>
                </a:gridCol>
                <a:gridCol w="2700996">
                  <a:extLst>
                    <a:ext uri="{9D8B030D-6E8A-4147-A177-3AD203B41FA5}">
                      <a16:colId xmlns:a16="http://schemas.microsoft.com/office/drawing/2014/main" val="1880883220"/>
                    </a:ext>
                  </a:extLst>
                </a:gridCol>
                <a:gridCol w="2700996">
                  <a:extLst>
                    <a:ext uri="{9D8B030D-6E8A-4147-A177-3AD203B41FA5}">
                      <a16:colId xmlns:a16="http://schemas.microsoft.com/office/drawing/2014/main" val="1380410596"/>
                    </a:ext>
                  </a:extLst>
                </a:gridCol>
              </a:tblGrid>
              <a:tr h="2998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TW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sz="1800" dirty="0"/>
                        <a:t>Raw SQL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sz="1800" dirty="0"/>
                        <a:t>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sz="1800" dirty="0" err="1"/>
                        <a:t>Query</a:t>
                      </a:r>
                      <a:r>
                        <a:rPr lang="af-ZA" sz="1800" dirty="0"/>
                        <a:t> </a:t>
                      </a:r>
                      <a:r>
                        <a:rPr lang="af-ZA" sz="1800" dirty="0" err="1"/>
                        <a:t>builder</a:t>
                      </a:r>
                      <a:r>
                        <a:rPr lang="af-ZA" sz="1800" dirty="0"/>
                        <a:t>(SQL </a:t>
                      </a:r>
                      <a:r>
                        <a:rPr lang="af-ZA" sz="1800" dirty="0" err="1"/>
                        <a:t>Expression</a:t>
                      </a:r>
                      <a:r>
                        <a:rPr lang="af-ZA" sz="1800" dirty="0"/>
                        <a:t> </a:t>
                      </a:r>
                      <a:r>
                        <a:rPr lang="af-ZA" sz="1800" dirty="0" err="1"/>
                        <a:t>Language</a:t>
                      </a:r>
                      <a:r>
                        <a:rPr lang="af-ZA" sz="1800" dirty="0"/>
                        <a:t>)</a:t>
                      </a:r>
                      <a:endParaRPr lang="af-ZA" sz="1800" dirty="0" err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67472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800"/>
                        <a:t>可讀性</a:t>
                      </a:r>
                      <a:endParaRPr lang="zh-TW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800"/>
                        <a:t>中</a:t>
                      </a:r>
                      <a:r>
                        <a:rPr lang="en-US" altLang="zh-TW" sz="1800" dirty="0"/>
                        <a:t>~</a:t>
                      </a:r>
                      <a:r>
                        <a:rPr lang="zh-TW" altLang="en-US" sz="1800"/>
                        <a:t>低</a:t>
                      </a:r>
                      <a:endParaRPr lang="zh-TW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800"/>
                        <a:t>高</a:t>
                      </a:r>
                      <a:endParaRPr lang="zh-TW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800"/>
                        <a:t>中</a:t>
                      </a:r>
                      <a:endParaRPr lang="zh-TW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6947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800"/>
                        <a:t>適合複雜查詢</a:t>
                      </a:r>
                      <a:endParaRPr lang="zh-TW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800"/>
                        <a:t>最佳</a:t>
                      </a:r>
                      <a:endParaRPr lang="zh-TW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800"/>
                        <a:t>不佳</a:t>
                      </a:r>
                      <a:endParaRPr lang="zh-TW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800"/>
                        <a:t>較佳</a:t>
                      </a:r>
                      <a:endParaRPr lang="zh-TW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17141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800"/>
                        <a:t>維護性與可擴充性</a:t>
                      </a:r>
                      <a:endParaRPr lang="zh-TW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800"/>
                        <a:t>低</a:t>
                      </a:r>
                      <a:endParaRPr lang="zh-TW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800"/>
                        <a:t>高</a:t>
                      </a:r>
                      <a:endParaRPr lang="zh-TW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800"/>
                        <a:t>中</a:t>
                      </a:r>
                      <a:endParaRPr lang="zh-TW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9313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800"/>
                        <a:t>效能控制能力</a:t>
                      </a:r>
                      <a:endParaRPr lang="zh-TW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800"/>
                        <a:t>高</a:t>
                      </a:r>
                      <a:endParaRPr lang="zh-TW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800"/>
                        <a:t>較低（有轉換開銷）</a:t>
                      </a:r>
                      <a:endParaRPr lang="zh-TW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800"/>
                        <a:t>中</a:t>
                      </a:r>
                      <a:endParaRPr lang="zh-TW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64638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3932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B7A2-C859-4B36-A3C9-1FD50872A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err="1"/>
              <a:t>SQLAlchemy</a:t>
            </a:r>
            <a:r>
              <a:rPr lang="en-US" altLang="zh-TW"/>
              <a:t> </a:t>
            </a:r>
            <a:r>
              <a:rPr lang="zh-TW" altLang="en-US"/>
              <a:t>連線設定</a:t>
            </a:r>
            <a:endParaRPr lang="en-US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36D046E-31BA-4E65-9370-6ACBCD291D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11445227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zh-TW" altLang="en-US" sz="3400" b="0">
                <a:latin typeface="Arial"/>
                <a:ea typeface="微軟正黑體"/>
                <a:cs typeface="Arial"/>
              </a:rPr>
              <a:t>使用 </a:t>
            </a:r>
            <a:r>
              <a:rPr lang="en-US" altLang="zh-TW" sz="3400" b="0" err="1">
                <a:latin typeface="Arial"/>
                <a:ea typeface="微軟正黑體"/>
                <a:cs typeface="Arial"/>
              </a:rPr>
              <a:t>create_engine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(</a:t>
            </a:r>
            <a:r>
              <a:rPr lang="en-US" sz="3400" b="0" err="1">
                <a:latin typeface="Arial"/>
                <a:ea typeface="微軟正黑體"/>
                <a:cs typeface="Arial"/>
              </a:rPr>
              <a:t>url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) 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設定連線到哪個資料庫</a:t>
            </a:r>
            <a:endParaRPr lang="en-US" altLang="zh-TW" sz="3400" b="0">
              <a:latin typeface="Arial"/>
              <a:ea typeface="微軟正黑體"/>
              <a:cs typeface="Arial"/>
            </a:endParaRPr>
          </a:p>
          <a:p>
            <a:pPr marL="421640" indent="-421640"/>
            <a:r>
              <a:rPr lang="zh-TW" altLang="en-US" sz="3400" b="0">
                <a:latin typeface="Arial"/>
                <a:ea typeface="微軟正黑體"/>
                <a:cs typeface="Arial"/>
              </a:rPr>
              <a:t>使用 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engine.connect()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獲取連接</a:t>
            </a:r>
            <a:endParaRPr lang="en-US" altLang="zh-TW" sz="3400" b="0">
              <a:latin typeface="Arial"/>
              <a:ea typeface="微軟正黑體"/>
              <a:cs typeface="Arial"/>
            </a:endParaRPr>
          </a:p>
          <a:p>
            <a:pPr marL="421640" indent="-421640"/>
            <a:r>
              <a:rPr lang="en-US" altLang="zh-TW" sz="3400" b="0"/>
              <a:t>database URLs</a:t>
            </a:r>
            <a:endParaRPr lang="zh-TW" sz="3400" b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6054DA7-CC44-4608-A55E-6D3A100F79DD}"/>
              </a:ext>
            </a:extLst>
          </p:cNvPr>
          <p:cNvSpPr txBox="1"/>
          <p:nvPr/>
        </p:nvSpPr>
        <p:spPr>
          <a:xfrm>
            <a:off x="4019266" y="4907259"/>
            <a:ext cx="415318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altLang="zh-TW" sz="2400">
              <a:cs typeface="Arial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9EBBD9D-A83A-432F-B97E-B9D2B2054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7619" y="2797193"/>
            <a:ext cx="7616480" cy="3466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378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B7A2-C859-4B36-A3C9-1FD50872A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err="1"/>
              <a:t>SQLAlchemy</a:t>
            </a:r>
            <a:r>
              <a:rPr lang="zh-TW" altLang="en-US"/>
              <a:t>定義表結構</a:t>
            </a:r>
            <a:endParaRPr lang="en-US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36D046E-31BA-4E65-9370-6ACBCD291D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11445227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zh-TW" altLang="en-US" sz="2800" b="0">
                <a:latin typeface="Arial"/>
                <a:ea typeface="微軟正黑體"/>
                <a:cs typeface="Arial"/>
              </a:rPr>
              <a:t>在 SQLAlchemy 中，可以用 </a:t>
            </a:r>
            <a:r>
              <a:rPr lang="zh-TW" altLang="en-US" sz="2800">
                <a:latin typeface="Arial"/>
                <a:ea typeface="微軟正黑體"/>
                <a:cs typeface="Arial"/>
              </a:rPr>
              <a:t>Table()</a:t>
            </a:r>
            <a:r>
              <a:rPr lang="zh-TW" altLang="en-US" sz="2800" b="0">
                <a:latin typeface="Arial"/>
                <a:ea typeface="微軟正黑體"/>
                <a:cs typeface="Arial"/>
              </a:rPr>
              <a:t> 定義一個資料表結構，需指定</a:t>
            </a:r>
            <a:endParaRPr lang="en-US" altLang="zh-TW" sz="2800" b="0">
              <a:latin typeface="Arial"/>
              <a:ea typeface="微軟正黑體"/>
              <a:cs typeface="Arial"/>
            </a:endParaRPr>
          </a:p>
          <a:p>
            <a:pPr marL="878840" lvl="1" indent="-421640">
              <a:buClr>
                <a:srgbClr val="42BBC6"/>
              </a:buClr>
              <a:buFont typeface="Courier New" pitchFamily="34" charset="0"/>
              <a:buChar char="o"/>
            </a:pPr>
            <a:r>
              <a:rPr lang="zh-TW" altLang="en-US" sz="2800" b="0">
                <a:latin typeface="Arial"/>
                <a:ea typeface="微軟正黑體"/>
                <a:cs typeface="Arial"/>
              </a:rPr>
              <a:t>表名</a:t>
            </a:r>
            <a:endParaRPr lang="en-US" altLang="zh-TW" sz="2800" b="0">
              <a:latin typeface="Arial"/>
              <a:ea typeface="微軟正黑體"/>
              <a:cs typeface="Arial"/>
            </a:endParaRPr>
          </a:p>
          <a:p>
            <a:pPr marL="878840" lvl="1" indent="-421640">
              <a:buClr>
                <a:srgbClr val="42BBC6"/>
              </a:buClr>
              <a:buFont typeface="Courier New" pitchFamily="34" charset="0"/>
              <a:buChar char="o"/>
            </a:pPr>
            <a:r>
              <a:rPr lang="zh-TW" altLang="en-US" sz="2800" b="0">
                <a:latin typeface="Arial"/>
                <a:ea typeface="微軟正黑體"/>
                <a:cs typeface="Arial"/>
              </a:rPr>
              <a:t>MetaData</a:t>
            </a:r>
            <a:endParaRPr lang="en-US" altLang="zh-TW" sz="2800" b="0">
              <a:latin typeface="Arial"/>
              <a:ea typeface="微軟正黑體"/>
              <a:cs typeface="Arial"/>
            </a:endParaRPr>
          </a:p>
          <a:p>
            <a:pPr marL="1219200" lvl="2" indent="-339725">
              <a:buClr>
                <a:srgbClr val="F0591B"/>
              </a:buClr>
              <a:buFont typeface="Wingdings" pitchFamily="34" charset="0"/>
              <a:buChar char="§"/>
            </a:pPr>
            <a:r>
              <a:rPr lang="zh-TW" altLang="en-US" sz="2800">
                <a:latin typeface="Arial"/>
                <a:ea typeface="微軟正黑體"/>
                <a:cs typeface="Arial"/>
              </a:rPr>
              <a:t>MetaData 是用來集中管理所有資料表定義的容器，不包含資料本身，只記錄資料表的結構。</a:t>
            </a:r>
            <a:endParaRPr lang="zh-TW" altLang="en-US" sz="2800" b="0">
              <a:latin typeface="Arial"/>
              <a:ea typeface="微軟正黑體"/>
              <a:cs typeface="Arial"/>
            </a:endParaRPr>
          </a:p>
          <a:p>
            <a:pPr marL="1219200" lvl="2" indent="-339725">
              <a:buClr>
                <a:srgbClr val="F0591B"/>
              </a:buClr>
              <a:buFont typeface="Wingdings" pitchFamily="34" charset="0"/>
              <a:buChar char="§"/>
            </a:pPr>
            <a:r>
              <a:rPr lang="zh-TW" altLang="en-US" sz="2800">
                <a:latin typeface="Arial"/>
                <a:ea typeface="微軟正黑體"/>
                <a:cs typeface="Arial"/>
              </a:rPr>
              <a:t>a.k.a. 後設資料</a:t>
            </a:r>
            <a:endParaRPr lang="zh-TW" altLang="en-US" sz="2800" dirty="0">
              <a:latin typeface="Arial"/>
              <a:ea typeface="微軟正黑體"/>
              <a:cs typeface="Arial"/>
            </a:endParaRPr>
          </a:p>
          <a:p>
            <a:pPr marL="878840" lvl="1" indent="-421640">
              <a:buClr>
                <a:srgbClr val="42BBC6"/>
              </a:buClr>
              <a:buFont typeface="Courier New" pitchFamily="34" charset="0"/>
              <a:buChar char="o"/>
            </a:pPr>
            <a:r>
              <a:rPr lang="zh-TW" altLang="en-US" sz="2800" b="0">
                <a:latin typeface="Arial"/>
                <a:ea typeface="微軟正黑體"/>
                <a:cs typeface="Arial"/>
              </a:rPr>
              <a:t>接著列出每個欄位（使用 </a:t>
            </a:r>
            <a:r>
              <a:rPr lang="zh-TW" altLang="en-US" sz="2800">
                <a:latin typeface="Arial"/>
                <a:ea typeface="微軟正黑體"/>
                <a:cs typeface="Arial"/>
              </a:rPr>
              <a:t>Column()</a:t>
            </a:r>
            <a:r>
              <a:rPr lang="zh-TW" altLang="en-US" sz="2800" b="0">
                <a:latin typeface="Arial"/>
                <a:ea typeface="微軟正黑體"/>
                <a:cs typeface="Arial"/>
              </a:rPr>
              <a:t> 建立）。</a:t>
            </a:r>
          </a:p>
          <a:p>
            <a:pPr marL="1219200" lvl="2" indent="-339725">
              <a:buClr>
                <a:srgbClr val="F0591B"/>
              </a:buClr>
              <a:buFont typeface="Wingdings" pitchFamily="34" charset="0"/>
              <a:buChar char="§"/>
            </a:pPr>
            <a:r>
              <a:rPr lang="zh-TW" altLang="en-US" sz="2800">
                <a:latin typeface="Arial"/>
                <a:ea typeface="微軟正黑體"/>
                <a:cs typeface="Arial"/>
              </a:rPr>
              <a:t>如果是讀取已存在的表, 則可以不設定</a:t>
            </a:r>
            <a:endParaRPr lang="zh-TW" altLang="en-US" sz="2800" b="0">
              <a:latin typeface="Arial"/>
              <a:ea typeface="微軟正黑體"/>
              <a:cs typeface="Arial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6054DA7-CC44-4608-A55E-6D3A100F79DD}"/>
              </a:ext>
            </a:extLst>
          </p:cNvPr>
          <p:cNvSpPr txBox="1"/>
          <p:nvPr/>
        </p:nvSpPr>
        <p:spPr>
          <a:xfrm>
            <a:off x="4019266" y="4907259"/>
            <a:ext cx="415318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altLang="zh-TW" sz="240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00680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B7A2-C859-4B36-A3C9-1FD50872A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err="1"/>
              <a:t>SQLAlchemy</a:t>
            </a:r>
            <a:r>
              <a:rPr lang="zh-TW" altLang="en-US"/>
              <a:t>執行</a:t>
            </a:r>
            <a:endParaRPr lang="en-US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36D046E-31BA-4E65-9370-6ACBCD291D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11445227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zh-TW" altLang="en-US" sz="3400" b="0">
                <a:latin typeface="Arial"/>
                <a:ea typeface="微軟正黑體"/>
                <a:cs typeface="Arial"/>
              </a:rPr>
              <a:t>使用</a:t>
            </a:r>
            <a:r>
              <a:rPr lang="en-US" altLang="zh-TW" sz="3400" b="0" dirty="0" err="1">
                <a:latin typeface="Arial"/>
                <a:ea typeface="微軟正黑體"/>
                <a:cs typeface="Arial"/>
              </a:rPr>
              <a:t>connection.execute</a:t>
            </a:r>
            <a:r>
              <a:rPr lang="en-US" altLang="zh-TW" sz="3400" b="0" dirty="0">
                <a:latin typeface="Arial"/>
                <a:ea typeface="微軟正黑體"/>
                <a:cs typeface="Arial"/>
              </a:rPr>
              <a:t>()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執行插入，查詢</a:t>
            </a:r>
            <a:r>
              <a:rPr lang="en-US" altLang="zh-TW" sz="3400" b="0" dirty="0">
                <a:latin typeface="Arial"/>
                <a:ea typeface="微軟正黑體"/>
                <a:cs typeface="Arial"/>
              </a:rPr>
              <a:t>...SQL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指令等等。</a:t>
            </a:r>
            <a:endParaRPr lang="en-US" altLang="zh-TW" sz="3400" b="0">
              <a:latin typeface="Arial"/>
              <a:ea typeface="微軟正黑體"/>
              <a:cs typeface="Arial"/>
            </a:endParaRPr>
          </a:p>
          <a:p>
            <a:pPr marL="421640" indent="-421640"/>
            <a:r>
              <a:rPr lang="en-US" altLang="zh-TW" sz="3400" b="0" dirty="0" err="1">
                <a:latin typeface="Arial"/>
                <a:ea typeface="微軟正黑體"/>
                <a:cs typeface="Arial"/>
              </a:rPr>
              <a:t>connection.execute</a:t>
            </a:r>
            <a:r>
              <a:rPr lang="en-US" altLang="zh-TW" sz="3400" b="0" dirty="0">
                <a:latin typeface="Arial"/>
                <a:ea typeface="微軟正黑體"/>
                <a:cs typeface="Arial"/>
              </a:rPr>
              <a:t>()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會返回</a:t>
            </a:r>
            <a:r>
              <a:rPr lang="en-US" altLang="zh-TW" sz="3400" dirty="0" err="1">
                <a:latin typeface="Arial"/>
                <a:ea typeface="微軟正黑體"/>
                <a:cs typeface="Arial"/>
              </a:rPr>
              <a:t>CursorResult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。</a:t>
            </a:r>
            <a:endParaRPr lang="en-US" altLang="zh-TW" sz="3400" b="0">
              <a:latin typeface="Arial"/>
              <a:ea typeface="微軟正黑體"/>
              <a:cs typeface="Arial"/>
            </a:endParaRPr>
          </a:p>
          <a:p>
            <a:pPr marL="421640" indent="-421640"/>
            <a:r>
              <a:rPr lang="en-US" altLang="zh-TW" sz="3400" err="1">
                <a:latin typeface="Arial"/>
                <a:ea typeface="微軟正黑體"/>
                <a:cs typeface="Arial"/>
              </a:rPr>
              <a:t>CursorResult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類別也稱為</a:t>
            </a:r>
            <a:r>
              <a:rPr lang="en-US" altLang="zh-TW" sz="3400" err="1">
                <a:latin typeface="Arial"/>
                <a:ea typeface="微軟正黑體"/>
                <a:cs typeface="Arial"/>
              </a:rPr>
              <a:t>ResultProxy</a:t>
            </a:r>
            <a:endParaRPr lang="en-US" altLang="zh-TW" sz="3400">
              <a:latin typeface="Arial"/>
              <a:ea typeface="微軟正黑體"/>
              <a:cs typeface="Arial"/>
            </a:endParaRPr>
          </a:p>
          <a:p>
            <a:pPr marL="878840" lvl="1" indent="-421640"/>
            <a:r>
              <a:rPr lang="en-US" altLang="zh-TW" sz="2900" b="0" dirty="0">
                <a:latin typeface="Arial"/>
                <a:ea typeface="微軟正黑體"/>
                <a:cs typeface="Arial"/>
              </a:rPr>
              <a:t>execute()</a:t>
            </a:r>
            <a:r>
              <a:rPr lang="zh-TW" altLang="en-US" sz="2900" b="0">
                <a:latin typeface="Arial"/>
                <a:ea typeface="微軟正黑體"/>
                <a:cs typeface="Arial"/>
              </a:rPr>
              <a:t>函式的返回值是一</a:t>
            </a:r>
            <a:r>
              <a:rPr lang="en-US" altLang="zh-TW" sz="2900" dirty="0" err="1">
                <a:latin typeface="Arial"/>
                <a:ea typeface="微軟正黑體"/>
                <a:cs typeface="Arial"/>
              </a:rPr>
              <a:t>ResultProxy</a:t>
            </a:r>
            <a:r>
              <a:rPr lang="zh-TW" altLang="en-US" sz="2900" b="0">
                <a:latin typeface="Arial"/>
                <a:ea typeface="微軟正黑體"/>
                <a:cs typeface="Arial"/>
              </a:rPr>
              <a:t>物件，它允許使用索引，名稱或</a:t>
            </a:r>
            <a:r>
              <a:rPr lang="en-US" altLang="zh-TW" sz="3200" b="0" dirty="0">
                <a:latin typeface="Arial"/>
                <a:ea typeface="微軟正黑體"/>
                <a:cs typeface="Arial"/>
              </a:rPr>
              <a:t>Column()</a:t>
            </a:r>
            <a:r>
              <a:rPr lang="zh-TW" altLang="en-US" sz="2900" b="0">
                <a:latin typeface="Arial"/>
                <a:ea typeface="微軟正黑體"/>
                <a:cs typeface="Arial"/>
              </a:rPr>
              <a:t>物件進行存取。</a:t>
            </a:r>
            <a:endParaRPr lang="zh-TW" sz="2900" b="0">
              <a:latin typeface="Arial"/>
              <a:ea typeface="微軟正黑體"/>
              <a:cs typeface="Arial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6054DA7-CC44-4608-A55E-6D3A100F79DD}"/>
              </a:ext>
            </a:extLst>
          </p:cNvPr>
          <p:cNvSpPr txBox="1"/>
          <p:nvPr/>
        </p:nvSpPr>
        <p:spPr>
          <a:xfrm>
            <a:off x="4019266" y="4907259"/>
            <a:ext cx="415318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altLang="zh-TW" sz="240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70170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B7A2-C859-4B36-A3C9-1FD50872A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err="1"/>
              <a:t>SQLAlchemy</a:t>
            </a:r>
            <a:r>
              <a:rPr lang="zh-TW" altLang="en-US"/>
              <a:t>關閉</a:t>
            </a:r>
            <a:endParaRPr lang="en-US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36D046E-31BA-4E65-9370-6ACBCD291D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11445227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zh-TW" altLang="en-US" sz="3400" b="0"/>
              <a:t>使用</a:t>
            </a:r>
            <a:r>
              <a:rPr lang="en-US" altLang="zh-TW" sz="3400" b="0" err="1"/>
              <a:t>engine.connect</a:t>
            </a:r>
            <a:r>
              <a:rPr lang="en-US" altLang="zh-TW" sz="3400" b="0"/>
              <a:t>().close()</a:t>
            </a:r>
            <a:r>
              <a:rPr lang="zh-TW" altLang="en-US" sz="3400" b="0"/>
              <a:t> 關閉連線</a:t>
            </a:r>
            <a:endParaRPr lang="en-US" altLang="zh-TW" sz="3400" b="0"/>
          </a:p>
          <a:p>
            <a:pPr marL="421640" indent="-421640"/>
            <a:r>
              <a:rPr lang="en-US" altLang="zh-TW" sz="3400" b="0" err="1"/>
              <a:t>engine.dispose</a:t>
            </a:r>
            <a:r>
              <a:rPr lang="en-US" altLang="zh-TW" sz="3400" b="0"/>
              <a:t>()</a:t>
            </a:r>
            <a:r>
              <a:rPr lang="zh-TW" altLang="en-US" sz="3400" b="0"/>
              <a:t>關閉</a:t>
            </a:r>
            <a:r>
              <a:rPr lang="en-US" altLang="zh-TW" sz="3400" b="0"/>
              <a:t>engine</a:t>
            </a:r>
            <a:r>
              <a:rPr lang="zh-TW" altLang="en-US" sz="3400" b="0"/>
              <a:t>。</a:t>
            </a:r>
            <a:endParaRPr lang="en-US" altLang="zh-TW" sz="3400" b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6054DA7-CC44-4608-A55E-6D3A100F79DD}"/>
              </a:ext>
            </a:extLst>
          </p:cNvPr>
          <p:cNvSpPr txBox="1"/>
          <p:nvPr/>
        </p:nvSpPr>
        <p:spPr>
          <a:xfrm>
            <a:off x="4019266" y="4907259"/>
            <a:ext cx="415318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altLang="zh-TW" sz="240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08924141"/>
      </p:ext>
    </p:extLst>
  </p:cSld>
  <p:clrMapOvr>
    <a:masterClrMapping/>
  </p:clrMapOvr>
</p:sld>
</file>

<file path=ppt/theme/theme1.xml><?xml version="1.0" encoding="utf-8"?>
<a:theme xmlns:a="http://schemas.openxmlformats.org/drawingml/2006/main" name="2019簡報範本_light">
  <a:themeElements>
    <a:clrScheme name="2019iii">
      <a:dk1>
        <a:srgbClr val="717171"/>
      </a:dk1>
      <a:lt1>
        <a:srgbClr val="393939"/>
      </a:lt1>
      <a:dk2>
        <a:srgbClr val="DDDDDD"/>
      </a:dk2>
      <a:lt2>
        <a:srgbClr val="ABABAB"/>
      </a:lt2>
      <a:accent1>
        <a:srgbClr val="E1CB1A"/>
      </a:accent1>
      <a:accent2>
        <a:srgbClr val="42BBC6"/>
      </a:accent2>
      <a:accent3>
        <a:srgbClr val="F0591B"/>
      </a:accent3>
      <a:accent4>
        <a:srgbClr val="FFC000"/>
      </a:accent4>
      <a:accent5>
        <a:srgbClr val="8DCBDA"/>
      </a:accent5>
      <a:accent6>
        <a:srgbClr val="9ACF17"/>
      </a:accent6>
      <a:hlink>
        <a:srgbClr val="F0591B"/>
      </a:hlink>
      <a:folHlink>
        <a:srgbClr val="2A2A2A"/>
      </a:folHlink>
    </a:clrScheme>
    <a:fontScheme name="自訂 XYZ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/>
      </a:spPr>
      <a:bodyPr rtlCol="0" anchor="ctr"/>
      <a:lstStyle>
        <a:defPPr algn="ctr">
          <a:defRPr/>
        </a:defPPr>
      </a:lstStyle>
      <a:style>
        <a:lnRef idx="1">
          <a:schemeClr val="accent4"/>
        </a:lnRef>
        <a:fillRef idx="3">
          <a:schemeClr val="accent4"/>
        </a:fillRef>
        <a:effectRef idx="2">
          <a:schemeClr val="accent4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dirty="0" err="1" smtClean="0">
            <a:solidFill>
              <a:schemeClr val="tx1">
                <a:lumMod val="75000"/>
              </a:schemeClr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2019簡報範本_light</Template>
  <Application>Microsoft Office PowerPoint</Application>
  <PresentationFormat>寬螢幕</PresentationFormat>
  <Slides>10</Slides>
  <Notes>10</Notes>
  <HiddenSlides>0</HiddenSlide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1" baseType="lpstr">
      <vt:lpstr>2019簡報範本_light</vt:lpstr>
      <vt:lpstr>Sqlalchemy</vt:lpstr>
      <vt:lpstr>Sqlite 資料庫介紹</vt:lpstr>
      <vt:lpstr>資料庫名詞介紹</vt:lpstr>
      <vt:lpstr>sqlite browser</vt:lpstr>
      <vt:lpstr>sqlite browser</vt:lpstr>
      <vt:lpstr>SQLAlchemy</vt:lpstr>
      <vt:lpstr>SQLAlchemy 連線設定</vt:lpstr>
      <vt:lpstr>SQLAlchemy定義表結構</vt:lpstr>
      <vt:lpstr>SQLAlchemy執行</vt:lpstr>
      <vt:lpstr>SQLAlchemy關閉</vt:lpstr>
    </vt:vector>
  </TitlesOfParts>
  <Company>Institute for Information Industry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教研所『課程產品化』開發與製作學員版教材-公版投影片</dc:title>
  <dc:subject>2019 template</dc:subject>
  <dc:creator>Steven Liu</dc:creator>
  <cp:revision>73</cp:revision>
  <cp:lastPrinted>2019-04-29T05:54:36Z</cp:lastPrinted>
  <dcterms:created xsi:type="dcterms:W3CDTF">2019-04-17T09:27:11Z</dcterms:created>
  <dcterms:modified xsi:type="dcterms:W3CDTF">2026-06-10T13:31:43Z</dcterms:modified>
  <cp:category>淺色</cp:category>
</cp:coreProperties>
</file>