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331" r:id="rId2"/>
    <p:sldId id="421" r:id="rId3"/>
    <p:sldId id="399" r:id="rId4"/>
    <p:sldId id="415" r:id="rId5"/>
    <p:sldId id="416" r:id="rId6"/>
    <p:sldId id="417" r:id="rId7"/>
    <p:sldId id="418" r:id="rId8"/>
    <p:sldId id="411" r:id="rId9"/>
    <p:sldId id="400" r:id="rId10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昱維 曹" userId="611d57ab1da5f08a" providerId="Windows Live" clId="Web-{52EEFB09-6A20-DF44-F734-C9AAC197E2E2}"/>
    <pc:docChg chg="modSld">
      <pc:chgData name="昱維 曹" userId="611d57ab1da5f08a" providerId="Windows Live" clId="Web-{52EEFB09-6A20-DF44-F734-C9AAC197E2E2}" dt="2026-05-30T07:27:13.143" v="1" actId="1076"/>
      <pc:docMkLst>
        <pc:docMk/>
      </pc:docMkLst>
      <pc:sldChg chg="modSp">
        <pc:chgData name="昱維 曹" userId="611d57ab1da5f08a" providerId="Windows Live" clId="Web-{52EEFB09-6A20-DF44-F734-C9AAC197E2E2}" dt="2026-05-30T07:27:13.143" v="1" actId="1076"/>
        <pc:sldMkLst>
          <pc:docMk/>
          <pc:sldMk cId="1766846931" sldId="411"/>
        </pc:sldMkLst>
        <pc:picChg chg="mod">
          <ac:chgData name="昱維 曹" userId="611d57ab1da5f08a" providerId="Windows Live" clId="Web-{52EEFB09-6A20-DF44-F734-C9AAC197E2E2}" dt="2026-05-30T07:27:13.143" v="1" actId="1076"/>
          <ac:picMkLst>
            <pc:docMk/>
            <pc:sldMk cId="1766846931" sldId="411"/>
            <ac:picMk id="4" creationId="{AFA9D261-92C9-4F2F-BAEA-2735E8E8AC5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584608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211992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765577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if the form data was already parsed this method will not return anything as form data parsing does not cache the data like this method does.</a:t>
            </a:r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6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http://violin-tao.blogspot.com/2017/07/ml-backpropagation.html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hlinkClick r:id="rId4"/>
              </a:rPr>
              <a:t>https://www.zhihu.com/question/27239198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zh-TW" altLang="en-US" sz="120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3760121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http://violin-tao.blogspot.com/2017/07/ml-backpropagation.html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hlinkClick r:id="rId4"/>
              </a:rPr>
              <a:t>https://www.zhihu.com/question/27239198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zh-TW" altLang="en-US" sz="120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1656891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Arial"/>
              </a:rPr>
              <a:t>Http 傳輸 &amp; 靜態檔案</a:t>
            </a:r>
            <a:endParaRPr lang="en-US" altLang="en-US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2F9F153-75E5-4DBC-B7F2-5B8678E88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>
                <a:solidFill>
                  <a:srgbClr val="0000FF"/>
                </a:solidFill>
                <a:latin typeface="Georgia"/>
                <a:ea typeface="標楷體"/>
              </a:rPr>
              <a:t>Module 05</a:t>
            </a:r>
            <a:endParaRPr lang="zh-TW" altLang="zh-TW" sz="2400" i="1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F5B3BFB-D279-4FD3-AB9D-E8C70131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Process &amp;</a:t>
            </a:r>
            <a:r>
              <a:rPr lang="zh-TW" altLang="en-US"/>
              <a:t> </a:t>
            </a:r>
            <a:r>
              <a:rPr lang="en-US" altLang="zh-TW"/>
              <a:t>Program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D74E951-DF20-41A8-8187-67FCC94E6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程式</a:t>
            </a:r>
            <a:r>
              <a:rPr lang="en-US" altLang="zh-TW"/>
              <a:t>:</a:t>
            </a:r>
            <a:r>
              <a:rPr lang="zh-TW" altLang="en-US"/>
              <a:t> </a:t>
            </a:r>
            <a:r>
              <a:rPr lang="en-US" altLang="zh-TW"/>
              <a:t>Program, </a:t>
            </a:r>
            <a:r>
              <a:rPr lang="zh-TW" altLang="en-US"/>
              <a:t>文字構成的程式碼</a:t>
            </a:r>
            <a:endParaRPr lang="en-US" altLang="zh-TW"/>
          </a:p>
          <a:p>
            <a:r>
              <a:rPr lang="zh-TW" altLang="en-US"/>
              <a:t>程序</a:t>
            </a:r>
            <a:r>
              <a:rPr lang="en-US" altLang="zh-TW"/>
              <a:t>:</a:t>
            </a:r>
            <a:r>
              <a:rPr lang="zh-TW" altLang="en-US"/>
              <a:t> </a:t>
            </a:r>
            <a:r>
              <a:rPr lang="en-US" altLang="zh-TW"/>
              <a:t>Process, </a:t>
            </a:r>
            <a:r>
              <a:rPr lang="zh-TW" altLang="en-US"/>
              <a:t>正在執行的程式</a:t>
            </a:r>
            <a:endParaRPr lang="en-US" altLang="zh-TW"/>
          </a:p>
          <a:p>
            <a:pPr lvl="1"/>
            <a:r>
              <a:rPr lang="zh-TW" altLang="en-US" b="0"/>
              <a:t>每一支程序都會有對應的</a:t>
            </a:r>
            <a:r>
              <a:rPr lang="en-US" altLang="zh-TW" b="0"/>
              <a:t>ID(</a:t>
            </a:r>
            <a:r>
              <a:rPr lang="en-US" altLang="zh-TW"/>
              <a:t>PID</a:t>
            </a:r>
            <a:r>
              <a:rPr lang="en-US" altLang="zh-TW" b="0"/>
              <a:t>)</a:t>
            </a:r>
          </a:p>
          <a:p>
            <a:pPr lvl="1"/>
            <a:r>
              <a:rPr lang="en-US" altLang="zh-TW" b="0"/>
              <a:t>Unix-like: terminal</a:t>
            </a:r>
            <a:r>
              <a:rPr lang="zh-TW" altLang="en-US" b="0"/>
              <a:t>中執行指令 </a:t>
            </a:r>
            <a:r>
              <a:rPr lang="en-US" altLang="zh-TW" b="0"/>
              <a:t>—</a:t>
            </a:r>
            <a:r>
              <a:rPr lang="zh-TW" altLang="en-US" b="0"/>
              <a:t> </a:t>
            </a:r>
            <a:r>
              <a:rPr lang="en-US" altLang="zh-TW"/>
              <a:t>top</a:t>
            </a:r>
          </a:p>
          <a:p>
            <a:pPr lvl="1"/>
            <a:r>
              <a:rPr lang="en-US" altLang="zh-TW" b="0"/>
              <a:t>Windows: </a:t>
            </a:r>
            <a:r>
              <a:rPr lang="zh-TW" altLang="en-US" b="0"/>
              <a:t>工作管理員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B737B59D-2818-4FCD-B906-B60429D1648B}"/>
              </a:ext>
            </a:extLst>
          </p:cNvPr>
          <p:cNvGrpSpPr/>
          <p:nvPr/>
        </p:nvGrpSpPr>
        <p:grpSpPr>
          <a:xfrm>
            <a:off x="6342919" y="4384800"/>
            <a:ext cx="5239481" cy="1781424"/>
            <a:chOff x="6716992" y="2458195"/>
            <a:chExt cx="5239481" cy="1781424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9138E1F-673A-4828-91BB-ABFF3CC3A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16992" y="2458195"/>
              <a:ext cx="5239481" cy="178142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8603149-1235-4A2B-BD9F-2724A7571EDD}"/>
                </a:ext>
              </a:extLst>
            </p:cNvPr>
            <p:cNvSpPr/>
            <p:nvPr/>
          </p:nvSpPr>
          <p:spPr>
            <a:xfrm>
              <a:off x="8132618" y="2992582"/>
              <a:ext cx="471055" cy="9559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B50D30C8-4DF7-4A17-A99B-9CF2143C97AD}"/>
              </a:ext>
            </a:extLst>
          </p:cNvPr>
          <p:cNvGrpSpPr/>
          <p:nvPr/>
        </p:nvGrpSpPr>
        <p:grpSpPr>
          <a:xfrm>
            <a:off x="548928" y="4461462"/>
            <a:ext cx="5027419" cy="1704762"/>
            <a:chOff x="2415972" y="1451808"/>
            <a:chExt cx="5027419" cy="1704762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37C32159-97FE-4328-B6D5-95F1E4A48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6358"/>
            <a:stretch/>
          </p:blipFill>
          <p:spPr>
            <a:xfrm>
              <a:off x="2415972" y="1451808"/>
              <a:ext cx="1429172" cy="1704762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11346C60-2172-49B0-93DF-D9C1596F27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280" r="28909"/>
            <a:stretch/>
          </p:blipFill>
          <p:spPr>
            <a:xfrm>
              <a:off x="3818656" y="1451808"/>
              <a:ext cx="1656353" cy="1704762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6BCF0B4-C19F-4013-BEA8-AF84C6A811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1211"/>
            <a:stretch/>
          </p:blipFill>
          <p:spPr>
            <a:xfrm>
              <a:off x="5475009" y="1451808"/>
              <a:ext cx="1968382" cy="17047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516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網頁傳輸的過程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zh-TW" sz="3400" b="0"/>
              <a:t>client 與 server 利用各自的IP找到對方</a:t>
            </a:r>
            <a:endParaRPr lang="zh-TW" altLang="en-US" sz="3200"/>
          </a:p>
          <a:p>
            <a:pPr marL="421640" indent="-421640"/>
            <a:r>
              <a:rPr lang="zh-TW" altLang="zh-TW" sz="3400" b="0"/>
              <a:t>Server 裡面有許多</a:t>
            </a:r>
            <a:r>
              <a:rPr lang="zh-TW" altLang="en-US" sz="3400" b="0"/>
              <a:t>程序</a:t>
            </a:r>
            <a:r>
              <a:rPr lang="en-US" altLang="zh-TW" sz="3400" b="0"/>
              <a:t>(process)</a:t>
            </a:r>
            <a:r>
              <a:rPr lang="zh-TW" altLang="zh-TW" sz="3400" b="0"/>
              <a:t>在運行，</a:t>
            </a:r>
            <a:r>
              <a:rPr lang="zh-TW" altLang="en-US" sz="3400" b="0"/>
              <a:t>需要溝通的</a:t>
            </a:r>
            <a:r>
              <a:rPr lang="zh-TW" altLang="zh-TW" sz="3400" b="0"/>
              <a:t>程</a:t>
            </a:r>
            <a:r>
              <a:rPr lang="zh-TW" altLang="en-US" sz="3400" b="0"/>
              <a:t>序</a:t>
            </a:r>
            <a:r>
              <a:rPr lang="zh-TW" altLang="zh-TW" sz="3400" b="0"/>
              <a:t>會佔據一個port，client 發出port number 告訴server要存取哪一支</a:t>
            </a:r>
            <a:r>
              <a:rPr lang="zh-TW" altLang="en-US" sz="3400" b="0"/>
              <a:t>程序</a:t>
            </a:r>
            <a:endParaRPr lang="zh-TW" altLang="en-US" sz="3400"/>
          </a:p>
        </p:txBody>
      </p:sp>
      <p:pic>
        <p:nvPicPr>
          <p:cNvPr id="6" name="圖片 6">
            <a:extLst>
              <a:ext uri="{FF2B5EF4-FFF2-40B4-BE49-F238E27FC236}">
                <a16:creationId xmlns:a16="http://schemas.microsoft.com/office/drawing/2014/main" id="{8E5E00C3-A0D7-4DA0-89E0-562F95E05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837" y="2736477"/>
            <a:ext cx="4358185" cy="365449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網頁傳輸的過程</a:t>
            </a:r>
            <a:endParaRPr lang="zh-TW" altLang="en-US" err="1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使</a:t>
            </a:r>
            <a:r>
              <a:rPr lang="zh-TW" sz="3400" b="0">
                <a:latin typeface="Arial"/>
                <a:ea typeface="微軟正黑體"/>
                <a:cs typeface="Arial"/>
              </a:rPr>
              <a:t>用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h</a:t>
            </a:r>
            <a:r>
              <a:rPr lang="zh-TW" sz="3400" b="0">
                <a:latin typeface="Arial"/>
                <a:ea typeface="微軟正黑體"/>
                <a:cs typeface="Arial"/>
              </a:rPr>
              <a:t>ttp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協定傳輸檔案時，其傳輸檔案主要分為兩個部分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: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H</a:t>
            </a:r>
            <a:r>
              <a:rPr lang="zh-TW" sz="3400" b="0">
                <a:latin typeface="Arial"/>
                <a:ea typeface="微軟正黑體"/>
                <a:cs typeface="Arial"/>
              </a:rPr>
              <a:t>e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ad</a:t>
            </a:r>
            <a:r>
              <a:rPr lang="zh-TW" sz="3400" b="0">
                <a:latin typeface="Arial"/>
                <a:ea typeface="微軟正黑體"/>
                <a:cs typeface="Arial"/>
              </a:rPr>
              <a:t>er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&amp;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Body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，如下圖</a:t>
            </a:r>
            <a:endParaRPr lang="zh-TW" altLang="en-US" sz="3400">
              <a:ea typeface="微軟正黑體"/>
            </a:endParaRPr>
          </a:p>
        </p:txBody>
      </p:sp>
      <p:pic>
        <p:nvPicPr>
          <p:cNvPr id="4" name="圖片 6">
            <a:extLst>
              <a:ext uri="{FF2B5EF4-FFF2-40B4-BE49-F238E27FC236}">
                <a16:creationId xmlns:a16="http://schemas.microsoft.com/office/drawing/2014/main" id="{C94005A3-3E21-45DF-AF3D-ECD49479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535" y="2157179"/>
            <a:ext cx="7349318" cy="405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6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GET &amp; POST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2000" b="0">
                <a:latin typeface="Arial"/>
                <a:ea typeface="微軟正黑體"/>
                <a:cs typeface="Arial"/>
              </a:rPr>
              <a:t>使用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000">
                <a:latin typeface="Arial"/>
                <a:ea typeface="微軟正黑體"/>
                <a:cs typeface="Arial"/>
              </a:rPr>
              <a:t>GET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 的時候我們直接將要傳送的資料以 </a:t>
            </a:r>
            <a:r>
              <a:rPr lang="en-US" altLang="zh-TW" sz="2000">
                <a:latin typeface="Arial"/>
                <a:ea typeface="微軟正黑體"/>
                <a:cs typeface="Arial"/>
              </a:rPr>
              <a:t>Query</a:t>
            </a:r>
            <a:r>
              <a:rPr lang="zh-TW" altLang="en-US" sz="200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000">
                <a:latin typeface="Arial"/>
                <a:ea typeface="微軟正黑體"/>
                <a:cs typeface="Arial"/>
              </a:rPr>
              <a:t>S</a:t>
            </a:r>
            <a:r>
              <a:rPr lang="zh-TW" sz="2000">
                <a:latin typeface="Arial"/>
                <a:ea typeface="微軟正黑體"/>
                <a:cs typeface="Arial"/>
              </a:rPr>
              <a:t>t</a:t>
            </a:r>
            <a:r>
              <a:rPr lang="en-US" altLang="zh-TW" sz="2000">
                <a:latin typeface="Arial"/>
                <a:ea typeface="微軟正黑體"/>
                <a:cs typeface="Arial"/>
              </a:rPr>
              <a:t>ring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（一種</a:t>
            </a:r>
            <a:r>
              <a:rPr lang="en-US" altLang="zh-TW" sz="2000" b="0">
                <a:latin typeface="Arial"/>
                <a:ea typeface="微軟正黑體"/>
                <a:cs typeface="Arial"/>
              </a:rPr>
              <a:t>Key/</a:t>
            </a:r>
            <a:r>
              <a:rPr lang="en-US" altLang="zh-TW" sz="2000" b="0" err="1">
                <a:latin typeface="Arial"/>
                <a:ea typeface="微軟正黑體"/>
                <a:cs typeface="Arial"/>
              </a:rPr>
              <a:t>Vaule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的編碼方式）加在我們要傳送的</a:t>
            </a:r>
            <a:r>
              <a:rPr lang="en-US" altLang="zh-TW" sz="2000" b="0">
                <a:latin typeface="Arial"/>
                <a:ea typeface="微軟正黑體"/>
                <a:cs typeface="Arial"/>
              </a:rPr>
              <a:t>URL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後面，然後</a:t>
            </a:r>
            <a:r>
              <a:rPr lang="zh-TW" sz="2000" b="0">
                <a:latin typeface="Arial"/>
                <a:ea typeface="微軟正黑體"/>
                <a:cs typeface="Arial"/>
              </a:rPr>
              <a:t>傳送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出去</a:t>
            </a:r>
            <a:r>
              <a:rPr lang="zh-TW" sz="2000" b="0">
                <a:latin typeface="Arial"/>
                <a:ea typeface="微軟正黑體"/>
                <a:cs typeface="Arial"/>
              </a:rPr>
              <a:t>。</a:t>
            </a:r>
            <a:endParaRPr lang="zh-TW" altLang="en-US" sz="2000">
              <a:ea typeface="微軟正黑體"/>
            </a:endParaRPr>
          </a:p>
          <a:p>
            <a:pPr marL="421640" indent="-421640"/>
            <a:r>
              <a:rPr lang="zh-TW" sz="2000" b="0">
                <a:latin typeface="Arial"/>
                <a:ea typeface="微軟正黑體"/>
                <a:cs typeface="Arial"/>
              </a:rPr>
              <a:t>使用 </a:t>
            </a:r>
            <a:r>
              <a:rPr lang="zh-TW" sz="2000">
                <a:latin typeface="Arial"/>
                <a:ea typeface="微軟正黑體"/>
                <a:cs typeface="Arial"/>
              </a:rPr>
              <a:t>POST</a:t>
            </a:r>
            <a:r>
              <a:rPr lang="zh-TW" sz="2000" b="0">
                <a:latin typeface="Arial"/>
                <a:ea typeface="微軟正黑體"/>
                <a:cs typeface="Arial"/>
              </a:rPr>
              <a:t> 的時候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傳送地址</a:t>
            </a:r>
            <a:r>
              <a:rPr lang="zh-TW" sz="2000" b="0">
                <a:latin typeface="Arial"/>
                <a:ea typeface="微軟正黑體"/>
                <a:cs typeface="Arial"/>
              </a:rPr>
              <a:t>則是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只有</a:t>
            </a:r>
            <a:r>
              <a:rPr lang="zh-TW" sz="2000" b="0">
                <a:latin typeface="Arial"/>
                <a:ea typeface="微軟正黑體"/>
                <a:cs typeface="Arial"/>
              </a:rPr>
              <a:t>URL，另外將要傳送的資料寫</a:t>
            </a:r>
            <a:r>
              <a:rPr lang="en-US" altLang="zh-TW" sz="2000">
                <a:latin typeface="Arial"/>
                <a:ea typeface="微軟正黑體"/>
                <a:cs typeface="Arial"/>
              </a:rPr>
              <a:t>Payload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，在</a:t>
            </a:r>
            <a:r>
              <a:rPr lang="zh-TW" sz="2000" b="0">
                <a:latin typeface="Arial"/>
                <a:ea typeface="微軟正黑體"/>
                <a:cs typeface="Arial"/>
              </a:rPr>
              <a:t>傳送</a:t>
            </a:r>
            <a:r>
              <a:rPr lang="zh-TW" altLang="en-US" sz="2000" b="0">
                <a:latin typeface="Arial"/>
                <a:ea typeface="微軟正黑體"/>
                <a:cs typeface="Arial"/>
              </a:rPr>
              <a:t>出去</a:t>
            </a:r>
            <a:r>
              <a:rPr lang="zh-TW" sz="2000" b="0">
                <a:latin typeface="Arial"/>
                <a:ea typeface="微軟正黑體"/>
                <a:cs typeface="Arial"/>
              </a:rPr>
              <a:t>。</a:t>
            </a:r>
            <a:endParaRPr lang="zh-TW" altLang="en-US" sz="2000">
              <a:ea typeface="微軟正黑體"/>
            </a:endParaRPr>
          </a:p>
        </p:txBody>
      </p:sp>
      <p:pic>
        <p:nvPicPr>
          <p:cNvPr id="3" name="圖片 5">
            <a:extLst>
              <a:ext uri="{FF2B5EF4-FFF2-40B4-BE49-F238E27FC236}">
                <a16:creationId xmlns:a16="http://schemas.microsoft.com/office/drawing/2014/main" id="{C7636C22-2A3A-45A2-B4B9-FD74411B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251" y="2434421"/>
            <a:ext cx="5757080" cy="41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9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網址列結構</a:t>
            </a:r>
            <a:endParaRPr lang="zh-TW" altLang="en-US"/>
          </a:p>
        </p:txBody>
      </p:sp>
      <p:pic>
        <p:nvPicPr>
          <p:cNvPr id="8" name="圖片 8">
            <a:extLst>
              <a:ext uri="{FF2B5EF4-FFF2-40B4-BE49-F238E27FC236}">
                <a16:creationId xmlns:a16="http://schemas.microsoft.com/office/drawing/2014/main" id="{3F393ECF-36CC-46D8-9C40-E381197AA0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01241" y="3579309"/>
            <a:ext cx="11516953" cy="2227921"/>
          </a:xfrm>
        </p:spPr>
      </p:pic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0E4E060E-3531-4E1F-8887-E569723F17A7}"/>
              </a:ext>
            </a:extLst>
          </p:cNvPr>
          <p:cNvSpPr txBox="1">
            <a:spLocks/>
          </p:cNvSpPr>
          <p:nvPr/>
        </p:nvSpPr>
        <p:spPr bwMode="ltGray">
          <a:xfrm>
            <a:off x="335360" y="764704"/>
            <a:ext cx="11445227" cy="56166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22041" indent="-422041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1"/>
              </a:buClr>
              <a:buFont typeface="Arial" pitchFamily="34" charset="0"/>
              <a:buChar char="•"/>
              <a:defRPr sz="3446" b="1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1pPr>
            <a:lvl2pPr marL="879253" indent="-433765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2"/>
              </a:buClr>
              <a:buFont typeface="Arial" pitchFamily="34" charset="0"/>
              <a:buChar char="–"/>
              <a:defRPr sz="2954" b="1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2pPr>
            <a:lvl3pPr marL="1219230" indent="-339978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3"/>
              </a:buClr>
              <a:buFont typeface="Arial" pitchFamily="34" charset="0"/>
              <a:buChar char="•"/>
              <a:defRPr sz="2462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3pPr>
            <a:lvl4pPr marL="1547485" indent="-328254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4"/>
              </a:buClr>
              <a:buFont typeface="Arial" pitchFamily="34" charset="0"/>
              <a:buChar char="–"/>
              <a:defRPr sz="2215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4pPr>
            <a:lvl5pPr marL="1875739" indent="-328254" algn="l" defTabSz="1125444" rtl="0" eaLnBrk="1" latinLnBrk="0" hangingPunct="1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buClr>
                <a:schemeClr val="accent5"/>
              </a:buClr>
              <a:buFont typeface="Arial" pitchFamily="34" charset="0"/>
              <a:buChar char="»"/>
              <a:defRPr sz="2215" kern="1200">
                <a:solidFill>
                  <a:srgbClr val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5pPr>
            <a:lvl6pPr marL="3094970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91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413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135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1640" indent="-421640"/>
            <a:r>
              <a:rPr lang="en-US" altLang="zh-TW" sz="2800" b="0">
                <a:latin typeface="+mj-lt"/>
                <a:ea typeface="微軟正黑體"/>
                <a:cs typeface="Arial"/>
              </a:rPr>
              <a:t>S</a:t>
            </a:r>
            <a:r>
              <a:rPr lang="zh-TW" altLang="zh-TW" sz="2800" b="0">
                <a:latin typeface="+mj-lt"/>
                <a:ea typeface="微軟正黑體"/>
                <a:cs typeface="Arial"/>
              </a:rPr>
              <a:t>cheme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 </a:t>
            </a:r>
            <a:r>
              <a:rPr lang="en-US" altLang="zh-TW" sz="2800" b="0">
                <a:latin typeface="+mj-lt"/>
                <a:ea typeface="微軟正黑體"/>
                <a:cs typeface="Arial"/>
              </a:rPr>
              <a:t>: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 也稱作</a:t>
            </a:r>
            <a:r>
              <a:rPr lang="en-US" altLang="zh-TW" sz="2800" b="0">
                <a:latin typeface="+mj-lt"/>
                <a:ea typeface="微軟正黑體"/>
                <a:cs typeface="Arial"/>
              </a:rPr>
              <a:t>protocol</a:t>
            </a:r>
          </a:p>
          <a:p>
            <a:pPr marL="421640" indent="-421640"/>
            <a:r>
              <a:rPr lang="en-US" altLang="zh-TW" sz="2800" b="0">
                <a:latin typeface="+mj-lt"/>
                <a:ea typeface="微軟正黑體"/>
                <a:cs typeface="Arial"/>
              </a:rPr>
              <a:t>host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 </a:t>
            </a:r>
            <a:r>
              <a:rPr lang="en-US" altLang="zh-TW" sz="2800" b="0">
                <a:latin typeface="+mj-lt"/>
                <a:ea typeface="微軟正黑體"/>
                <a:cs typeface="Arial"/>
              </a:rPr>
              <a:t>: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 如</a:t>
            </a:r>
            <a:r>
              <a:rPr lang="zh-TW" sz="2800" b="0">
                <a:latin typeface="+mj-lt"/>
                <a:ea typeface="微軟正黑體"/>
                <a:cs typeface="Arial"/>
              </a:rPr>
              <a:t>果沒有申請doma</a:t>
            </a:r>
            <a:r>
              <a:rPr lang="en-US" altLang="zh-TW" sz="2800" b="0">
                <a:latin typeface="+mj-lt"/>
                <a:ea typeface="微軟正黑體"/>
                <a:cs typeface="Arial"/>
              </a:rPr>
              <a:t>in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，就</a:t>
            </a:r>
            <a:r>
              <a:rPr lang="zh-TW" sz="2800" b="0">
                <a:latin typeface="+mj-lt"/>
                <a:ea typeface="微軟正黑體"/>
                <a:cs typeface="Arial"/>
              </a:rPr>
              <a:t>以IP顯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示</a:t>
            </a:r>
            <a:endParaRPr lang="en-US" altLang="zh-TW" sz="2800" b="0">
              <a:latin typeface="+mj-lt"/>
              <a:ea typeface="微軟正黑體"/>
              <a:cs typeface="Arial"/>
            </a:endParaRPr>
          </a:p>
          <a:p>
            <a:pPr marL="421640" indent="-421640"/>
            <a:r>
              <a:rPr lang="en-US" altLang="zh-TW" sz="2800" b="0">
                <a:latin typeface="+mj-lt"/>
                <a:ea typeface="微軟正黑體"/>
                <a:cs typeface="Arial"/>
              </a:rPr>
              <a:t>port : 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要連接的服務的通訊埠</a:t>
            </a:r>
            <a:endParaRPr lang="en-US" altLang="zh-TW" sz="2800" b="0">
              <a:latin typeface="+mj-lt"/>
              <a:ea typeface="微軟正黑體"/>
              <a:cs typeface="Arial"/>
            </a:endParaRPr>
          </a:p>
          <a:p>
            <a:pPr marL="421640" indent="-421640"/>
            <a:r>
              <a:rPr lang="en-US" altLang="zh-TW" sz="2800" b="0">
                <a:latin typeface="+mj-lt"/>
              </a:rPr>
              <a:t>path  : path</a:t>
            </a:r>
            <a:r>
              <a:rPr lang="zh-TW" altLang="en-US" sz="2800" b="0">
                <a:latin typeface="+mj-lt"/>
              </a:rPr>
              <a:t>標識出客戶端要訪問的主機中的特定資源。</a:t>
            </a:r>
            <a:endParaRPr lang="zh-TW" altLang="en-US" sz="2800" b="0">
              <a:latin typeface="+mj-lt"/>
              <a:ea typeface="微軟正黑體"/>
            </a:endParaRPr>
          </a:p>
          <a:p>
            <a:pPr marL="421640" indent="-421640"/>
            <a:r>
              <a:rPr lang="en-US" altLang="zh-TW" sz="2800" b="0" err="1">
                <a:latin typeface="+mj-lt"/>
                <a:ea typeface="微軟正黑體"/>
                <a:cs typeface="Arial"/>
              </a:rPr>
              <a:t>QueryS</a:t>
            </a:r>
            <a:r>
              <a:rPr lang="zh-TW" sz="2800" b="0">
                <a:latin typeface="+mj-lt"/>
                <a:ea typeface="微軟正黑體"/>
                <a:cs typeface="Arial"/>
              </a:rPr>
              <a:t>t</a:t>
            </a:r>
            <a:r>
              <a:rPr lang="en-US" altLang="zh-TW" sz="2800" b="0">
                <a:latin typeface="+mj-lt"/>
                <a:ea typeface="微軟正黑體"/>
                <a:cs typeface="Arial"/>
              </a:rPr>
              <a:t>ring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 </a:t>
            </a:r>
            <a:r>
              <a:rPr lang="en-US" altLang="zh-TW" sz="2800" b="0">
                <a:latin typeface="+mj-lt"/>
                <a:ea typeface="微軟正黑體"/>
                <a:cs typeface="Arial"/>
              </a:rPr>
              <a:t>: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 以</a:t>
            </a:r>
            <a:r>
              <a:rPr lang="en-US" altLang="zh-TW" sz="2800">
                <a:latin typeface="+mj-lt"/>
                <a:ea typeface="微軟正黑體"/>
                <a:cs typeface="Arial"/>
              </a:rPr>
              <a:t>?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開頭</a:t>
            </a:r>
            <a:r>
              <a:rPr lang="zh-TW" sz="2800" b="0">
                <a:latin typeface="+mj-lt"/>
                <a:ea typeface="微軟正黑體"/>
                <a:cs typeface="Arial"/>
              </a:rPr>
              <a:t>，內容則是</a:t>
            </a:r>
            <a:r>
              <a:rPr lang="en-US" altLang="zh-TW" sz="2800" b="0">
                <a:latin typeface="+mj-lt"/>
                <a:ea typeface="微軟正黑體"/>
                <a:cs typeface="Arial"/>
              </a:rPr>
              <a:t>key/value</a:t>
            </a:r>
            <a:r>
              <a:rPr lang="zh-TW" altLang="en-US" sz="2800" b="0">
                <a:latin typeface="+mj-lt"/>
                <a:ea typeface="微軟正黑體"/>
                <a:cs typeface="Arial"/>
              </a:rPr>
              <a:t>對</a:t>
            </a:r>
            <a:r>
              <a:rPr lang="zh-TW" sz="2800" b="0">
                <a:latin typeface="+mj-lt"/>
                <a:ea typeface="微軟正黑體"/>
                <a:cs typeface="Arial"/>
              </a:rPr>
              <a:t>，以</a:t>
            </a:r>
            <a:r>
              <a:rPr lang="zh-TW" sz="2800">
                <a:latin typeface="+mj-lt"/>
                <a:ea typeface="微軟正黑體"/>
                <a:cs typeface="Arial"/>
              </a:rPr>
              <a:t>&amp;</a:t>
            </a:r>
            <a:r>
              <a:rPr lang="zh-TW" sz="2800" b="0">
                <a:latin typeface="+mj-lt"/>
                <a:ea typeface="微軟正黑體"/>
                <a:cs typeface="Arial"/>
              </a:rPr>
              <a:t>作為分隔</a:t>
            </a:r>
            <a:endParaRPr lang="zh-TW" sz="2800" b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186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  <a:cs typeface="+mj-lt"/>
              </a:rPr>
              <a:t>Flask</a:t>
            </a:r>
            <a:r>
              <a:rPr lang="zh-TW" altLang="en-US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reque</a:t>
            </a:r>
            <a:r>
              <a:rPr lang="zh-TW">
                <a:ea typeface="+mj-lt"/>
                <a:cs typeface="+mj-lt"/>
              </a:rPr>
              <a:t>s</a:t>
            </a:r>
            <a:r>
              <a:rPr lang="en-US" altLang="zh-TW">
                <a:ea typeface="+mj-lt"/>
                <a:cs typeface="+mj-lt"/>
              </a:rPr>
              <a:t>t</a:t>
            </a:r>
            <a:r>
              <a:rPr lang="zh-TW" altLang="en-US">
                <a:ea typeface="+mj-lt"/>
                <a:cs typeface="+mj-lt"/>
              </a:rPr>
              <a:t> </a:t>
            </a:r>
            <a:r>
              <a:rPr lang="en-US">
                <a:ea typeface="+mj-lt"/>
                <a:cs typeface="+mj-lt"/>
              </a:rPr>
              <a:t>obj</a:t>
            </a:r>
            <a:r>
              <a:rPr lang="en-US" altLang="zh-TW">
                <a:ea typeface="+mj-lt"/>
                <a:cs typeface="+mj-lt"/>
              </a:rPr>
              <a:t>e</a:t>
            </a:r>
            <a:r>
              <a:rPr lang="en-US">
                <a:ea typeface="+mj-lt"/>
                <a:cs typeface="+mj-lt"/>
              </a:rPr>
              <a:t>ct</a:t>
            </a:r>
            <a:endParaRPr lang="zh-TW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F76C607-90B2-4922-A59A-E5B3D10F8EAB}"/>
              </a:ext>
            </a:extLst>
          </p:cNvPr>
          <p:cNvGrpSpPr/>
          <p:nvPr/>
        </p:nvGrpSpPr>
        <p:grpSpPr>
          <a:xfrm>
            <a:off x="1790131" y="935202"/>
            <a:ext cx="8257389" cy="5352709"/>
            <a:chOff x="1835624" y="1060306"/>
            <a:chExt cx="8257389" cy="5352709"/>
          </a:xfrm>
        </p:grpSpPr>
        <p:pic>
          <p:nvPicPr>
            <p:cNvPr id="5" name="圖片 5" descr="一張含有 文字 的圖片&#10;&#10;自動產生的描述">
              <a:extLst>
                <a:ext uri="{FF2B5EF4-FFF2-40B4-BE49-F238E27FC236}">
                  <a16:creationId xmlns:a16="http://schemas.microsoft.com/office/drawing/2014/main" id="{04B0BEE4-906E-4821-BDA2-913006358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3744" y="1060306"/>
              <a:ext cx="6030035" cy="4976225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BC78658-DFD8-4DBE-9879-2B75BF5E1D2D}"/>
                </a:ext>
              </a:extLst>
            </p:cNvPr>
            <p:cNvSpPr txBox="1"/>
            <p:nvPr/>
          </p:nvSpPr>
          <p:spPr>
            <a:xfrm>
              <a:off x="1835624" y="6043683"/>
              <a:ext cx="825738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+mn-lt"/>
                  <a:cs typeface="+mn-lt"/>
                </a:rPr>
                <a:t>https://flask.palletsprojects.com/en/1.1.x/api/?highlight=get_data#flask.Request</a:t>
              </a:r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908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+mj-lt"/>
                <a:cs typeface="+mj-lt"/>
              </a:rPr>
              <a:t>url_for()</a:t>
            </a:r>
            <a:endParaRPr lang="zh-TW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58589E7E-C5E1-4AAF-99CE-943834FAE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根據</a:t>
            </a:r>
            <a:r>
              <a:rPr lang="zh-TW" sz="3400" b="0">
                <a:latin typeface="Arial"/>
                <a:ea typeface="微軟正黑體"/>
                <a:cs typeface="Arial"/>
              </a:rPr>
              <a:t>存儲在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flask app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的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URL map(view 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函數與url的關係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中的信息</a:t>
            </a:r>
            <a:r>
              <a:rPr lang="zh-TW" sz="3400" b="0">
                <a:latin typeface="Arial"/>
                <a:ea typeface="微軟正黑體"/>
                <a:cs typeface="Arial"/>
              </a:rPr>
              <a:t>生成URL。</a:t>
            </a:r>
          </a:p>
          <a:p>
            <a:pPr marL="421640" indent="-421640"/>
            <a:r>
              <a:rPr lang="en-US" altLang="zh-TW" sz="3400" err="1">
                <a:latin typeface="Arial"/>
                <a:ea typeface="微軟正黑體"/>
                <a:cs typeface="Arial"/>
              </a:rPr>
              <a:t>url_for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()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常用參數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：</a:t>
            </a:r>
          </a:p>
          <a:p>
            <a:pPr marL="878840" lvl="1" indent="-433705"/>
            <a:r>
              <a:rPr lang="en-US" sz="2600" b="0">
                <a:latin typeface="Arial"/>
                <a:ea typeface="微軟正黑體"/>
                <a:cs typeface="Arial"/>
              </a:rPr>
              <a:t>endpoint ⇒ takes the view function name</a:t>
            </a:r>
          </a:p>
          <a:p>
            <a:pPr marL="878840" lvl="1" indent="-433705"/>
            <a:r>
              <a:rPr lang="en-US" sz="2600" b="0">
                <a:latin typeface="Arial"/>
                <a:ea typeface="微軟正黑體"/>
                <a:cs typeface="Arial"/>
              </a:rPr>
              <a:t>_external ⇒ True → get absolute URL</a:t>
            </a:r>
            <a:endParaRPr lang="en-US" sz="2600"/>
          </a:p>
          <a:p>
            <a:pPr marL="421640" indent="-421640">
              <a:buClr>
                <a:srgbClr val="E1CB1A"/>
              </a:buClr>
              <a:buFont typeface="Arial"/>
              <a:buChar char="•"/>
            </a:pPr>
            <a:r>
              <a:rPr lang="en-US" sz="2600" err="1">
                <a:latin typeface="Arial"/>
                <a:ea typeface="微軟正黑體"/>
                <a:cs typeface="Arial"/>
              </a:rPr>
              <a:t>url_for</a:t>
            </a:r>
            <a:r>
              <a:rPr lang="en-US" sz="2600">
                <a:latin typeface="Arial"/>
                <a:ea typeface="微軟正黑體"/>
                <a:cs typeface="Arial"/>
              </a:rPr>
              <a:t>()</a:t>
            </a:r>
            <a:r>
              <a:rPr lang="zh-CN" altLang="en-US" sz="2600" b="0">
                <a:latin typeface="Arial"/>
                <a:ea typeface="微軟正黑體"/>
                <a:cs typeface="Arial"/>
              </a:rPr>
              <a:t>關鍵字引數</a:t>
            </a:r>
            <a:r>
              <a:rPr lang="en-US" altLang="zh-CN" sz="2600">
                <a:latin typeface="Arial"/>
                <a:ea typeface="微軟正黑體"/>
                <a:cs typeface="Arial"/>
              </a:rPr>
              <a:t>:</a:t>
            </a:r>
            <a:endParaRPr lang="en-US" altLang="zh-CN" sz="2600" b="0">
              <a:latin typeface="Arial"/>
              <a:ea typeface="微軟正黑體"/>
              <a:cs typeface="Arial"/>
            </a:endParaRPr>
          </a:p>
          <a:p>
            <a:pPr marL="878840" lvl="1" indent="-433705">
              <a:buFont typeface="Arial"/>
              <a:buChar char="–"/>
            </a:pPr>
            <a:r>
              <a:rPr lang="zh-CN" altLang="en-US" sz="2600" b="0">
                <a:latin typeface="Arial"/>
                <a:ea typeface="微軟正黑體"/>
                <a:cs typeface="Arial"/>
              </a:rPr>
              <a:t>呈現在</a:t>
            </a:r>
            <a:r>
              <a:rPr lang="en-US" altLang="zh-CN" sz="2600" b="0">
                <a:latin typeface="Arial"/>
                <a:ea typeface="微軟正黑體"/>
                <a:cs typeface="Arial"/>
              </a:rPr>
              <a:t>dynamic</a:t>
            </a:r>
            <a:r>
              <a:rPr lang="zh-CN" altLang="en-US" sz="26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CN" sz="2600" b="0">
                <a:latin typeface="Arial"/>
                <a:ea typeface="微軟正黑體"/>
                <a:cs typeface="Arial"/>
              </a:rPr>
              <a:t>route</a:t>
            </a:r>
          </a:p>
          <a:p>
            <a:pPr marL="878840" lvl="1" indent="-433705">
              <a:buFont typeface="Arial"/>
              <a:buChar char="–"/>
            </a:pPr>
            <a:r>
              <a:rPr lang="zh-CN" altLang="en-US" sz="2600" b="0">
                <a:latin typeface="Arial"/>
                <a:ea typeface="微軟正黑體"/>
                <a:cs typeface="Arial"/>
              </a:rPr>
              <a:t>呈現在</a:t>
            </a:r>
            <a:r>
              <a:rPr lang="en-US" altLang="zh-CN" sz="2600" b="0">
                <a:latin typeface="Arial"/>
                <a:ea typeface="微軟正黑體"/>
                <a:cs typeface="Arial"/>
              </a:rPr>
              <a:t>query</a:t>
            </a:r>
            <a:r>
              <a:rPr lang="zh-CN" altLang="en-US" sz="2600" b="0">
                <a:latin typeface="Arial"/>
                <a:ea typeface="微軟正黑體"/>
                <a:cs typeface="Arial"/>
              </a:rPr>
              <a:t> </a:t>
            </a:r>
            <a:r>
              <a:rPr lang="en-US" altLang="zh-CN" sz="2600" b="0">
                <a:latin typeface="Arial"/>
                <a:ea typeface="微軟正黑體"/>
                <a:cs typeface="Arial"/>
              </a:rPr>
              <a:t>string</a:t>
            </a:r>
            <a:endParaRPr lang="zh-CN" altLang="en-US" sz="2600" b="0">
              <a:latin typeface="Arial"/>
              <a:ea typeface="微軟正黑體"/>
              <a:cs typeface="Arial"/>
            </a:endParaRPr>
          </a:p>
          <a:p>
            <a:pPr marL="445135" lvl="1" indent="0">
              <a:buNone/>
            </a:pPr>
            <a:endParaRPr lang="en-US" sz="2600" b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en-US" altLang="zh-TW" sz="3000" b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3400" b="0">
              <a:latin typeface="Arial"/>
              <a:ea typeface="微軟正黑體"/>
              <a:cs typeface="Arial"/>
            </a:endParaRP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AFA9D261-92C9-4F2F-BAEA-2735E8E8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935" y="5611718"/>
            <a:ext cx="9743440" cy="7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4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TW" altLang="en-US">
                <a:cs typeface="Arial"/>
              </a:rPr>
              <a:t>Static files</a:t>
            </a:r>
            <a:endParaRPr lang="zh-TW"/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5629E39-22BE-423A-B5D5-076D62175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靜態文件（例如圖像、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JavaScript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文件、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CS</a:t>
            </a:r>
            <a:r>
              <a:rPr lang="zh-TW" altLang="zh-TW" sz="3400" b="0">
                <a:latin typeface="Arial"/>
                <a:ea typeface="微軟正黑體"/>
                <a:cs typeface="Arial"/>
              </a:rPr>
              <a:t>S文件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、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PDF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文件</a:t>
            </a:r>
            <a:r>
              <a:rPr lang="zh-TW" altLang="zh-TW" sz="3400" b="0">
                <a:latin typeface="Arial"/>
                <a:ea typeface="微軟正黑體"/>
                <a:cs typeface="Arial"/>
              </a:rPr>
              <a:t>），這些文件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可能</a:t>
            </a:r>
            <a:r>
              <a:rPr lang="zh-TW" altLang="zh-TW" sz="3400" b="0">
                <a:latin typeface="Arial"/>
                <a:ea typeface="微軟正黑體"/>
                <a:cs typeface="Arial"/>
              </a:rPr>
              <a:t>會被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HT</a:t>
            </a:r>
            <a:r>
              <a:rPr lang="zh-TW" altLang="zh-TW" sz="3400" b="0">
                <a:latin typeface="Arial"/>
                <a:ea typeface="微軟正黑體"/>
                <a:cs typeface="Arial"/>
              </a:rPr>
              <a:t>ML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引用或是傳輸給客戶端</a:t>
            </a:r>
            <a:r>
              <a:rPr lang="zh-TW" altLang="zh-TW" sz="3400" b="0">
                <a:latin typeface="Arial"/>
                <a:ea typeface="微軟正黑體"/>
                <a:cs typeface="Arial"/>
              </a:rPr>
              <a:t>。</a:t>
            </a:r>
            <a:endParaRPr lang="zh-TW" altLang="en-US" sz="3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在默認配置下</a:t>
            </a:r>
            <a:r>
              <a:rPr lang="en-US" sz="3400" b="0">
                <a:latin typeface="Arial"/>
                <a:ea typeface="微軟正黑體"/>
                <a:cs typeface="Arial"/>
              </a:rPr>
              <a:t>，Flask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會在web app的根目錄中一個名為</a:t>
            </a:r>
            <a:r>
              <a:rPr lang="en-US" sz="3400">
                <a:latin typeface="Arial"/>
                <a:ea typeface="微軟正黑體"/>
                <a:cs typeface="Arial"/>
              </a:rPr>
              <a:t>static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的目錄中查找靜態文件。</a:t>
            </a:r>
            <a:endParaRPr lang="zh-TW" altLang="en-US" sz="3400" b="0"/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Flask 會自動把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'static'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這個endpoint註冊到</a:t>
            </a:r>
            <a:r>
              <a:rPr lang="zh-TW" altLang="en-US" sz="3200">
                <a:latin typeface="Arial"/>
                <a:ea typeface="微軟正黑體"/>
                <a:cs typeface="Arial"/>
              </a:rPr>
              <a:t>'</a:t>
            </a:r>
            <a:r>
              <a:rPr lang="zh-TW" sz="3200">
                <a:latin typeface="Arial"/>
                <a:ea typeface="微軟正黑體"/>
                <a:cs typeface="Arial"/>
              </a:rPr>
              <a:t>/static</a:t>
            </a:r>
            <a:r>
              <a:rPr lang="zh-TW" altLang="en-US" sz="3200">
                <a:latin typeface="Arial"/>
                <a:ea typeface="微軟正黑體"/>
                <a:cs typeface="Arial"/>
              </a:rPr>
              <a:t>'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這個url</a:t>
            </a:r>
          </a:p>
          <a:p>
            <a:pPr marL="421640" indent="-421640"/>
            <a:endParaRPr lang="zh-TW" altLang="en-US" sz="3400" b="0"/>
          </a:p>
        </p:txBody>
      </p:sp>
    </p:spTree>
    <p:extLst>
      <p:ext uri="{BB962C8B-B14F-4D97-AF65-F5344CB8AC3E}">
        <p14:creationId xmlns:p14="http://schemas.microsoft.com/office/powerpoint/2010/main" val="731008719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寬螢幕</PresentationFormat>
  <Slides>9</Slides>
  <Notes>8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2019簡報範本_light</vt:lpstr>
      <vt:lpstr>Http 傳輸 &amp; 靜態檔案</vt:lpstr>
      <vt:lpstr>Process &amp; Program</vt:lpstr>
      <vt:lpstr>網頁傳輸的過程</vt:lpstr>
      <vt:lpstr>網頁傳輸的過程</vt:lpstr>
      <vt:lpstr>GET &amp; POST</vt:lpstr>
      <vt:lpstr>網址列結構</vt:lpstr>
      <vt:lpstr>Flask request object</vt:lpstr>
      <vt:lpstr>url_for()</vt:lpstr>
      <vt:lpstr>Static files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2</cp:revision>
  <cp:lastPrinted>2019-04-29T05:54:36Z</cp:lastPrinted>
  <dcterms:created xsi:type="dcterms:W3CDTF">2019-04-17T09:27:11Z</dcterms:created>
  <dcterms:modified xsi:type="dcterms:W3CDTF">2026-06-09T10:46:55Z</dcterms:modified>
  <cp:category>淺色</cp:category>
</cp:coreProperties>
</file>