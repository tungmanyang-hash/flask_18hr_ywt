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10"/>
  </p:notesMasterIdLst>
  <p:handoutMasterIdLst>
    <p:handoutMasterId r:id="rId11"/>
  </p:handoutMasterIdLst>
  <p:sldIdLst>
    <p:sldId id="331" r:id="rId2"/>
    <p:sldId id="399" r:id="rId3"/>
    <p:sldId id="400" r:id="rId4"/>
    <p:sldId id="411" r:id="rId5"/>
    <p:sldId id="402" r:id="rId6"/>
    <p:sldId id="401" r:id="rId7"/>
    <p:sldId id="403" r:id="rId8"/>
    <p:sldId id="412" r:id="rId9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8370" autoAdjust="0"/>
  </p:normalViewPr>
  <p:slideViewPr>
    <p:cSldViewPr showGuides="1">
      <p:cViewPr varScale="1">
        <p:scale>
          <a:sx n="89" d="100"/>
          <a:sy n="89" d="100"/>
        </p:scale>
        <p:origin x="3066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826"/>
    </p:cViewPr>
  </p:sorterViewPr>
  <p:notesViewPr>
    <p:cSldViewPr>
      <p:cViewPr varScale="1">
        <p:scale>
          <a:sx n="60" d="100"/>
          <a:sy n="60" d="100"/>
        </p:scale>
        <p:origin x="327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 dirty="0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 dirty="0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violin-tao.blogspot.com/2017/07/ml-backpropagation.html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zhihu.com/question/27239198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violin-tao.blogspot.com/2017/07/ml-backpropagation.html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zhihu.com/question/27239198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0000FF"/>
                </a:solidFill>
              </a:rPr>
              <a:t>每一個章節預估用</a:t>
            </a:r>
            <a:r>
              <a:rPr lang="en-US" altLang="zh-TW" sz="1200" dirty="0">
                <a:solidFill>
                  <a:srgbClr val="0000FF"/>
                </a:solidFill>
              </a:rPr>
              <a:t>30</a:t>
            </a:r>
            <a:r>
              <a:rPr lang="zh-TW" altLang="en-US" sz="1200" dirty="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 dirty="0">
                <a:solidFill>
                  <a:srgbClr val="0000FF"/>
                </a:solidFill>
              </a:rPr>
              <a:t>20</a:t>
            </a:r>
            <a:r>
              <a:rPr lang="zh-TW" altLang="en-US" sz="1200" dirty="0">
                <a:solidFill>
                  <a:srgbClr val="0000FF"/>
                </a:solidFill>
              </a:rPr>
              <a:t>分鐘讓學員實做</a:t>
            </a:r>
            <a:r>
              <a:rPr lang="en-US" altLang="zh-TW" sz="1200" dirty="0">
                <a:solidFill>
                  <a:srgbClr val="0000FF"/>
                </a:solidFill>
              </a:rPr>
              <a:t>Lab</a:t>
            </a:r>
            <a:r>
              <a:rPr lang="zh-TW" altLang="en-US" sz="1200" dirty="0">
                <a:solidFill>
                  <a:srgbClr val="0000FF"/>
                </a:solidFill>
              </a:rPr>
              <a:t>，</a:t>
            </a:r>
            <a:r>
              <a:rPr lang="en-US" altLang="zh-TW" sz="1200" dirty="0">
                <a:solidFill>
                  <a:srgbClr val="0000FF"/>
                </a:solidFill>
              </a:rPr>
              <a:t>10</a:t>
            </a:r>
            <a:r>
              <a:rPr lang="zh-TW" altLang="en-US" sz="1200" dirty="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</a:t>
            </a:fld>
            <a:endParaRPr lang="zh-TW" altLang="en-US" dirty="0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 dirty="0">
                <a:solidFill>
                  <a:srgbClr val="0000FF"/>
                </a:solidFill>
              </a:rPr>
              <a:t>Backpropagation</a:t>
            </a:r>
            <a:r>
              <a:rPr lang="zh-TW" altLang="en-US" sz="1200" dirty="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 dirty="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 dirty="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 dirty="0"/>
          </a:p>
          <a:p>
            <a:pPr marL="228600" indent="-228600">
              <a:buAutoNum type="arabicPeriod"/>
            </a:pPr>
            <a:r>
              <a:rPr lang="en-US" altLang="zh-TW" sz="1200" dirty="0">
                <a:solidFill>
                  <a:srgbClr val="0000FF"/>
                </a:solidFill>
              </a:rPr>
              <a:t>Learning rate </a:t>
            </a:r>
            <a:r>
              <a:rPr lang="zh-TW" altLang="en-US" sz="1200" dirty="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618687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2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0E4DDA4-E70E-4F2F-991C-AE6749A9BEA7}"/>
              </a:ext>
            </a:extLst>
          </p:cNvPr>
          <p:cNvSpPr txBox="1"/>
          <p:nvPr/>
        </p:nvSpPr>
        <p:spPr>
          <a:xfrm>
            <a:off x="91232" y="8426053"/>
            <a:ext cx="6623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zh-TW" sz="1200" dirty="0">
                <a:hlinkClick r:id="rId3"/>
              </a:rPr>
              <a:t>http://violin-tao.blogspot.com/2017/07/ml-backpropagation.html</a:t>
            </a:r>
            <a:endParaRPr lang="en-US" altLang="zh-TW" sz="1200" dirty="0"/>
          </a:p>
          <a:p>
            <a:pPr marL="228600" indent="-228600">
              <a:buAutoNum type="arabicPeriod"/>
            </a:pPr>
            <a:r>
              <a:rPr lang="en-US" altLang="zh-TW" sz="1200" dirty="0">
                <a:hlinkClick r:id="rId4"/>
              </a:rPr>
              <a:t>https://www.zhihu.com/question/27239198</a:t>
            </a:r>
            <a:endParaRPr lang="en-US" altLang="zh-TW" sz="1200" dirty="0"/>
          </a:p>
          <a:p>
            <a:pPr marL="228600" indent="-228600">
              <a:buAutoNum type="arabicPeriod"/>
            </a:pPr>
            <a:r>
              <a:rPr lang="zh-TW" altLang="en-US" sz="1200" dirty="0">
                <a:solidFill>
                  <a:srgbClr val="0000FF"/>
                </a:solidFill>
              </a:rPr>
              <a:t>更新權重的方法</a:t>
            </a:r>
          </a:p>
        </p:txBody>
      </p:sp>
    </p:spTree>
    <p:extLst>
      <p:ext uri="{BB962C8B-B14F-4D97-AF65-F5344CB8AC3E}">
        <p14:creationId xmlns:p14="http://schemas.microsoft.com/office/powerpoint/2010/main" val="1656891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0E4DDA4-E70E-4F2F-991C-AE6749A9BEA7}"/>
              </a:ext>
            </a:extLst>
          </p:cNvPr>
          <p:cNvSpPr txBox="1"/>
          <p:nvPr/>
        </p:nvSpPr>
        <p:spPr>
          <a:xfrm>
            <a:off x="91232" y="8426053"/>
            <a:ext cx="6623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zh-TW" sz="1200" dirty="0">
                <a:hlinkClick r:id="rId3"/>
              </a:rPr>
              <a:t>http://violin-tao.blogspot.com/2017/07/ml-backpropagation.html</a:t>
            </a:r>
            <a:endParaRPr lang="en-US" altLang="zh-TW" sz="1200" dirty="0"/>
          </a:p>
          <a:p>
            <a:pPr marL="228600" indent="-228600">
              <a:buAutoNum type="arabicPeriod"/>
            </a:pPr>
            <a:r>
              <a:rPr lang="en-US" altLang="zh-TW" sz="1200" dirty="0">
                <a:hlinkClick r:id="rId4"/>
              </a:rPr>
              <a:t>https://www.zhihu.com/question/27239198</a:t>
            </a:r>
            <a:endParaRPr lang="en-US" altLang="zh-TW" sz="1200" dirty="0"/>
          </a:p>
          <a:p>
            <a:pPr marL="228600" indent="-228600">
              <a:buAutoNum type="arabicPeriod"/>
            </a:pPr>
            <a:r>
              <a:rPr lang="zh-TW" altLang="en-US" sz="1200" dirty="0">
                <a:solidFill>
                  <a:srgbClr val="0000FF"/>
                </a:solidFill>
              </a:rPr>
              <a:t>更新權重的方法</a:t>
            </a:r>
          </a:p>
        </p:txBody>
      </p:sp>
    </p:spTree>
    <p:extLst>
      <p:ext uri="{BB962C8B-B14F-4D97-AF65-F5344CB8AC3E}">
        <p14:creationId xmlns:p14="http://schemas.microsoft.com/office/powerpoint/2010/main" val="3760121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00FF"/>
                </a:solidFill>
              </a:rPr>
              <a:t>1.Z</a:t>
            </a:r>
            <a:r>
              <a:rPr lang="zh-TW" altLang="en-US" sz="1200" dirty="0">
                <a:solidFill>
                  <a:srgbClr val="0000FF"/>
                </a:solidFill>
              </a:rPr>
              <a:t>值為權重相加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2.</a:t>
            </a:r>
            <a:r>
              <a:rPr lang="zh-TW" altLang="en-US" sz="1200" dirty="0">
                <a:solidFill>
                  <a:srgbClr val="0000FF"/>
                </a:solidFill>
              </a:rPr>
              <a:t>通常 </a:t>
            </a:r>
            <a:r>
              <a:rPr lang="en-US" altLang="zh-TW" sz="1200" dirty="0">
                <a:solidFill>
                  <a:srgbClr val="0000FF"/>
                </a:solidFill>
              </a:rPr>
              <a:t>activation function </a:t>
            </a:r>
            <a:r>
              <a:rPr lang="zh-TW" altLang="en-US" sz="1200" dirty="0">
                <a:solidFill>
                  <a:srgbClr val="0000FF"/>
                </a:solidFill>
              </a:rPr>
              <a:t>會根據訓練的目的而定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3. activation function</a:t>
            </a:r>
            <a:r>
              <a:rPr lang="zh-TW" altLang="en-US" sz="1200" dirty="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 dirty="0">
              <a:solidFill>
                <a:srgbClr val="0000FF"/>
              </a:solidFill>
            </a:endParaRPr>
          </a:p>
          <a:p>
            <a:endParaRPr lang="zh-TW" altLang="en-US" sz="1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475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5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00FF"/>
                </a:solidFill>
              </a:rPr>
              <a:t>1.Z</a:t>
            </a:r>
            <a:r>
              <a:rPr lang="zh-TW" altLang="en-US" sz="1200" dirty="0">
                <a:solidFill>
                  <a:srgbClr val="0000FF"/>
                </a:solidFill>
              </a:rPr>
              <a:t>值為權重相加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2.</a:t>
            </a:r>
            <a:r>
              <a:rPr lang="zh-TW" altLang="en-US" sz="1200" dirty="0">
                <a:solidFill>
                  <a:srgbClr val="0000FF"/>
                </a:solidFill>
              </a:rPr>
              <a:t>通常 </a:t>
            </a:r>
            <a:r>
              <a:rPr lang="en-US" altLang="zh-TW" sz="1200" dirty="0">
                <a:solidFill>
                  <a:srgbClr val="0000FF"/>
                </a:solidFill>
              </a:rPr>
              <a:t>activation function </a:t>
            </a:r>
            <a:r>
              <a:rPr lang="zh-TW" altLang="en-US" sz="1200" dirty="0">
                <a:solidFill>
                  <a:srgbClr val="0000FF"/>
                </a:solidFill>
              </a:rPr>
              <a:t>會根據訓練的目的而定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3. activation function</a:t>
            </a:r>
            <a:r>
              <a:rPr lang="zh-TW" altLang="en-US" sz="1200" dirty="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 dirty="0">
              <a:solidFill>
                <a:srgbClr val="0000FF"/>
              </a:solidFill>
            </a:endParaRPr>
          </a:p>
          <a:p>
            <a:endParaRPr lang="zh-TW" altLang="en-US" sz="1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966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6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00FF"/>
                </a:solidFill>
              </a:rPr>
              <a:t>1.Z</a:t>
            </a:r>
            <a:r>
              <a:rPr lang="zh-TW" altLang="en-US" sz="1200" dirty="0">
                <a:solidFill>
                  <a:srgbClr val="0000FF"/>
                </a:solidFill>
              </a:rPr>
              <a:t>值為權重相加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2.</a:t>
            </a:r>
            <a:r>
              <a:rPr lang="zh-TW" altLang="en-US" sz="1200" dirty="0">
                <a:solidFill>
                  <a:srgbClr val="0000FF"/>
                </a:solidFill>
              </a:rPr>
              <a:t>通常 </a:t>
            </a:r>
            <a:r>
              <a:rPr lang="en-US" altLang="zh-TW" sz="1200" dirty="0">
                <a:solidFill>
                  <a:srgbClr val="0000FF"/>
                </a:solidFill>
              </a:rPr>
              <a:t>activation function </a:t>
            </a:r>
            <a:r>
              <a:rPr lang="zh-TW" altLang="en-US" sz="1200" dirty="0">
                <a:solidFill>
                  <a:srgbClr val="0000FF"/>
                </a:solidFill>
              </a:rPr>
              <a:t>會根據訓練的目的而定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3. activation function</a:t>
            </a:r>
            <a:r>
              <a:rPr lang="zh-TW" altLang="en-US" sz="1200" dirty="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 dirty="0">
              <a:solidFill>
                <a:srgbClr val="0000FF"/>
              </a:solidFill>
            </a:endParaRPr>
          </a:p>
          <a:p>
            <a:endParaRPr lang="zh-TW" altLang="en-US" sz="1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331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7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00FF"/>
                </a:solidFill>
              </a:rPr>
              <a:t>1.Z</a:t>
            </a:r>
            <a:r>
              <a:rPr lang="zh-TW" altLang="en-US" sz="1200" dirty="0">
                <a:solidFill>
                  <a:srgbClr val="0000FF"/>
                </a:solidFill>
              </a:rPr>
              <a:t>值為權重相加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2.</a:t>
            </a:r>
            <a:r>
              <a:rPr lang="zh-TW" altLang="en-US" sz="1200" dirty="0">
                <a:solidFill>
                  <a:srgbClr val="0000FF"/>
                </a:solidFill>
              </a:rPr>
              <a:t>通常 </a:t>
            </a:r>
            <a:r>
              <a:rPr lang="en-US" altLang="zh-TW" sz="1200" dirty="0">
                <a:solidFill>
                  <a:srgbClr val="0000FF"/>
                </a:solidFill>
              </a:rPr>
              <a:t>activation function </a:t>
            </a:r>
            <a:r>
              <a:rPr lang="zh-TW" altLang="en-US" sz="1200" dirty="0">
                <a:solidFill>
                  <a:srgbClr val="0000FF"/>
                </a:solidFill>
              </a:rPr>
              <a:t>會根據訓練的目的而定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3. activation function</a:t>
            </a:r>
            <a:r>
              <a:rPr lang="zh-TW" altLang="en-US" sz="1200" dirty="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 dirty="0">
              <a:solidFill>
                <a:srgbClr val="0000FF"/>
              </a:solidFill>
            </a:endParaRPr>
          </a:p>
          <a:p>
            <a:endParaRPr lang="zh-TW" altLang="en-US" sz="1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696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 dirty="0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677996" y="1536002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 dirty="0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dirty="0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 dirty="0"/>
              <a:t>按一下編輯文字樣式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 dirty="0"/>
              <a:t>按一下以編輯文字樣式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 dirty="0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 dirty="0"/>
              <a:t>Arial(</a:t>
            </a:r>
            <a:r>
              <a:rPr lang="zh-TW" altLang="en-US" dirty="0"/>
              <a:t>標題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40</a:t>
            </a:r>
            <a:r>
              <a:rPr lang="zh-TW" altLang="en-US" dirty="0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第一層 </a:t>
            </a:r>
            <a:r>
              <a:rPr lang="en-US" altLang="zh-TW" dirty="0"/>
              <a:t>28</a:t>
            </a:r>
            <a:r>
              <a:rPr lang="zh-TW" altLang="en-US" dirty="0"/>
              <a:t>號 粗體</a:t>
            </a:r>
          </a:p>
          <a:p>
            <a:pPr lvl="1"/>
            <a:r>
              <a:rPr lang="zh-TW" altLang="en-US" dirty="0"/>
              <a:t>第二層 </a:t>
            </a:r>
            <a:r>
              <a:rPr lang="en-US" altLang="zh-TW" dirty="0"/>
              <a:t>24</a:t>
            </a:r>
            <a:r>
              <a:rPr lang="zh-TW" altLang="en-US" dirty="0"/>
              <a:t>號 粗體</a:t>
            </a:r>
          </a:p>
          <a:p>
            <a:pPr lvl="2"/>
            <a:r>
              <a:rPr lang="zh-TW" altLang="en-US" dirty="0"/>
              <a:t>第三層 </a:t>
            </a:r>
            <a:r>
              <a:rPr lang="en-US" altLang="zh-TW" dirty="0"/>
              <a:t>20</a:t>
            </a:r>
            <a:r>
              <a:rPr lang="zh-TW" altLang="en-US" dirty="0"/>
              <a:t>號</a:t>
            </a:r>
          </a:p>
          <a:p>
            <a:pPr lvl="3"/>
            <a:r>
              <a:rPr lang="zh-TW" altLang="en-US" dirty="0"/>
              <a:t>第四層 </a:t>
            </a:r>
            <a:r>
              <a:rPr lang="en-US" altLang="zh-TW" dirty="0"/>
              <a:t>20</a:t>
            </a:r>
            <a:r>
              <a:rPr lang="zh-TW" altLang="en-US" dirty="0"/>
              <a:t>號</a:t>
            </a:r>
          </a:p>
          <a:p>
            <a:pPr lvl="4"/>
            <a:r>
              <a:rPr lang="zh-TW" altLang="en-US" dirty="0"/>
              <a:t>第五層 </a:t>
            </a:r>
            <a:r>
              <a:rPr lang="en-US" altLang="zh-TW" dirty="0"/>
              <a:t>20</a:t>
            </a:r>
            <a:r>
              <a:rPr lang="zh-TW" altLang="en-US" dirty="0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cs typeface="Arial"/>
              </a:rPr>
              <a:t>Bootstrap</a:t>
            </a:r>
            <a:endParaRPr lang="zh-TW" altLang="en-US" dirty="0"/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 dirty="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 dirty="0">
                <a:solidFill>
                  <a:srgbClr val="FF0000"/>
                </a:solidFill>
              </a:rPr>
              <a:t>45 </a:t>
            </a:r>
            <a:r>
              <a:rPr kumimoji="0" lang="en-US" altLang="zh-TW" sz="2000" dirty="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84B98316-61C0-4DD5-94DC-EE559596F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72128"/>
            <a:ext cx="1687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 dirty="0">
                <a:solidFill>
                  <a:srgbClr val="0000FF"/>
                </a:solidFill>
                <a:latin typeface="Georgia"/>
                <a:ea typeface="標楷體"/>
              </a:rPr>
              <a:t>Module 03</a:t>
            </a:r>
            <a:endParaRPr lang="zh-TW" altLang="zh-TW" sz="2400" i="1" dirty="0">
              <a:solidFill>
                <a:srgbClr val="0000FF"/>
              </a:solidFill>
              <a:latin typeface="Georgia" pitchFamily="18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ea typeface="+mj-lt"/>
                <a:cs typeface="+mj-lt"/>
              </a:rPr>
              <a:t>Bootstrap簡介</a:t>
            </a:r>
            <a:endParaRPr lang="en-US" altLang="zh-TW" dirty="0" err="1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E79371-9F01-4287-820D-B77AAA2F08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767162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zh-TW" sz="3400" b="0" dirty="0">
                <a:latin typeface="Arial"/>
                <a:ea typeface="微軟正黑體"/>
                <a:cs typeface="Arial"/>
                <a:hlinkClick r:id="rId3"/>
              </a:rPr>
              <a:t>Bootstrap</a:t>
            </a:r>
            <a:r>
              <a:rPr lang="zh-TW" sz="3400" b="0" dirty="0">
                <a:latin typeface="Arial"/>
                <a:ea typeface="微軟正黑體"/>
                <a:cs typeface="Arial"/>
              </a:rPr>
              <a:t> 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：</a:t>
            </a:r>
            <a:endParaRPr lang="zh-TW" dirty="0">
              <a:latin typeface="Arial"/>
              <a:ea typeface="微軟正黑體"/>
              <a:cs typeface="Arial"/>
            </a:endParaRPr>
          </a:p>
          <a:p>
            <a:pPr marL="457200" indent="-457200"/>
            <a:r>
              <a:rPr lang="en-US" altLang="zh-TW" sz="3400" b="0" dirty="0" err="1">
                <a:latin typeface="Arial"/>
                <a:ea typeface="微軟正黑體"/>
                <a:cs typeface="Arial"/>
              </a:rPr>
              <a:t>起源於Twitter</a:t>
            </a:r>
            <a:endParaRPr lang="zh-TW" altLang="en-US" sz="3400" dirty="0" err="1">
              <a:latin typeface="Arial"/>
              <a:ea typeface="微軟正黑體"/>
              <a:cs typeface="Arial"/>
            </a:endParaRPr>
          </a:p>
          <a:p>
            <a:pPr marL="457200" indent="-457200"/>
            <a:r>
              <a:rPr lang="zh-TW" sz="3400" b="0" dirty="0">
                <a:latin typeface="Arial"/>
                <a:ea typeface="微軟正黑體"/>
                <a:cs typeface="Arial"/>
              </a:rPr>
              <a:t>由 HTML、CSS 和 JavaScript 寫成的前端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套件</a:t>
            </a:r>
            <a:endParaRPr lang="zh-TW" sz="3400" dirty="0">
              <a:latin typeface="Arial"/>
              <a:ea typeface="微軟正黑體"/>
              <a:cs typeface="Arial"/>
            </a:endParaRPr>
          </a:p>
          <a:p>
            <a:pPr marL="457200" indent="-457200"/>
            <a:r>
              <a:rPr lang="zh-TW" sz="3400" b="0" dirty="0">
                <a:latin typeface="Arial"/>
                <a:ea typeface="微軟正黑體"/>
                <a:cs typeface="Arial"/>
              </a:rPr>
              <a:t>RWD響應式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設計（</a:t>
            </a:r>
            <a:r>
              <a:rPr lang="zh-TW" sz="3400" b="0" dirty="0">
                <a:latin typeface="Arial"/>
                <a:ea typeface="微軟正黑體"/>
                <a:cs typeface="Arial"/>
              </a:rPr>
              <a:t>網站排版可以自動適應螢幕大小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）</a:t>
            </a:r>
            <a:endParaRPr lang="zh-TW" sz="3400" dirty="0">
              <a:latin typeface="Arial"/>
              <a:ea typeface="微軟正黑體"/>
              <a:cs typeface="Arial"/>
            </a:endParaRPr>
          </a:p>
          <a:p>
            <a:pPr marL="421640" indent="-421640"/>
            <a:endParaRPr lang="zh-TW" altLang="en-US" sz="3400" dirty="0"/>
          </a:p>
        </p:txBody>
      </p:sp>
    </p:spTree>
    <p:extLst>
      <p:ext uri="{BB962C8B-B14F-4D97-AF65-F5344CB8AC3E}">
        <p14:creationId xmlns:p14="http://schemas.microsoft.com/office/powerpoint/2010/main" val="479450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79D1-2D8D-4153-997D-65E5A6F6B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6024"/>
            <a:ext cx="11103024" cy="54868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cs typeface="Arial"/>
              </a:rPr>
              <a:t>Bootstrap</a:t>
            </a:r>
            <a:r>
              <a:rPr lang="zh-TW" altLang="en-US" sz="3100">
                <a:cs typeface="Arial"/>
              </a:rPr>
              <a:t>版本設定</a:t>
            </a:r>
            <a:endParaRPr lang="zh-TW" altLang="en-US" sz="3100"/>
          </a:p>
        </p:txBody>
      </p:sp>
      <p:pic>
        <p:nvPicPr>
          <p:cNvPr id="3" name="圖片 3">
            <a:extLst>
              <a:ext uri="{FF2B5EF4-FFF2-40B4-BE49-F238E27FC236}">
                <a16:creationId xmlns:a16="http://schemas.microsoft.com/office/drawing/2014/main" id="{5DEA7ADF-6CEA-4E00-8D1B-7F275A5CC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38624"/>
            <a:ext cx="11103024" cy="4413450"/>
          </a:xfrm>
          <a:prstGeom prst="rect">
            <a:avLst/>
          </a:prstGeom>
          <a:noFill/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80BD5816-54E8-4080-A041-EF94F4C9FA6B}"/>
              </a:ext>
            </a:extLst>
          </p:cNvPr>
          <p:cNvSpPr/>
          <p:nvPr/>
        </p:nvSpPr>
        <p:spPr>
          <a:xfrm>
            <a:off x="10176681" y="1800366"/>
            <a:ext cx="1539922" cy="67556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083D9BD5-FE01-4CA7-835B-EF10F5E03A7A}"/>
              </a:ext>
            </a:extLst>
          </p:cNvPr>
          <p:cNvSpPr/>
          <p:nvPr/>
        </p:nvSpPr>
        <p:spPr>
          <a:xfrm>
            <a:off x="1510352" y="1504664"/>
            <a:ext cx="539087" cy="33437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008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79D1-2D8D-4153-997D-65E5A6F6B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Bootstrap</a:t>
            </a:r>
            <a:r>
              <a:rPr lang="zh-TW" altLang="en-US">
                <a:cs typeface="Arial"/>
              </a:rPr>
              <a:t>下載與引用</a:t>
            </a:r>
            <a:endParaRPr lang="zh-TW" altLang="en-US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02C24B83-8A68-48ED-AEBD-A13E0CC619F8}"/>
              </a:ext>
            </a:extLst>
          </p:cNvPr>
          <p:cNvGrpSpPr/>
          <p:nvPr/>
        </p:nvGrpSpPr>
        <p:grpSpPr>
          <a:xfrm>
            <a:off x="1790132" y="947381"/>
            <a:ext cx="8611736" cy="2673071"/>
            <a:chOff x="504967" y="1914097"/>
            <a:chExt cx="5472752" cy="3025637"/>
          </a:xfrm>
        </p:grpSpPr>
        <p:pic>
          <p:nvPicPr>
            <p:cNvPr id="7" name="圖片 8">
              <a:extLst>
                <a:ext uri="{FF2B5EF4-FFF2-40B4-BE49-F238E27FC236}">
                  <a16:creationId xmlns:a16="http://schemas.microsoft.com/office/drawing/2014/main" id="{5046ABC1-22E1-4973-8602-C32B6A5EA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967" y="1918265"/>
              <a:ext cx="5472752" cy="3021469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4F50018-20E2-47FD-A4AA-656D607D5297}"/>
                </a:ext>
              </a:extLst>
            </p:cNvPr>
            <p:cNvSpPr/>
            <p:nvPr/>
          </p:nvSpPr>
          <p:spPr>
            <a:xfrm>
              <a:off x="1680949" y="1914097"/>
              <a:ext cx="493595" cy="40261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BDCDE2C-B041-466D-90F1-988B343BF9DC}"/>
                </a:ext>
              </a:extLst>
            </p:cNvPr>
            <p:cNvSpPr/>
            <p:nvPr/>
          </p:nvSpPr>
          <p:spPr>
            <a:xfrm>
              <a:off x="816590" y="3722425"/>
              <a:ext cx="857535" cy="413983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66629A9C-3EED-4D87-8317-A51133591474}"/>
              </a:ext>
            </a:extLst>
          </p:cNvPr>
          <p:cNvGrpSpPr/>
          <p:nvPr/>
        </p:nvGrpSpPr>
        <p:grpSpPr>
          <a:xfrm>
            <a:off x="2131326" y="3775453"/>
            <a:ext cx="3562065" cy="2867300"/>
            <a:chOff x="2131326" y="3775453"/>
            <a:chExt cx="3562065" cy="2867300"/>
          </a:xfrm>
        </p:grpSpPr>
        <p:pic>
          <p:nvPicPr>
            <p:cNvPr id="12" name="圖片 12" descr="一張含有 文字 的圖片&#10;&#10;自動產生的描述">
              <a:extLst>
                <a:ext uri="{FF2B5EF4-FFF2-40B4-BE49-F238E27FC236}">
                  <a16:creationId xmlns:a16="http://schemas.microsoft.com/office/drawing/2014/main" id="{BB949522-643F-40D2-8634-F9FBFDB4C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1326" y="4138978"/>
              <a:ext cx="3562065" cy="250377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F976263B-19CF-4BCE-8844-DA4CBD7D4FE7}"/>
                </a:ext>
              </a:extLst>
            </p:cNvPr>
            <p:cNvSpPr txBox="1"/>
            <p:nvPr/>
          </p:nvSpPr>
          <p:spPr>
            <a:xfrm>
              <a:off x="3434260" y="3775453"/>
              <a:ext cx="108234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TW" altLang="en-US">
                  <a:solidFill>
                    <a:schemeClr val="tx1">
                      <a:lumMod val="75000"/>
                    </a:schemeClr>
                  </a:solidFill>
                  <a:cs typeface="Arial"/>
                </a:rPr>
                <a:t>method1</a:t>
              </a:r>
              <a:endParaRPr lang="zh-TW" altLang="en-US" dirty="0">
                <a:solidFill>
                  <a:schemeClr val="tx1">
                    <a:lumMod val="75000"/>
                  </a:schemeClr>
                </a:solidFill>
                <a:cs typeface="Arial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55F9E93-EB39-4632-A329-A756A6B5E01B}"/>
              </a:ext>
            </a:extLst>
          </p:cNvPr>
          <p:cNvGrpSpPr/>
          <p:nvPr/>
        </p:nvGrpSpPr>
        <p:grpSpPr>
          <a:xfrm>
            <a:off x="6373505" y="3775452"/>
            <a:ext cx="3823647" cy="2798507"/>
            <a:chOff x="6373505" y="3775452"/>
            <a:chExt cx="3823647" cy="2798507"/>
          </a:xfrm>
        </p:grpSpPr>
        <p:pic>
          <p:nvPicPr>
            <p:cNvPr id="13" name="圖片 13">
              <a:extLst>
                <a:ext uri="{FF2B5EF4-FFF2-40B4-BE49-F238E27FC236}">
                  <a16:creationId xmlns:a16="http://schemas.microsoft.com/office/drawing/2014/main" id="{132512A4-5178-491B-BE20-9106059EE5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73505" y="4139534"/>
              <a:ext cx="3823647" cy="243442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9D195287-2577-4BD1-869F-A4C7176D471A}"/>
                </a:ext>
              </a:extLst>
            </p:cNvPr>
            <p:cNvSpPr txBox="1"/>
            <p:nvPr/>
          </p:nvSpPr>
          <p:spPr>
            <a:xfrm>
              <a:off x="7744677" y="3775452"/>
              <a:ext cx="108234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TW" altLang="en-US">
                  <a:solidFill>
                    <a:schemeClr val="tx1">
                      <a:lumMod val="75000"/>
                    </a:schemeClr>
                  </a:solidFill>
                  <a:cs typeface="Arial"/>
                </a:rPr>
                <a:t>method2</a:t>
              </a:r>
              <a:endParaRPr lang="zh-TW" altLang="en-US" dirty="0">
                <a:solidFill>
                  <a:schemeClr val="tx1">
                    <a:lumMod val="75000"/>
                  </a:schemeClr>
                </a:solidFill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6846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6024"/>
            <a:ext cx="11103024" cy="54868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Bootstrap</a:t>
            </a:r>
            <a:r>
              <a:rPr lang="zh-TW" altLang="en-US" sz="3100"/>
              <a:t>常用元素</a:t>
            </a:r>
            <a:endParaRPr lang="en-US" sz="3100" b="0"/>
          </a:p>
        </p:txBody>
      </p:sp>
      <p:pic>
        <p:nvPicPr>
          <p:cNvPr id="7" name="圖片 7">
            <a:extLst>
              <a:ext uri="{FF2B5EF4-FFF2-40B4-BE49-F238E27FC236}">
                <a16:creationId xmlns:a16="http://schemas.microsoft.com/office/drawing/2014/main" id="{C63FCEF0-FD1D-4A13-AF0C-BAA1A2D6B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60549"/>
            <a:ext cx="11103024" cy="4940846"/>
          </a:xfrm>
          <a:prstGeom prst="rect">
            <a:avLst/>
          </a:prstGeom>
          <a:noFill/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685C6B41-581C-4532-B911-5C7DF9981D13}"/>
              </a:ext>
            </a:extLst>
          </p:cNvPr>
          <p:cNvSpPr/>
          <p:nvPr/>
        </p:nvSpPr>
        <p:spPr>
          <a:xfrm>
            <a:off x="1794680" y="1163471"/>
            <a:ext cx="675565" cy="53908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B4D131ED-C74B-45C8-BCB5-709BBE7CF994}"/>
              </a:ext>
            </a:extLst>
          </p:cNvPr>
          <p:cNvSpPr/>
          <p:nvPr/>
        </p:nvSpPr>
        <p:spPr>
          <a:xfrm>
            <a:off x="771098" y="3631440"/>
            <a:ext cx="1369325" cy="110774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5932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Bootstrap</a:t>
            </a:r>
            <a:r>
              <a:rPr lang="zh-TW" altLang="en-US">
                <a:ea typeface="+mj-lt"/>
                <a:cs typeface="+mj-lt"/>
              </a:rPr>
              <a:t>版面設定</a:t>
            </a:r>
            <a:endParaRPr lang="zh-TW">
              <a:ea typeface="+mj-lt"/>
              <a:cs typeface="+mj-lt"/>
            </a:endParaRPr>
          </a:p>
        </p:txBody>
      </p:sp>
      <p:pic>
        <p:nvPicPr>
          <p:cNvPr id="3" name="圖片 4">
            <a:extLst>
              <a:ext uri="{FF2B5EF4-FFF2-40B4-BE49-F238E27FC236}">
                <a16:creationId xmlns:a16="http://schemas.microsoft.com/office/drawing/2014/main" id="{07DB1EEA-8E38-4621-B1C3-C246D1449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34" y="1055735"/>
            <a:ext cx="11398154" cy="4575933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98EF9CE3-56A9-4801-8DD5-0A8AA5951927}"/>
              </a:ext>
            </a:extLst>
          </p:cNvPr>
          <p:cNvSpPr/>
          <p:nvPr/>
        </p:nvSpPr>
        <p:spPr>
          <a:xfrm>
            <a:off x="1646830" y="1140724"/>
            <a:ext cx="789296" cy="39123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770784FF-C38F-40B0-BC55-9E38DB5BF398}"/>
              </a:ext>
            </a:extLst>
          </p:cNvPr>
          <p:cNvSpPr/>
          <p:nvPr/>
        </p:nvSpPr>
        <p:spPr>
          <a:xfrm>
            <a:off x="657367" y="3085529"/>
            <a:ext cx="1323832" cy="183562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3615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Bootstrap css</a:t>
            </a:r>
            <a:r>
              <a:rPr lang="en-US" altLang="en-US">
                <a:ea typeface="+mj-lt"/>
                <a:cs typeface="+mj-lt"/>
              </a:rPr>
              <a:t> 設定</a:t>
            </a:r>
            <a:endParaRPr lang="en-US" altLang="zh-TW"/>
          </a:p>
        </p:txBody>
      </p:sp>
      <p:pic>
        <p:nvPicPr>
          <p:cNvPr id="5" name="圖片 7">
            <a:extLst>
              <a:ext uri="{FF2B5EF4-FFF2-40B4-BE49-F238E27FC236}">
                <a16:creationId xmlns:a16="http://schemas.microsoft.com/office/drawing/2014/main" id="{2B1E338D-58EA-4591-896F-3AFD85C7C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26" y="813658"/>
            <a:ext cx="11091079" cy="5298922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67415500-DADE-4749-ADAD-7BC4F93A31FB}"/>
              </a:ext>
            </a:extLst>
          </p:cNvPr>
          <p:cNvSpPr/>
          <p:nvPr/>
        </p:nvSpPr>
        <p:spPr>
          <a:xfrm>
            <a:off x="1931158" y="867769"/>
            <a:ext cx="539087" cy="41398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ED666BB-3177-4E94-8CE3-BBEA4AE8D1AB}"/>
              </a:ext>
            </a:extLst>
          </p:cNvPr>
          <p:cNvSpPr/>
          <p:nvPr/>
        </p:nvSpPr>
        <p:spPr>
          <a:xfrm>
            <a:off x="782471" y="4643649"/>
            <a:ext cx="1153236" cy="44810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8544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6024"/>
            <a:ext cx="11103024" cy="54868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Bootstrap free templates</a:t>
            </a:r>
            <a:endParaRPr lang="en-US" altLang="zh-TW" sz="3100"/>
          </a:p>
        </p:txBody>
      </p:sp>
      <p:pic>
        <p:nvPicPr>
          <p:cNvPr id="3" name="圖片 3">
            <a:extLst>
              <a:ext uri="{FF2B5EF4-FFF2-40B4-BE49-F238E27FC236}">
                <a16:creationId xmlns:a16="http://schemas.microsoft.com/office/drawing/2014/main" id="{9CC3B7B0-8432-4E6F-A487-8817AE8B9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206" y="776012"/>
            <a:ext cx="8217812" cy="5300489"/>
          </a:xfrm>
          <a:prstGeom prst="rect">
            <a:avLst/>
          </a:prstGeom>
          <a:noFill/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879D9917-F5DF-44FB-A01A-ACFDE077B282}"/>
              </a:ext>
            </a:extLst>
          </p:cNvPr>
          <p:cNvSpPr txBox="1"/>
          <p:nvPr/>
        </p:nvSpPr>
        <p:spPr>
          <a:xfrm>
            <a:off x="3803176" y="6077803"/>
            <a:ext cx="47115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/>
              <a:t>https://startbootstrap.com/theme/sb-admin-2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FFB895B-435A-44D3-9717-70F546ABDA9B}"/>
              </a:ext>
            </a:extLst>
          </p:cNvPr>
          <p:cNvSpPr/>
          <p:nvPr/>
        </p:nvSpPr>
        <p:spPr>
          <a:xfrm>
            <a:off x="7970293" y="2016456"/>
            <a:ext cx="1005385" cy="35711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9932495"/>
      </p:ext>
    </p:extLst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2019簡報範本_light</Template>
  <TotalTime>3136</TotalTime>
  <Words>518</Words>
  <Application>Microsoft Office PowerPoint</Application>
  <PresentationFormat>寬螢幕</PresentationFormat>
  <Paragraphs>56</Paragraphs>
  <Slides>8</Slides>
  <Notes>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2019簡報範本_light</vt:lpstr>
      <vt:lpstr>Bootstrap</vt:lpstr>
      <vt:lpstr>Bootstrap簡介</vt:lpstr>
      <vt:lpstr>Bootstrap版本設定</vt:lpstr>
      <vt:lpstr>Bootstrap下載與引用</vt:lpstr>
      <vt:lpstr>Bootstrap常用元素</vt:lpstr>
      <vt:lpstr>Bootstrap版面設定</vt:lpstr>
      <vt:lpstr>Bootstrap css 設定</vt:lpstr>
      <vt:lpstr>Bootstrap free templates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lastModifiedBy>ywt01</cp:lastModifiedBy>
  <cp:revision>916</cp:revision>
  <cp:lastPrinted>2019-04-29T05:54:36Z</cp:lastPrinted>
  <dcterms:created xsi:type="dcterms:W3CDTF">2019-04-17T09:27:11Z</dcterms:created>
  <dcterms:modified xsi:type="dcterms:W3CDTF">2026-06-07T06:11:25Z</dcterms:modified>
  <cp:category>淺色</cp:category>
</cp:coreProperties>
</file>