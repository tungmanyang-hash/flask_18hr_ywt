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1" r:id="rId1"/>
  </p:sldMasterIdLst>
  <p:notesMasterIdLst>
    <p:notesMasterId r:id="rId7"/>
  </p:notesMasterIdLst>
  <p:handoutMasterIdLst>
    <p:handoutMasterId r:id="rId8"/>
  </p:handoutMasterIdLst>
  <p:sldIdLst>
    <p:sldId id="331" r:id="rId2"/>
    <p:sldId id="399" r:id="rId3"/>
    <p:sldId id="417" r:id="rId4"/>
    <p:sldId id="416" r:id="rId5"/>
    <p:sldId id="415" r:id="rId6"/>
  </p:sldIdLst>
  <p:sldSz cx="12192000" cy="6858000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saac" initials="i" lastIdx="1" clrIdx="0">
    <p:extLst>
      <p:ext uri="{19B8F6BF-5375-455C-9EA6-DF929625EA0E}">
        <p15:presenceInfo xmlns:p15="http://schemas.microsoft.com/office/powerpoint/2012/main" userId="isaa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FFFFFF"/>
    <a:srgbClr val="323E1A"/>
    <a:srgbClr val="003300"/>
    <a:srgbClr val="00009A"/>
    <a:srgbClr val="000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D083AE6-46FA-4A59-8FB0-9F97EB10719F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F5AB9-3463-4E65-AFD3-5431B79ADFDC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0C45D-A6E0-411D-9D9F-B22D9F5136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10737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376364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E4D81D0-FCC8-42FD-B0AF-6DA70B5F6E70}"/>
              </a:ext>
            </a:extLst>
          </p:cNvPr>
          <p:cNvSpPr/>
          <p:nvPr/>
        </p:nvSpPr>
        <p:spPr>
          <a:xfrm>
            <a:off x="91232" y="8110145"/>
            <a:ext cx="6623050" cy="11079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【Key Points】</a:t>
            </a:r>
          </a:p>
          <a:p>
            <a:pPr algn="l"/>
            <a:endParaRPr lang="zh-TW" altLang="en-US"/>
          </a:p>
        </p:txBody>
      </p:sp>
      <p:sp>
        <p:nvSpPr>
          <p:cNvPr id="9" name="投影片圖像版面配置區 3">
            <a:extLst>
              <a:ext uri="{FF2B5EF4-FFF2-40B4-BE49-F238E27FC236}">
                <a16:creationId xmlns:a16="http://schemas.microsoft.com/office/drawing/2014/main" id="{3A6EF303-87EA-4AFE-8AF8-60DA97A171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13" name="備忘稿版面配置區 4">
            <a:extLst>
              <a:ext uri="{FF2B5EF4-FFF2-40B4-BE49-F238E27FC236}">
                <a16:creationId xmlns:a16="http://schemas.microsoft.com/office/drawing/2014/main" id="{8E303468-187E-49A8-9D33-C12B34DA2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32" y="4609629"/>
            <a:ext cx="6623050" cy="35005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9195302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1pPr>
    <a:lvl2pPr marL="4572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2pPr>
    <a:lvl3pPr marL="9144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0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1BF7A2D-EE60-43A8-8E8A-1CA3E7F4432C}"/>
              </a:ext>
            </a:extLst>
          </p:cNvPr>
          <p:cNvSpPr txBox="1"/>
          <p:nvPr/>
        </p:nvSpPr>
        <p:spPr>
          <a:xfrm>
            <a:off x="91232" y="8426053"/>
            <a:ext cx="662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>
                <a:solidFill>
                  <a:srgbClr val="0000FF"/>
                </a:solidFill>
              </a:rPr>
              <a:t>每一個章節預估用</a:t>
            </a:r>
            <a:r>
              <a:rPr lang="en-US" altLang="zh-TW" sz="1200">
                <a:solidFill>
                  <a:srgbClr val="0000FF"/>
                </a:solidFill>
              </a:rPr>
              <a:t>30</a:t>
            </a:r>
            <a:r>
              <a:rPr lang="zh-TW" altLang="en-US" sz="1200">
                <a:solidFill>
                  <a:srgbClr val="0000FF"/>
                </a:solidFill>
              </a:rPr>
              <a:t>分鐘講授課程內容，</a:t>
            </a:r>
            <a:r>
              <a:rPr lang="en-US" altLang="zh-TW" sz="1200">
                <a:solidFill>
                  <a:srgbClr val="0000FF"/>
                </a:solidFill>
              </a:rPr>
              <a:t>20</a:t>
            </a:r>
            <a:r>
              <a:rPr lang="zh-TW" altLang="en-US" sz="1200">
                <a:solidFill>
                  <a:srgbClr val="0000FF"/>
                </a:solidFill>
              </a:rPr>
              <a:t>分鐘讓學員實做</a:t>
            </a:r>
            <a:r>
              <a:rPr lang="en-US" altLang="zh-TW" sz="1200">
                <a:solidFill>
                  <a:srgbClr val="0000FF"/>
                </a:solidFill>
              </a:rPr>
              <a:t>Lab</a:t>
            </a:r>
            <a:r>
              <a:rPr lang="zh-TW" altLang="en-US" sz="1200">
                <a:solidFill>
                  <a:srgbClr val="0000FF"/>
                </a:solidFill>
              </a:rPr>
              <a:t>，</a:t>
            </a:r>
            <a:r>
              <a:rPr lang="en-US" altLang="zh-TW" sz="1200">
                <a:solidFill>
                  <a:srgbClr val="0000FF"/>
                </a:solidFill>
              </a:rPr>
              <a:t>10</a:t>
            </a:r>
            <a:r>
              <a:rPr lang="zh-TW" altLang="en-US" sz="1200">
                <a:solidFill>
                  <a:srgbClr val="0000FF"/>
                </a:solidFill>
              </a:rPr>
              <a:t>分鐘討論或休息。</a:t>
            </a: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231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618687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214708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42119921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584608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53940" y="2852936"/>
            <a:ext cx="11247040" cy="692696"/>
          </a:xfrm>
        </p:spPr>
        <p:txBody>
          <a:bodyPr/>
          <a:lstStyle>
            <a:lvl1pPr algn="ctr"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封面</a:t>
            </a:r>
          </a:p>
        </p:txBody>
      </p:sp>
      <p:sp>
        <p:nvSpPr>
          <p:cNvPr id="5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592F39-E5A5-4CE6-B04B-B4DCCEDFCE8D}"/>
              </a:ext>
            </a:extLst>
          </p:cNvPr>
          <p:cNvSpPr txBox="1"/>
          <p:nvPr userDrawn="1"/>
        </p:nvSpPr>
        <p:spPr>
          <a:xfrm>
            <a:off x="4677996" y="1534141"/>
            <a:ext cx="2836007" cy="774058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altLang="zh-TW" sz="2215">
              <a:solidFill>
                <a:schemeClr val="tx1">
                  <a:lumMod val="75000"/>
                </a:schemeClr>
              </a:solidFill>
            </a:endParaRPr>
          </a:p>
          <a:p>
            <a:endParaRPr lang="zh-TW" altLang="en-US" sz="2215" err="1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06502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D46DC4E-74EA-4FF4-9DAA-ED2D59AFB0F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234637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 b="1"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2pPr>
            <a:lvl3pPr marL="1324741" indent="-32825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3pPr>
            <a:lvl4pPr marL="1652995" indent="-22274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4pPr>
            <a:lvl5pPr marL="1992973" indent="-339978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tabLst>
                <a:tab pos="9824184" algn="l"/>
              </a:tabLst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5418C1F-6B55-4A71-AFFD-089A51282D0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0646182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72008"/>
            <a:ext cx="11247040" cy="54868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6558267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7070878" y="764704"/>
            <a:ext cx="4785762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FAE68B8-99C7-40B9-B8F1-A798C021C43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1606717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46735" y="764704"/>
            <a:ext cx="6558267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246735" y="1340768"/>
            <a:ext cx="6558267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93627" y="764704"/>
            <a:ext cx="4945582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893627" y="1340768"/>
            <a:ext cx="4945582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2C7611D-A327-4D7A-B0CC-BD7C9B9F11E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8933376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56CA749-C98C-4DB3-9FF7-B1074AFD1EA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121913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84F4EE5-BCBD-459C-B67D-EBB22C6F76D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4354668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5360" y="273050"/>
            <a:ext cx="4285487" cy="1162050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7385" y="273050"/>
            <a:ext cx="7089255" cy="6180286"/>
          </a:xfrm>
        </p:spPr>
        <p:txBody>
          <a:bodyPr/>
          <a:lstStyle>
            <a:lvl1pPr>
              <a:defRPr sz="3939">
                <a:solidFill>
                  <a:srgbClr val="000000"/>
                </a:solidFill>
              </a:defRPr>
            </a:lvl1pPr>
            <a:lvl2pPr>
              <a:defRPr sz="3446">
                <a:solidFill>
                  <a:srgbClr val="000000"/>
                </a:solidFill>
              </a:defRPr>
            </a:lvl2pPr>
            <a:lvl3pPr>
              <a:defRPr sz="2954">
                <a:solidFill>
                  <a:srgbClr val="000000"/>
                </a:solidFill>
              </a:defRPr>
            </a:lvl3pPr>
            <a:lvl4pPr>
              <a:defRPr sz="2462">
                <a:solidFill>
                  <a:srgbClr val="000000"/>
                </a:solidFill>
              </a:defRPr>
            </a:lvl4pPr>
            <a:lvl5pPr>
              <a:defRPr sz="2462">
                <a:solidFill>
                  <a:srgbClr val="000000"/>
                </a:solidFill>
              </a:defRPr>
            </a:lvl5pPr>
            <a:lvl6pPr>
              <a:defRPr sz="2462"/>
            </a:lvl6pPr>
            <a:lvl7pPr>
              <a:defRPr sz="2462"/>
            </a:lvl7pPr>
            <a:lvl8pPr>
              <a:defRPr sz="2462"/>
            </a:lvl8pPr>
            <a:lvl9pPr>
              <a:defRPr sz="2462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35360" y="1435100"/>
            <a:ext cx="4285487" cy="5018236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56EE654-F85C-488B-B06D-685A5EF03A3B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7160531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939"/>
            </a:lvl1pPr>
            <a:lvl2pPr marL="562722" indent="0">
              <a:buNone/>
              <a:defRPr sz="3446"/>
            </a:lvl2pPr>
            <a:lvl3pPr marL="1125444" indent="0">
              <a:buNone/>
              <a:defRPr sz="2954"/>
            </a:lvl3pPr>
            <a:lvl4pPr marL="1688165" indent="0">
              <a:buNone/>
              <a:defRPr sz="2462"/>
            </a:lvl4pPr>
            <a:lvl5pPr marL="2250887" indent="0">
              <a:buNone/>
              <a:defRPr sz="2462"/>
            </a:lvl5pPr>
            <a:lvl6pPr marL="2813609" indent="0">
              <a:buNone/>
              <a:defRPr sz="2462"/>
            </a:lvl6pPr>
            <a:lvl7pPr marL="3376331" indent="0">
              <a:buNone/>
              <a:defRPr sz="2462"/>
            </a:lvl7pPr>
            <a:lvl8pPr marL="3939052" indent="0">
              <a:buNone/>
              <a:defRPr sz="2462"/>
            </a:lvl8pPr>
            <a:lvl9pPr marL="4501774" indent="0">
              <a:buNone/>
              <a:defRPr sz="2462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6EC7FDE-831C-4773-9CCD-4D6A877F542E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7851522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7CAB5AA-8175-4E01-AC40-A371C4F5007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8383485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928815" cy="6106690"/>
          </a:xfrm>
        </p:spPr>
        <p:txBody>
          <a:bodyPr vert="eaVert"/>
          <a:lstStyle>
            <a:lvl1pPr>
              <a:defRPr sz="3939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35360" y="274638"/>
            <a:ext cx="8316271" cy="6106690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F3A9370-114B-41F5-9582-92E53FE088F4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33916010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E3FB43C-F578-4BAC-B008-B910508BFE59}"/>
              </a:ext>
            </a:extLst>
          </p:cNvPr>
          <p:cNvSpPr/>
          <p:nvPr userDrawn="1"/>
        </p:nvSpPr>
        <p:spPr>
          <a:xfrm>
            <a:off x="0" y="0"/>
            <a:ext cx="122997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2542" tIns="56271" rIns="112542" bIns="562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215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 bwMode="ltGray">
          <a:xfrm>
            <a:off x="609600" y="216024"/>
            <a:ext cx="11103024" cy="5486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altLang="zh-TW"/>
              <a:t>Arial(</a:t>
            </a:r>
            <a:r>
              <a:rPr lang="zh-TW" altLang="en-US"/>
              <a:t>標題</a:t>
            </a:r>
            <a:r>
              <a:rPr lang="en-US" altLang="zh-TW"/>
              <a:t>)</a:t>
            </a:r>
            <a:r>
              <a:rPr lang="zh-TW" altLang="en-US"/>
              <a:t> </a:t>
            </a:r>
            <a:r>
              <a:rPr lang="en-US" altLang="zh-TW"/>
              <a:t>40</a:t>
            </a:r>
            <a:r>
              <a:rPr lang="zh-TW" altLang="en-US"/>
              <a:t>號 粗體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 bwMode="ltGray">
          <a:xfrm>
            <a:off x="609600" y="980728"/>
            <a:ext cx="11103024" cy="5300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第一層 </a:t>
            </a:r>
            <a:r>
              <a:rPr lang="en-US" altLang="zh-TW"/>
              <a:t>28</a:t>
            </a:r>
            <a:r>
              <a:rPr lang="zh-TW" altLang="en-US"/>
              <a:t>號 粗體</a:t>
            </a:r>
          </a:p>
          <a:p>
            <a:pPr lvl="1"/>
            <a:r>
              <a:rPr lang="zh-TW" altLang="en-US"/>
              <a:t>第二層 </a:t>
            </a:r>
            <a:r>
              <a:rPr lang="en-US" altLang="zh-TW"/>
              <a:t>24</a:t>
            </a:r>
            <a:r>
              <a:rPr lang="zh-TW" altLang="en-US"/>
              <a:t>號 粗體</a:t>
            </a:r>
          </a:p>
          <a:p>
            <a:pPr lvl="2"/>
            <a:r>
              <a:rPr lang="zh-TW" altLang="en-US"/>
              <a:t>第三層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3"/>
            <a:r>
              <a:rPr lang="zh-TW" altLang="en-US"/>
              <a:t>第四層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4"/>
            <a:r>
              <a:rPr lang="zh-TW" altLang="en-US"/>
              <a:t>第五層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</p:txBody>
      </p:sp>
    </p:spTree>
    <p:extLst>
      <p:ext uri="{BB962C8B-B14F-4D97-AF65-F5344CB8AC3E}">
        <p14:creationId xmlns:p14="http://schemas.microsoft.com/office/powerpoint/2010/main" val="1322232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52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dt="0"/>
  <p:txStyles>
    <p:titleStyle>
      <a:lvl1pPr marL="0" indent="0" algn="ctr" defTabSz="914400" rtl="0" eaLnBrk="1" latinLnBrk="1" hangingPunct="1">
        <a:spcBef>
          <a:spcPct val="20000"/>
        </a:spcBef>
        <a:buFont typeface="Arial" pitchFamily="34" charset="0"/>
        <a:buNone/>
        <a:defRPr lang="zh-TW" altLang="en-US" sz="4000" b="1" kern="1200" spc="369" baseline="0" dirty="0">
          <a:solidFill>
            <a:srgbClr val="FF0000"/>
          </a:solidFill>
          <a:latin typeface="+mj-lt"/>
          <a:ea typeface="+mn-ea"/>
          <a:cs typeface="Arial" pitchFamily="34" charset="0"/>
        </a:defRPr>
      </a:lvl1pPr>
    </p:titleStyle>
    <p:bodyStyle>
      <a:lvl1pPr marL="422041" indent="-422041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1"/>
        </a:buClr>
        <a:buFont typeface="Arial" pitchFamily="34" charset="0"/>
        <a:buChar char="•"/>
        <a:defRPr sz="28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1pPr>
      <a:lvl2pPr marL="879253" indent="-433765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2"/>
        </a:buClr>
        <a:buFont typeface="Arial" pitchFamily="34" charset="0"/>
        <a:buChar char="–"/>
        <a:defRPr sz="24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2pPr>
      <a:lvl3pPr marL="1219230" indent="-339978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3"/>
        </a:buClr>
        <a:buFont typeface="Arial" pitchFamily="34" charset="0"/>
        <a:buChar char="•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3pPr>
      <a:lvl4pPr marL="1547485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4"/>
        </a:buClr>
        <a:buFont typeface="Arial" pitchFamily="34" charset="0"/>
        <a:buChar char="–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4pPr>
      <a:lvl5pPr marL="1875739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5"/>
        </a:buClr>
        <a:buFont typeface="Arial" pitchFamily="34" charset="0"/>
        <a:buChar char="»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5pPr>
      <a:lvl6pPr marL="3094970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omentjs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omentjs.com/docs/#/parsing/string-format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momentjs.com/docs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guelgrinberg/Flask-Moment#function-referenc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hyperlink" Target="https://jquery.com/download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28D6BC7-90B7-48DA-BBBC-D1E248316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30" y="2852936"/>
            <a:ext cx="11825109" cy="587594"/>
          </a:xfrm>
        </p:spPr>
        <p:txBody>
          <a:bodyPr/>
          <a:lstStyle/>
          <a:p>
            <a:r>
              <a:rPr lang="en-US" altLang="en-US">
                <a:cs typeface="Arial"/>
              </a:rPr>
              <a:t>Error handler &amp; Jinja env</a:t>
            </a:r>
            <a:endParaRPr lang="en-US" altLang="en-US"/>
          </a:p>
        </p:txBody>
      </p:sp>
      <p:sp>
        <p:nvSpPr>
          <p:cNvPr id="7" name="Rectangle 131">
            <a:extLst>
              <a:ext uri="{FF2B5EF4-FFF2-40B4-BE49-F238E27FC236}">
                <a16:creationId xmlns:a16="http://schemas.microsoft.com/office/drawing/2014/main" id="{592B8426-F2A6-4FF0-975A-D6D584A66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9580" y="5203874"/>
            <a:ext cx="2125663" cy="824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125000"/>
              </a:lnSpc>
            </a:pPr>
            <a:r>
              <a:rPr kumimoji="0" lang="en-US" altLang="zh-TW" sz="2000"/>
              <a:t>Estimated time: </a:t>
            </a:r>
          </a:p>
          <a:p>
            <a:pPr algn="ctr" eaLnBrk="0" hangingPunct="0">
              <a:lnSpc>
                <a:spcPct val="125000"/>
              </a:lnSpc>
            </a:pPr>
            <a:r>
              <a:rPr lang="en-US" altLang="zh-TW" sz="2000">
                <a:solidFill>
                  <a:srgbClr val="FF0000"/>
                </a:solidFill>
              </a:rPr>
              <a:t>45 </a:t>
            </a:r>
            <a:r>
              <a:rPr kumimoji="0" lang="en-US" altLang="zh-TW" sz="2000"/>
              <a:t>min.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FF68FC8F-8C93-46BF-9594-D49A56F9B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432" y="5172128"/>
            <a:ext cx="1687513" cy="457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265" tIns="43632" rIns="87265" bIns="43632" anchor="t">
            <a:spAutoFit/>
          </a:bodyPr>
          <a:lstStyle/>
          <a:p>
            <a:pPr marL="279400" indent="-279400" algn="ctr" defTabSz="873125" eaLnBrk="0" hangingPunct="0">
              <a:spcBef>
                <a:spcPct val="15000"/>
              </a:spcBef>
              <a:buSzPct val="65000"/>
            </a:pPr>
            <a:r>
              <a:rPr lang="en-US" altLang="zh-TW" sz="2400" i="1">
                <a:solidFill>
                  <a:srgbClr val="0000FF"/>
                </a:solidFill>
                <a:latin typeface="Georgia"/>
                <a:ea typeface="標楷體"/>
              </a:rPr>
              <a:t>Module 15</a:t>
            </a:r>
          </a:p>
        </p:txBody>
      </p:sp>
    </p:spTree>
    <p:extLst>
      <p:ext uri="{BB962C8B-B14F-4D97-AF65-F5344CB8AC3E}">
        <p14:creationId xmlns:p14="http://schemas.microsoft.com/office/powerpoint/2010/main" val="207126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Error handler</a:t>
            </a:r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sz="3400" b="0">
                <a:latin typeface="Arial"/>
                <a:ea typeface="微軟正黑體"/>
                <a:cs typeface="Arial"/>
              </a:rPr>
              <a:t>F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las</a:t>
            </a:r>
            <a:r>
              <a:rPr lang="zh-TW" sz="3400" b="0">
                <a:latin typeface="Arial"/>
                <a:ea typeface="微軟正黑體"/>
                <a:cs typeface="Arial"/>
              </a:rPr>
              <a:t>k允許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w</a:t>
            </a:r>
            <a:r>
              <a:rPr lang="zh-TW" sz="3400" b="0">
                <a:latin typeface="Arial"/>
                <a:ea typeface="微軟正黑體"/>
                <a:cs typeface="Arial"/>
              </a:rPr>
              <a:t>e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b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app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 </a:t>
            </a:r>
            <a:r>
              <a:rPr lang="zh-TW" sz="3400" b="0">
                <a:latin typeface="Arial"/>
                <a:ea typeface="微軟正黑體"/>
                <a:cs typeface="Arial"/>
              </a:rPr>
              <a:t>自定義錯誤頁面</a:t>
            </a:r>
          </a:p>
          <a:p>
            <a:pPr marL="421640" indent="-421640"/>
            <a:r>
              <a:rPr lang="zh-TW" altLang="en-US" sz="3400" b="0">
                <a:latin typeface="Arial"/>
                <a:ea typeface="微軟正黑體"/>
                <a:cs typeface="Arial"/>
              </a:rPr>
              <a:t>使用</a:t>
            </a:r>
            <a:r>
              <a:rPr lang="en-US" altLang="zh-TW" sz="3400">
                <a:latin typeface="Arial"/>
                <a:ea typeface="微軟正黑體"/>
                <a:cs typeface="Arial"/>
              </a:rPr>
              <a:t>@app.errorhandler</a:t>
            </a:r>
            <a:endParaRPr lang="zh-TW" sz="3400" b="0">
              <a:latin typeface="Arial"/>
              <a:ea typeface="微軟正黑體"/>
              <a:cs typeface="Arial"/>
            </a:endParaRPr>
          </a:p>
          <a:p>
            <a:pPr marL="421640" indent="-421640"/>
            <a:endParaRPr lang="zh-TW" altLang="en-US" sz="3400" b="0"/>
          </a:p>
        </p:txBody>
      </p:sp>
      <p:pic>
        <p:nvPicPr>
          <p:cNvPr id="4" name="圖片 5" descr="一張含有 文字 的圖片&#10;&#10;自動產生的描述">
            <a:extLst>
              <a:ext uri="{FF2B5EF4-FFF2-40B4-BE49-F238E27FC236}">
                <a16:creationId xmlns:a16="http://schemas.microsoft.com/office/drawing/2014/main" id="{B3D0551F-C678-4DC4-9492-A98A4DFBC8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6850"/>
          <a:stretch/>
        </p:blipFill>
        <p:spPr>
          <a:xfrm>
            <a:off x="2427027" y="3362698"/>
            <a:ext cx="7610901" cy="151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450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Jinja env</a:t>
            </a:r>
            <a:endParaRPr lang="en-US" b="0">
              <a:ea typeface="+mj-lt"/>
              <a:cs typeface="+mj-lt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endParaRPr lang="zh-TW" altLang="en-US" sz="3400" b="0">
              <a:latin typeface="Arial"/>
              <a:ea typeface="微軟正黑體"/>
              <a:cs typeface="Arial"/>
            </a:endParaRPr>
          </a:p>
          <a:p>
            <a:pPr marL="421640" indent="-421640"/>
            <a:r>
              <a:rPr lang="zh-TW" altLang="en-US" sz="3400" b="0">
                <a:latin typeface="Arial"/>
                <a:ea typeface="微軟正黑體"/>
                <a:cs typeface="Arial"/>
              </a:rPr>
              <a:t>我</a:t>
            </a:r>
            <a:r>
              <a:rPr lang="zh-TW" sz="3400" b="0">
                <a:latin typeface="Arial"/>
                <a:ea typeface="微軟正黑體"/>
                <a:cs typeface="Arial"/>
              </a:rPr>
              <a:t>們會用到</a:t>
            </a:r>
            <a:r>
              <a:rPr lang="en-US" altLang="zh-TW" sz="3400" b="0">
                <a:latin typeface="Arial"/>
                <a:ea typeface="微軟正黑體"/>
                <a:cs typeface="Arial"/>
                <a:hlinkClick r:id="rId3"/>
              </a:rPr>
              <a:t>moment.js</a:t>
            </a:r>
            <a:r>
              <a:rPr lang="en-US" altLang="zh-TW" sz="3400" b="0" err="1">
                <a:latin typeface="Arial"/>
                <a:ea typeface="微軟正黑體"/>
                <a:cs typeface="Arial"/>
              </a:rPr>
              <a:t>這個javaScriptc函式庫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，</a:t>
            </a:r>
            <a:r>
              <a:rPr lang="zh-TW" sz="3400" b="0">
                <a:latin typeface="Arial"/>
                <a:ea typeface="微軟正黑體"/>
                <a:cs typeface="Arial"/>
              </a:rPr>
              <a:t>下載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m</a:t>
            </a:r>
            <a:r>
              <a:rPr lang="zh-TW" sz="3400" b="0">
                <a:latin typeface="Arial"/>
                <a:ea typeface="微軟正黑體"/>
                <a:cs typeface="Arial"/>
              </a:rPr>
              <a:t>o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me</a:t>
            </a:r>
            <a:r>
              <a:rPr lang="zh-TW" sz="3400" b="0">
                <a:latin typeface="Arial"/>
                <a:ea typeface="微軟正黑體"/>
                <a:cs typeface="Arial"/>
              </a:rPr>
              <a:t>nt.min.js並將其放置在static 文件夾中。</a:t>
            </a:r>
            <a:endParaRPr lang="zh-TW"/>
          </a:p>
          <a:p>
            <a:pPr marL="421640" indent="-421640"/>
            <a:r>
              <a:rPr lang="zh-TW" sz="3400" b="0">
                <a:latin typeface="Arial"/>
                <a:ea typeface="微軟正黑體"/>
                <a:cs typeface="Arial"/>
              </a:rPr>
              <a:t>要在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Flask app</a:t>
            </a:r>
            <a:r>
              <a:rPr lang="zh-TW" sz="3400" b="0">
                <a:latin typeface="Arial"/>
                <a:ea typeface="微軟正黑體"/>
                <a:cs typeface="Arial"/>
              </a:rPr>
              <a:t>中使用Moment.js，請執行以下步驟：</a:t>
            </a:r>
          </a:p>
          <a:p>
            <a:pPr marL="878840" lvl="1" indent="-433705"/>
            <a:r>
              <a:rPr lang="zh-TW" sz="2950" b="0">
                <a:latin typeface="Arial"/>
                <a:ea typeface="微軟正黑體"/>
                <a:cs typeface="Arial"/>
              </a:rPr>
              <a:t>首先，使用Python編寫類別，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並添加你想</a:t>
            </a:r>
            <a:r>
              <a:rPr lang="zh-TW" sz="2950" b="0">
                <a:latin typeface="Arial"/>
                <a:ea typeface="微軟正黑體"/>
                <a:cs typeface="Arial"/>
              </a:rPr>
              <a:t>解析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的</a:t>
            </a:r>
            <a:r>
              <a:rPr lang="en-US" altLang="zh-TW" sz="2950" b="0">
                <a:latin typeface="Arial"/>
                <a:ea typeface="微軟正黑體"/>
                <a:cs typeface="Arial"/>
              </a:rPr>
              <a:t>Moment.js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方法到類別中</a:t>
            </a:r>
          </a:p>
          <a:p>
            <a:pPr marL="878840" lvl="1" indent="-433705"/>
            <a:r>
              <a:rPr lang="zh-TW" sz="2950" b="0">
                <a:latin typeface="Arial"/>
                <a:ea typeface="微軟正黑體"/>
                <a:cs typeface="Arial"/>
              </a:rPr>
              <a:t>將創建的類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別</a:t>
            </a:r>
            <a:r>
              <a:rPr lang="zh-TW" sz="2950" b="0">
                <a:latin typeface="Arial"/>
                <a:ea typeface="微軟正黑體"/>
                <a:cs typeface="Arial"/>
              </a:rPr>
              <a:t>設置為Jinja環境變量</a:t>
            </a:r>
          </a:p>
          <a:p>
            <a:pPr marL="878840" lvl="1" indent="-433705"/>
            <a:r>
              <a:rPr lang="zh-TW" sz="2950" b="0">
                <a:latin typeface="Arial"/>
                <a:ea typeface="微軟正黑體"/>
                <a:cs typeface="Arial"/>
              </a:rPr>
              <a:t>在</a:t>
            </a:r>
            <a:r>
              <a:rPr lang="en-US" altLang="zh-TW" sz="2950" b="0">
                <a:latin typeface="Arial"/>
                <a:ea typeface="微軟正黑體"/>
                <a:cs typeface="Arial"/>
              </a:rPr>
              <a:t>Jinja</a:t>
            </a:r>
            <a:r>
              <a:rPr lang="zh-TW" sz="2950" b="0">
                <a:latin typeface="Arial"/>
                <a:ea typeface="微軟正黑體"/>
                <a:cs typeface="Arial"/>
              </a:rPr>
              <a:t>模板中使用該類別與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其</a:t>
            </a:r>
            <a:r>
              <a:rPr lang="zh-TW" sz="2950" b="0">
                <a:latin typeface="Arial"/>
                <a:ea typeface="微軟正黑體"/>
                <a:cs typeface="Arial"/>
              </a:rPr>
              <a:t>方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法</a:t>
            </a:r>
          </a:p>
        </p:txBody>
      </p:sp>
    </p:spTree>
    <p:extLst>
      <p:ext uri="{BB962C8B-B14F-4D97-AF65-F5344CB8AC3E}">
        <p14:creationId xmlns:p14="http://schemas.microsoft.com/office/powerpoint/2010/main" val="83326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Jinja env</a:t>
            </a:r>
            <a:endParaRPr lang="en-US" b="0">
              <a:solidFill>
                <a:srgbClr val="000000"/>
              </a:solidFill>
              <a:ea typeface="+mj-lt"/>
              <a:cs typeface="+mj-lt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en-US" altLang="zh-TW" sz="3400" b="0">
                <a:latin typeface="Arial"/>
                <a:ea typeface="微軟正黑體"/>
                <a:cs typeface="Arial"/>
              </a:rPr>
              <a:t>moment().format(Str</a:t>
            </a:r>
            <a:r>
              <a:rPr lang="zh-TW" sz="3400" b="0">
                <a:latin typeface="Arial"/>
                <a:ea typeface="微軟正黑體"/>
                <a:cs typeface="Arial"/>
              </a:rPr>
              <a:t>in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g)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→將時間以</a:t>
            </a:r>
            <a:r>
              <a:rPr lang="zh-TW" altLang="en-US" sz="3400" b="0">
                <a:latin typeface="Arial"/>
                <a:ea typeface="微軟正黑體"/>
                <a:cs typeface="Arial"/>
                <a:hlinkClick r:id="rId3"/>
              </a:rPr>
              <a:t>字串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所表達的方式呈現</a:t>
            </a:r>
            <a:endParaRPr lang="zh-TW" altLang="en-US" sz="3400">
              <a:ea typeface="微軟正黑體"/>
            </a:endParaRPr>
          </a:p>
          <a:p>
            <a:pPr marL="421640" indent="-421640"/>
            <a:r>
              <a:rPr lang="en-US" altLang="zh-TW" sz="3400" b="0">
                <a:latin typeface="Arial"/>
                <a:ea typeface="微軟正黑體"/>
                <a:cs typeface="Arial"/>
              </a:rPr>
              <a:t>moment().</a:t>
            </a:r>
            <a:r>
              <a:rPr lang="en-US" altLang="zh-TW" sz="3400" b="0" err="1">
                <a:latin typeface="Arial"/>
                <a:ea typeface="微軟正黑體"/>
                <a:cs typeface="Arial"/>
              </a:rPr>
              <a:t>valueOf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()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 → 輸出自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1</a:t>
            </a:r>
            <a:r>
              <a:rPr lang="zh-TW" sz="3400" b="0">
                <a:latin typeface="Arial"/>
                <a:ea typeface="微軟正黑體"/>
                <a:cs typeface="Arial"/>
              </a:rPr>
              <a:t>9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71/</a:t>
            </a:r>
            <a:r>
              <a:rPr lang="zh-TW" sz="3400" b="0">
                <a:latin typeface="Arial"/>
                <a:ea typeface="微軟正黑體"/>
                <a:cs typeface="Arial"/>
              </a:rPr>
              <a:t>0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1/01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UTC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（以來的毫秒數</a:t>
            </a:r>
            <a:endParaRPr lang="zh-TW" altLang="en-US"/>
          </a:p>
          <a:p>
            <a:pPr marL="421640" indent="-421640"/>
            <a:r>
              <a:rPr lang="en-US" altLang="zh-TW" sz="3400" b="0">
                <a:latin typeface="Arial"/>
                <a:ea typeface="微軟正黑體"/>
                <a:cs typeface="Arial"/>
              </a:rPr>
              <a:t>moment().</a:t>
            </a:r>
            <a:r>
              <a:rPr lang="en-US" altLang="zh-TW" sz="3400" b="0" err="1">
                <a:latin typeface="Arial"/>
                <a:ea typeface="微軟正黑體"/>
                <a:cs typeface="Arial"/>
              </a:rPr>
              <a:t>fromNow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();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 → 顯示至今為止的時間</a:t>
            </a:r>
            <a:endParaRPr lang="zh-TW" altLang="en-US"/>
          </a:p>
          <a:p>
            <a:pPr marL="421640" indent="-421640">
              <a:buClr>
                <a:srgbClr val="E1CB1A"/>
              </a:buClr>
            </a:pPr>
            <a:r>
              <a:rPr lang="zh-TW" altLang="en-US" sz="3400" b="0">
                <a:latin typeface="Arial"/>
                <a:ea typeface="微軟正黑體"/>
                <a:cs typeface="Arial"/>
                <a:hlinkClick r:id="rId4"/>
              </a:rPr>
              <a:t>moment.js 文件</a:t>
            </a:r>
          </a:p>
          <a:p>
            <a:pPr marL="445135" lvl="1" indent="0">
              <a:buClr>
                <a:srgbClr val="42BBC6"/>
              </a:buClr>
              <a:buNone/>
            </a:pPr>
            <a:endParaRPr lang="en-US" altLang="zh-TW" sz="3400" b="0"/>
          </a:p>
          <a:p>
            <a:pPr marL="421640" indent="-421640"/>
            <a:endParaRPr lang="zh-TW" sz="3400" b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6054DA7-CC44-4608-A55E-6D3A100F79DD}"/>
              </a:ext>
            </a:extLst>
          </p:cNvPr>
          <p:cNvSpPr txBox="1"/>
          <p:nvPr/>
        </p:nvSpPr>
        <p:spPr>
          <a:xfrm>
            <a:off x="4019266" y="4907259"/>
            <a:ext cx="415318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altLang="zh-TW" sz="24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7191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flask-moment</a:t>
            </a:r>
            <a:endParaRPr lang="en-US" b="0">
              <a:ea typeface="+mj-lt"/>
              <a:cs typeface="+mj-lt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en-US" altLang="zh-TW" sz="3400" b="0">
                <a:latin typeface="Arial"/>
                <a:ea typeface="微軟正黑體"/>
                <a:cs typeface="Arial"/>
              </a:rPr>
              <a:t>如果只是要用mo</a:t>
            </a:r>
            <a:r>
              <a:rPr lang="en-US" sz="3400" b="0">
                <a:latin typeface="Arial"/>
                <a:ea typeface="微軟正黑體"/>
                <a:cs typeface="Arial"/>
              </a:rPr>
              <a:t>me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nt</a:t>
            </a:r>
            <a:r>
              <a:rPr lang="en-US" sz="3400" b="0">
                <a:latin typeface="Arial"/>
                <a:ea typeface="微軟正黑體"/>
                <a:cs typeface="Arial"/>
              </a:rPr>
              <a:t>.js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中</a:t>
            </a:r>
            <a:r>
              <a:rPr lang="en-US" altLang="zh-TW" sz="3400" b="0">
                <a:latin typeface="Arial"/>
                <a:ea typeface="微軟正黑體"/>
                <a:cs typeface="Arial"/>
                <a:hlinkClick r:id="rId3"/>
              </a:rPr>
              <a:t>最基礎的功能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，可以直接安裝使用F</a:t>
            </a:r>
            <a:r>
              <a:rPr lang="en-US" sz="3400" b="0">
                <a:latin typeface="Arial"/>
                <a:ea typeface="微軟正黑體"/>
                <a:cs typeface="Arial"/>
              </a:rPr>
              <a:t>lask-Moment</a:t>
            </a:r>
            <a:endParaRPr lang="en-US" altLang="zh-TW" sz="3400" b="0"/>
          </a:p>
          <a:p>
            <a:pPr marL="421640" indent="-421640"/>
            <a:r>
              <a:rPr lang="zh-TW" sz="3400" b="0">
                <a:latin typeface="Arial"/>
                <a:ea typeface="微軟正黑體"/>
                <a:cs typeface="Arial"/>
              </a:rPr>
              <a:t>F</a:t>
            </a:r>
            <a:r>
              <a:rPr lang="en-US" altLang="zh-TW" sz="3400" b="0" err="1">
                <a:latin typeface="Arial"/>
                <a:ea typeface="微軟正黑體"/>
                <a:cs typeface="Arial"/>
              </a:rPr>
              <a:t>lask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-Moment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是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Flask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的外掛，可將m</a:t>
            </a:r>
            <a:r>
              <a:rPr lang="zh-TW" sz="3400" b="0">
                <a:latin typeface="Arial"/>
                <a:ea typeface="微軟正黑體"/>
                <a:cs typeface="Arial"/>
              </a:rPr>
              <a:t>o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me</a:t>
            </a:r>
            <a:r>
              <a:rPr lang="zh-TW" sz="3400" b="0">
                <a:latin typeface="Arial"/>
                <a:ea typeface="微軟正黑體"/>
                <a:cs typeface="Arial"/>
              </a:rPr>
              <a:t>nt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.</a:t>
            </a:r>
            <a:r>
              <a:rPr lang="en-US" altLang="zh-TW" sz="3400" b="0" err="1">
                <a:latin typeface="Arial"/>
                <a:ea typeface="微軟正黑體"/>
                <a:cs typeface="Arial"/>
              </a:rPr>
              <a:t>js加入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到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J</a:t>
            </a:r>
            <a:r>
              <a:rPr lang="zh-TW" sz="3400" b="0">
                <a:latin typeface="Arial"/>
                <a:ea typeface="微軟正黑體"/>
                <a:cs typeface="Arial"/>
              </a:rPr>
              <a:t>inja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2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模板</a:t>
            </a:r>
            <a:r>
              <a:rPr lang="zh-TW" sz="3400" b="0">
                <a:latin typeface="Arial"/>
                <a:ea typeface="微軟正黑體"/>
                <a:cs typeface="Arial"/>
              </a:rPr>
              <a:t>中</a:t>
            </a:r>
            <a:endParaRPr lang="zh-TW" sz="3400" b="0"/>
          </a:p>
          <a:p>
            <a:pPr marL="878840" lvl="1" indent="-433705"/>
            <a:r>
              <a:rPr lang="zh-TW" sz="2950" b="0">
                <a:latin typeface="Arial"/>
                <a:ea typeface="微軟正黑體"/>
                <a:cs typeface="Arial"/>
              </a:rPr>
              <a:t>pip install flask-moment</a:t>
            </a:r>
            <a:endParaRPr lang="zh-TW" altLang="en-US" sz="2950" b="0">
              <a:latin typeface="Arial"/>
              <a:ea typeface="微軟正黑體"/>
              <a:cs typeface="Arial"/>
            </a:endParaRPr>
          </a:p>
          <a:p>
            <a:pPr marL="421640" indent="-421640"/>
            <a:r>
              <a:rPr lang="en-US" altLang="zh-TW" sz="3400" b="0">
                <a:latin typeface="Arial"/>
                <a:ea typeface="微軟正黑體"/>
                <a:cs typeface="Arial"/>
              </a:rPr>
              <a:t>Flas</a:t>
            </a:r>
            <a:r>
              <a:rPr lang="zh-TW" sz="3400" b="0">
                <a:latin typeface="Arial"/>
                <a:ea typeface="微軟正黑體"/>
                <a:cs typeface="Arial"/>
              </a:rPr>
              <a:t>k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-Moment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除m</a:t>
            </a:r>
            <a:r>
              <a:rPr lang="zh-TW" sz="3400" b="0">
                <a:latin typeface="Arial"/>
                <a:ea typeface="微軟正黑體"/>
                <a:cs typeface="Arial"/>
              </a:rPr>
              <a:t>oment.js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外還依賴</a:t>
            </a:r>
            <a:r>
              <a:rPr lang="en-US" altLang="zh-TW" sz="3400" b="0">
                <a:latin typeface="Arial"/>
                <a:ea typeface="微軟正黑體"/>
                <a:cs typeface="Arial"/>
                <a:hlinkClick r:id="rId4"/>
              </a:rPr>
              <a:t>jQuer</a:t>
            </a:r>
            <a:r>
              <a:rPr lang="zh-TW" sz="3400" b="0">
                <a:latin typeface="Arial"/>
                <a:ea typeface="微軟正黑體"/>
                <a:cs typeface="Arial"/>
                <a:hlinkClick r:id="rId4"/>
              </a:rPr>
              <a:t>y</a:t>
            </a:r>
            <a:r>
              <a:rPr lang="en-US" altLang="zh-TW" sz="3400" b="0">
                <a:latin typeface="Arial"/>
                <a:ea typeface="微軟正黑體"/>
                <a:cs typeface="Arial"/>
                <a:hlinkClick r:id="rId4"/>
              </a:rPr>
              <a:t>.</a:t>
            </a:r>
            <a:r>
              <a:rPr lang="zh-TW" sz="3400" b="0">
                <a:latin typeface="Arial"/>
                <a:ea typeface="微軟正黑體"/>
                <a:cs typeface="Arial"/>
                <a:hlinkClick r:id="rId4"/>
              </a:rPr>
              <a:t>j</a:t>
            </a:r>
            <a:r>
              <a:rPr lang="en-US" altLang="zh-TW" sz="3400" b="0">
                <a:latin typeface="Arial"/>
                <a:ea typeface="微軟正黑體"/>
                <a:cs typeface="Arial"/>
                <a:hlinkClick r:id="rId4"/>
              </a:rPr>
              <a:t>s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。</a:t>
            </a:r>
          </a:p>
          <a:p>
            <a:pPr marL="421640" indent="-421640"/>
            <a:endParaRPr lang="zh-TW" sz="3400" b="0">
              <a:latin typeface="Arial"/>
              <a:ea typeface="微軟正黑體"/>
              <a:cs typeface="Arial"/>
            </a:endParaRPr>
          </a:p>
        </p:txBody>
      </p:sp>
      <p:pic>
        <p:nvPicPr>
          <p:cNvPr id="4" name="圖片 5">
            <a:extLst>
              <a:ext uri="{FF2B5EF4-FFF2-40B4-BE49-F238E27FC236}">
                <a16:creationId xmlns:a16="http://schemas.microsoft.com/office/drawing/2014/main" id="{A039C708-DA12-46D4-B5AB-C35157C2DC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726" y="4401655"/>
            <a:ext cx="10278456" cy="216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469904"/>
      </p:ext>
    </p:extLst>
  </p:cSld>
  <p:clrMapOvr>
    <a:masterClrMapping/>
  </p:clrMapOvr>
</p:sld>
</file>

<file path=ppt/theme/theme1.xml><?xml version="1.0" encoding="utf-8"?>
<a:theme xmlns:a="http://schemas.openxmlformats.org/drawingml/2006/main" name="2019簡報範本_light">
  <a:themeElements>
    <a:clrScheme name="2019iii">
      <a:dk1>
        <a:srgbClr val="717171"/>
      </a:dk1>
      <a:lt1>
        <a:srgbClr val="393939"/>
      </a:lt1>
      <a:dk2>
        <a:srgbClr val="DDDDDD"/>
      </a:dk2>
      <a:lt2>
        <a:srgbClr val="ABABAB"/>
      </a:lt2>
      <a:accent1>
        <a:srgbClr val="E1CB1A"/>
      </a:accent1>
      <a:accent2>
        <a:srgbClr val="42BBC6"/>
      </a:accent2>
      <a:accent3>
        <a:srgbClr val="F0591B"/>
      </a:accent3>
      <a:accent4>
        <a:srgbClr val="FFC000"/>
      </a:accent4>
      <a:accent5>
        <a:srgbClr val="8DCBDA"/>
      </a:accent5>
      <a:accent6>
        <a:srgbClr val="9ACF17"/>
      </a:accent6>
      <a:hlink>
        <a:srgbClr val="F0591B"/>
      </a:hlink>
      <a:folHlink>
        <a:srgbClr val="2A2A2A"/>
      </a:folHlink>
    </a:clrScheme>
    <a:fontScheme name="自訂 XYZ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1">
          <a:schemeClr val="accent4"/>
        </a:lnRef>
        <a:fillRef idx="3">
          <a:schemeClr val="accent4"/>
        </a:fillRef>
        <a:effectRef idx="2">
          <a:schemeClr val="accent4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solidFill>
              <a:schemeClr val="tx1">
                <a:lumMod val="7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2019簡報範本_light</Template>
  <Application>Microsoft Office PowerPoint</Application>
  <PresentationFormat>寬螢幕</PresentationFormat>
  <Slides>5</Slides>
  <Notes>5</Notes>
  <HiddenSlides>0</HiddenSlide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2019簡報範本_light</vt:lpstr>
      <vt:lpstr>Error handler &amp; Jinja env</vt:lpstr>
      <vt:lpstr>Error handler</vt:lpstr>
      <vt:lpstr>Jinja env</vt:lpstr>
      <vt:lpstr>Jinja env</vt:lpstr>
      <vt:lpstr>flask-moment</vt:lpstr>
    </vt:vector>
  </TitlesOfParts>
  <Company>Institute for Information Industry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教研所『課程產品化』開發與製作學員版教材-公版投影片</dc:title>
  <dc:subject>2019 template</dc:subject>
  <dc:creator>Steven Liu</dc:creator>
  <cp:revision>4</cp:revision>
  <cp:lastPrinted>2019-04-29T05:54:36Z</cp:lastPrinted>
  <dcterms:created xsi:type="dcterms:W3CDTF">2019-04-17T09:27:11Z</dcterms:created>
  <dcterms:modified xsi:type="dcterms:W3CDTF">2026-06-13T08:11:26Z</dcterms:modified>
  <cp:category>淺色</cp:category>
</cp:coreProperties>
</file>