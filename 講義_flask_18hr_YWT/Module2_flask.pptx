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331" r:id="rId2"/>
    <p:sldId id="399" r:id="rId3"/>
    <p:sldId id="400" r:id="rId4"/>
    <p:sldId id="401" r:id="rId5"/>
    <p:sldId id="402" r:id="rId6"/>
    <p:sldId id="407" r:id="rId7"/>
    <p:sldId id="403" r:id="rId8"/>
    <p:sldId id="404" r:id="rId9"/>
    <p:sldId id="405" r:id="rId10"/>
    <p:sldId id="406" r:id="rId11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  <p:cmAuthor id="2" name="曹 昱維" initials="曹昱" lastIdx="2" clrIdx="1">
    <p:extLst>
      <p:ext uri="{19B8F6BF-5375-455C-9EA6-DF929625EA0E}">
        <p15:presenceInfo xmlns:p15="http://schemas.microsoft.com/office/powerpoint/2012/main" userId="611d57ab1da5f08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985" autoAdjust="0"/>
  </p:normalViewPr>
  <p:slideViewPr>
    <p:cSldViewPr showGuides="1">
      <p:cViewPr varScale="1">
        <p:scale>
          <a:sx n="100" d="100"/>
          <a:sy n="100" d="100"/>
        </p:scale>
        <p:origin x="2622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826"/>
    </p:cViewPr>
  </p:sorterViewPr>
  <p:notesViewPr>
    <p:cSldViewPr>
      <p:cViewPr varScale="1">
        <p:scale>
          <a:sx n="60" d="100"/>
          <a:sy n="60" d="100"/>
        </p:scale>
        <p:origin x="327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 dirty="0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 dirty="0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violin-tao.blogspot.com/2017/07/ml-backpropagation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question/27239198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</a:rPr>
              <a:t>每一個章節預估用</a:t>
            </a:r>
            <a:r>
              <a:rPr lang="en-US" altLang="zh-TW" sz="1200" dirty="0">
                <a:solidFill>
                  <a:srgbClr val="0000FF"/>
                </a:solidFill>
              </a:rPr>
              <a:t>30</a:t>
            </a:r>
            <a:r>
              <a:rPr lang="zh-TW" altLang="en-US" sz="1200" dirty="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 dirty="0">
                <a:solidFill>
                  <a:srgbClr val="0000FF"/>
                </a:solidFill>
              </a:rPr>
              <a:t>20</a:t>
            </a:r>
            <a:r>
              <a:rPr lang="zh-TW" altLang="en-US" sz="1200" dirty="0">
                <a:solidFill>
                  <a:srgbClr val="0000FF"/>
                </a:solidFill>
              </a:rPr>
              <a:t>分鐘讓學員實做</a:t>
            </a:r>
            <a:r>
              <a:rPr lang="en-US" altLang="zh-TW" sz="1200" dirty="0">
                <a:solidFill>
                  <a:srgbClr val="0000FF"/>
                </a:solidFill>
              </a:rPr>
              <a:t>Lab</a:t>
            </a:r>
            <a:r>
              <a:rPr lang="zh-TW" altLang="en-US" sz="1200" dirty="0">
                <a:solidFill>
                  <a:srgbClr val="0000FF"/>
                </a:solidFill>
              </a:rPr>
              <a:t>，</a:t>
            </a:r>
            <a:r>
              <a:rPr lang="en-US" altLang="zh-TW" sz="1200" dirty="0">
                <a:solidFill>
                  <a:srgbClr val="0000FF"/>
                </a:solidFill>
              </a:rPr>
              <a:t>10</a:t>
            </a:r>
            <a:r>
              <a:rPr lang="zh-TW" altLang="en-US" sz="1200" dirty="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 dirty="0">
                <a:solidFill>
                  <a:srgbClr val="0000FF"/>
                </a:solidFill>
              </a:rPr>
              <a:t>Backpropagation</a:t>
            </a:r>
            <a:r>
              <a:rPr lang="zh-TW" altLang="en-US" sz="1200" dirty="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 dirty="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 dirty="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en-US" altLang="zh-TW" sz="1200" dirty="0">
                <a:solidFill>
                  <a:srgbClr val="0000FF"/>
                </a:solidFill>
              </a:rPr>
              <a:t>Learning rate </a:t>
            </a:r>
            <a:r>
              <a:rPr lang="zh-TW" altLang="en-US" sz="1200" dirty="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E4DDA4-E70E-4F2F-991C-AE6749A9BEA7}"/>
              </a:ext>
            </a:extLst>
          </p:cNvPr>
          <p:cNvSpPr txBox="1"/>
          <p:nvPr/>
        </p:nvSpPr>
        <p:spPr>
          <a:xfrm>
            <a:off x="91232" y="8426053"/>
            <a:ext cx="662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 dirty="0">
                <a:hlinkClick r:id="rId3"/>
              </a:rPr>
              <a:t>http://violin-tao.blogspot.com/2017/07/ml-backpropagation.html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en-US" altLang="zh-TW" sz="1200" dirty="0">
                <a:hlinkClick r:id="rId4"/>
              </a:rPr>
              <a:t>https://www.zhihu.com/question/27239198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zh-TW" altLang="en-US" sz="1200" dirty="0">
                <a:solidFill>
                  <a:srgbClr val="0000FF"/>
                </a:solidFill>
              </a:rPr>
              <a:t>更新權重的方法</a:t>
            </a:r>
          </a:p>
        </p:txBody>
      </p:sp>
    </p:spTree>
    <p:extLst>
      <p:ext uri="{BB962C8B-B14F-4D97-AF65-F5344CB8AC3E}">
        <p14:creationId xmlns:p14="http://schemas.microsoft.com/office/powerpoint/2010/main" val="1656891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that if the form data was already parsed this method will not return anything as form data parsing does not cache the data like this method does.</a:t>
            </a:r>
            <a:r>
              <a:rPr lang="en-US" altLang="zh-TW"/>
              <a:t>(https://flask.palletsprojects.com/en/1.1.x/api/?highlight=response#flask.Request.get_data)</a:t>
            </a:r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966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7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331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577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849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92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 dirty="0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 dirty="0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dirty="0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 dirty="0"/>
              <a:t>按一下編輯文字樣式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 dirty="0"/>
              <a:t>按一下以編輯文字樣式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 dirty="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 dirty="0"/>
              <a:t>Arial(</a:t>
            </a:r>
            <a:r>
              <a:rPr lang="zh-TW" altLang="en-US" dirty="0"/>
              <a:t>標題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40</a:t>
            </a:r>
            <a:r>
              <a:rPr lang="zh-TW" altLang="en-US" dirty="0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第一層 </a:t>
            </a:r>
            <a:r>
              <a:rPr lang="en-US" altLang="zh-TW" dirty="0"/>
              <a:t>28</a:t>
            </a:r>
            <a:r>
              <a:rPr lang="zh-TW" altLang="en-US" dirty="0"/>
              <a:t>號 粗體</a:t>
            </a:r>
          </a:p>
          <a:p>
            <a:pPr lvl="1"/>
            <a:r>
              <a:rPr lang="zh-TW" altLang="en-US" dirty="0"/>
              <a:t>第二層 </a:t>
            </a:r>
            <a:r>
              <a:rPr lang="en-US" altLang="zh-TW" dirty="0"/>
              <a:t>24</a:t>
            </a:r>
            <a:r>
              <a:rPr lang="zh-TW" altLang="en-US" dirty="0"/>
              <a:t>號 粗體</a:t>
            </a:r>
          </a:p>
          <a:p>
            <a:pPr lvl="2"/>
            <a:r>
              <a:rPr lang="zh-TW" altLang="en-US" dirty="0"/>
              <a:t>第三層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  <a:p>
            <a:pPr lvl="3"/>
            <a:r>
              <a:rPr lang="zh-TW" altLang="en-US" dirty="0"/>
              <a:t>第四層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  <a:p>
            <a:pPr lvl="4"/>
            <a:r>
              <a:rPr lang="zh-TW" altLang="en-US" dirty="0"/>
              <a:t>第五層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Request &amp; Response</a:t>
            </a:r>
            <a:endParaRPr lang="zh-TW" altLang="en-US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 dirty="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45 </a:t>
            </a:r>
            <a:r>
              <a:rPr kumimoji="0" lang="en-US" altLang="zh-TW" sz="2000" dirty="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447884F3-D401-4BE6-B1C4-D8B9E997B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02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Request-Response</a:t>
            </a:r>
            <a:r>
              <a:rPr lang="zh-TW" dirty="0">
                <a:ea typeface="+mj-lt"/>
                <a:cs typeface="+mj-lt"/>
              </a:rPr>
              <a:t> </a:t>
            </a:r>
            <a:r>
              <a:rPr lang="en-US" dirty="0">
                <a:ea typeface="+mj-lt"/>
                <a:cs typeface="+mj-lt"/>
              </a:rPr>
              <a:t>Cyc</a:t>
            </a:r>
            <a:r>
              <a:rPr lang="zh-TW">
                <a:ea typeface="+mj-lt"/>
                <a:cs typeface="+mj-lt"/>
              </a:rPr>
              <a:t>l</a:t>
            </a:r>
            <a:r>
              <a:rPr lang="en-US" dirty="0">
                <a:ea typeface="+mj-lt"/>
                <a:cs typeface="+mj-lt"/>
              </a:rPr>
              <a:t>e</a:t>
            </a:r>
            <a:endParaRPr lang="zh-TW" dirty="0"/>
          </a:p>
        </p:txBody>
      </p:sp>
      <p:pic>
        <p:nvPicPr>
          <p:cNvPr id="4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E8E5244F-1E52-40B0-9A47-3D0745363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370" y="1818051"/>
            <a:ext cx="9316870" cy="394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79D1-2D8D-4153-997D-65E5A6F6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Request Contexts</a:t>
            </a:r>
            <a:endParaRPr lang="zh-TW" altLang="en-US"/>
          </a:p>
        </p:txBody>
      </p:sp>
      <p:sp>
        <p:nvSpPr>
          <p:cNvPr id="8" name="TextShape 2">
            <a:extLst>
              <a:ext uri="{FF2B5EF4-FFF2-40B4-BE49-F238E27FC236}">
                <a16:creationId xmlns:a16="http://schemas.microsoft.com/office/drawing/2014/main" id="{59A512D9-2474-42CE-87AF-527DE1393025}"/>
              </a:ext>
            </a:extLst>
          </p:cNvPr>
          <p:cNvSpPr txBox="1"/>
          <p:nvPr/>
        </p:nvSpPr>
        <p:spPr>
          <a:xfrm>
            <a:off x="690344" y="1039409"/>
            <a:ext cx="11209929" cy="523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103"/>
              </a:spcBef>
              <a:tabLst>
                <a:tab pos="0" algn="l"/>
              </a:tabLst>
            </a:pPr>
            <a:r>
              <a:rPr lang="zh-TW" sz="2400" spc="-1" dirty="0">
                <a:ea typeface="+mn-lt"/>
                <a:cs typeface="+mn-lt"/>
              </a:rPr>
              <a:t>當Flas</a:t>
            </a:r>
            <a:r>
              <a:rPr lang="en-US" altLang="zh-TW" sz="2400" spc="-1" dirty="0">
                <a:ea typeface="+mn-lt"/>
                <a:cs typeface="+mn-lt"/>
              </a:rPr>
              <a:t>k</a:t>
            </a:r>
            <a:r>
              <a:rPr lang="zh-TW" sz="2400" spc="-1" dirty="0">
                <a:ea typeface="+mn-lt"/>
                <a:cs typeface="+mn-lt"/>
              </a:rPr>
              <a:t>收到來自客戶端的請求時</a:t>
            </a:r>
            <a:r>
              <a:rPr lang="zh-TW" altLang="en-US" sz="2400" spc="-1" dirty="0">
                <a:ea typeface="+mn-lt"/>
                <a:cs typeface="+mn-lt"/>
              </a:rPr>
              <a:t>，它會將這些</a:t>
            </a:r>
            <a:r>
              <a:rPr lang="zh-TW" sz="2400" spc="-1" dirty="0">
                <a:ea typeface="+mn-lt"/>
                <a:cs typeface="+mn-lt"/>
              </a:rPr>
              <a:t>HTTP請求</a:t>
            </a:r>
            <a:r>
              <a:rPr lang="zh-TW" altLang="en-US" sz="2400" spc="-1" dirty="0">
                <a:ea typeface="+mn-lt"/>
                <a:cs typeface="+mn-lt"/>
              </a:rPr>
              <a:t>存在</a:t>
            </a:r>
            <a:r>
              <a:rPr lang="en-US" altLang="zh-TW" sz="2400" b="1" spc="-1">
                <a:ea typeface="+mn-lt"/>
                <a:cs typeface="+mn-lt"/>
              </a:rPr>
              <a:t>Request Contexts</a:t>
            </a:r>
            <a:r>
              <a:rPr lang="en-US" altLang="zh-TW" sz="2400" spc="-1">
                <a:ea typeface="+mn-lt"/>
                <a:cs typeface="+mn-lt"/>
              </a:rPr>
              <a:t>裡</a:t>
            </a:r>
            <a:r>
              <a:rPr lang="zh-TW" sz="2400" spc="-1">
                <a:ea typeface="+mn-lt"/>
                <a:cs typeface="+mn-lt"/>
              </a:rPr>
              <a:t>。</a:t>
            </a:r>
            <a:endParaRPr lang="zh-TW">
              <a:ea typeface="+mn-lt"/>
              <a:cs typeface="+mn-lt"/>
            </a:endParaRPr>
          </a:p>
        </p:txBody>
      </p:sp>
      <p:pic>
        <p:nvPicPr>
          <p:cNvPr id="4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4329446B-BFC0-47C1-A5EC-FAA94EC2A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860" y="3431285"/>
            <a:ext cx="7656393" cy="180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0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Flask</a:t>
            </a:r>
            <a:r>
              <a:rPr lang="zh-TW" altLang="en-US" dirty="0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reque</a:t>
            </a:r>
            <a:r>
              <a:rPr lang="zh-TW">
                <a:ea typeface="+mj-lt"/>
                <a:cs typeface="+mj-lt"/>
              </a:rPr>
              <a:t>s</a:t>
            </a:r>
            <a:r>
              <a:rPr lang="en-US" altLang="zh-TW">
                <a:ea typeface="+mj-lt"/>
                <a:cs typeface="+mj-lt"/>
              </a:rPr>
              <a:t>t</a:t>
            </a:r>
            <a:r>
              <a:rPr lang="zh-TW" altLang="en-US">
                <a:ea typeface="+mj-lt"/>
                <a:cs typeface="+mj-lt"/>
              </a:rPr>
              <a:t> attributes</a:t>
            </a:r>
            <a:endParaRPr lang="en-US" altLang="zh-TW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F76C607-90B2-4922-A59A-E5B3D10F8EAB}"/>
              </a:ext>
            </a:extLst>
          </p:cNvPr>
          <p:cNvGrpSpPr/>
          <p:nvPr/>
        </p:nvGrpSpPr>
        <p:grpSpPr>
          <a:xfrm>
            <a:off x="1790131" y="935202"/>
            <a:ext cx="8257389" cy="5629708"/>
            <a:chOff x="1835624" y="1060306"/>
            <a:chExt cx="8257389" cy="5629708"/>
          </a:xfrm>
        </p:grpSpPr>
        <p:pic>
          <p:nvPicPr>
            <p:cNvPr id="5" name="圖片 5" descr="一張含有 文字 的圖片&#10;&#10;自動產生的描述">
              <a:extLst>
                <a:ext uri="{FF2B5EF4-FFF2-40B4-BE49-F238E27FC236}">
                  <a16:creationId xmlns:a16="http://schemas.microsoft.com/office/drawing/2014/main" id="{04B0BEE4-906E-4821-BDA2-913006358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3744" y="1060306"/>
              <a:ext cx="6030035" cy="4976225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BC78658-DFD8-4DBE-9879-2B75BF5E1D2D}"/>
                </a:ext>
              </a:extLst>
            </p:cNvPr>
            <p:cNvSpPr txBox="1"/>
            <p:nvPr/>
          </p:nvSpPr>
          <p:spPr>
            <a:xfrm>
              <a:off x="1835624" y="6043683"/>
              <a:ext cx="8257389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+mn-lt"/>
                  <a:cs typeface="+mn-lt"/>
                </a:rPr>
                <a:t>https://flask.palletsprojects.com/en/1.1.x/api/?highlight=get_data#flask.request</a:t>
              </a:r>
              <a:br>
                <a:rPr lang="en-US" dirty="0">
                  <a:ea typeface="+mn-lt"/>
                  <a:cs typeface="+mn-lt"/>
                </a:rPr>
              </a:br>
              <a:r>
                <a:rPr lang="en-US" dirty="0">
                  <a:ea typeface="+mn-lt"/>
                  <a:cs typeface="+mn-lt"/>
                </a:rPr>
                <a:t>https://flask.palletsprojects.com/en/1.1.x/api/?highlight=get_data#flask.Request</a:t>
              </a:r>
              <a:endParaRPr lang="zh-TW" dirty="0"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361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※Flask context</a:t>
            </a:r>
            <a:endParaRPr lang="zh-TW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0806D58-3BA4-4EAA-A00C-43A9828C0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735" y="879722"/>
            <a:ext cx="11475323" cy="222933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zh-TW" sz="2950" b="0">
                <a:latin typeface="Arial"/>
                <a:ea typeface="微軟正黑體"/>
                <a:cs typeface="Arial"/>
              </a:rPr>
              <a:t>Flask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可以通過將request object作為參數發送給view函數，但這需要應用程序中的每一個</a:t>
            </a:r>
            <a:r>
              <a:rPr lang="zh-TW" sz="2950" b="0">
                <a:latin typeface="Arial"/>
                <a:ea typeface="微軟正黑體"/>
                <a:cs typeface="Arial"/>
              </a:rPr>
              <a:t>view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函數都具有一個額外的參數。</a:t>
            </a:r>
            <a:endParaRPr lang="zh-TW">
              <a:ea typeface="微軟正黑體"/>
            </a:endParaRPr>
          </a:p>
          <a:p>
            <a:r>
              <a:rPr lang="zh-TW" altLang="en-US" sz="2950" b="0" dirty="0">
                <a:latin typeface="Arial"/>
                <a:ea typeface="微軟正黑體"/>
                <a:cs typeface="Arial"/>
              </a:rPr>
              <a:t>如果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request object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不是view函數的唯一參數，事情就會變得更加複雜。</a:t>
            </a:r>
            <a:endParaRPr lang="zh-TW" dirty="0">
              <a:ea typeface="微軟正黑體"/>
            </a:endParaRPr>
          </a:p>
          <a:p>
            <a:r>
              <a:rPr lang="zh-TW" altLang="en-US" sz="2950" b="0" dirty="0">
                <a:latin typeface="Arial"/>
                <a:ea typeface="微軟正黑體"/>
                <a:cs typeface="Arial"/>
              </a:rPr>
              <a:t>為了避免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view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函數混亂，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Flask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使用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context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使某些物件可以全域存取。</a:t>
            </a:r>
            <a:endParaRPr lang="zh-TW" dirty="0">
              <a:ea typeface="微軟正黑體"/>
            </a:endParaRPr>
          </a:p>
        </p:txBody>
      </p:sp>
      <p:pic>
        <p:nvPicPr>
          <p:cNvPr id="7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3223BE50-84E9-4D07-8FDE-955746736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080" y="3029145"/>
            <a:ext cx="8335991" cy="337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3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9FA8C4-6A92-3874-408F-C7AD0F56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0">
                <a:cs typeface="Arial"/>
              </a:rPr>
              <a:t>※Meaning of context</a:t>
            </a:r>
            <a:endParaRPr lang="zh-TW" altLang="en-US" b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3E7BDC-C785-B977-B55F-44E15926E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b="0">
                <a:latin typeface="Arial"/>
                <a:ea typeface="微軟正黑體"/>
                <a:cs typeface="Arial"/>
              </a:rPr>
              <a:t>Context 在程式設計裡的意義有點</a:t>
            </a:r>
            <a:r>
              <a:rPr lang="zh-TW" altLang="en-US">
                <a:latin typeface="Arial"/>
                <a:ea typeface="微軟正黑體"/>
                <a:cs typeface="Arial"/>
              </a:rPr>
              <a:t>類似『環境』,</a:t>
            </a:r>
            <a:r>
              <a:rPr lang="zh-TW">
                <a:latin typeface="Arial"/>
                <a:ea typeface="微軟正黑體"/>
                <a:cs typeface="Arial"/>
              </a:rPr>
              <a:t>『上下文』</a:t>
            </a:r>
            <a:endParaRPr lang="zh-TW" altLang="en-US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b="0">
                <a:latin typeface="Arial"/>
                <a:ea typeface="微軟正黑體"/>
                <a:cs typeface="Arial"/>
              </a:rPr>
              <a:t>對Process()來說，Reqeust 就是 </a:t>
            </a:r>
            <a:r>
              <a:rPr lang="zh-TW" b="0">
                <a:latin typeface="Arial"/>
                <a:ea typeface="微軟正黑體"/>
                <a:cs typeface="Arial"/>
              </a:rPr>
              <a:t>Context</a:t>
            </a:r>
            <a:endParaRPr lang="zh-TW" altLang="en-US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94EA0769-1CD7-C7A9-E3C6-CEF106C0A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565" y="2236222"/>
            <a:ext cx="9316870" cy="394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2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Response</a:t>
            </a:r>
            <a:endParaRPr lang="zh-TW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7279" y="1095148"/>
            <a:ext cx="11352760" cy="36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800" dirty="0">
                <a:latin typeface="Arial"/>
                <a:ea typeface="微軟正黑體"/>
                <a:cs typeface="Arial"/>
              </a:rPr>
              <a:t>Method1</a:t>
            </a:r>
            <a:r>
              <a:rPr lang="zh-TW" altLang="en-US" sz="2800" dirty="0">
                <a:latin typeface="Arial"/>
                <a:ea typeface="微軟正黑體"/>
                <a:cs typeface="Arial"/>
              </a:rPr>
              <a:t> </a:t>
            </a:r>
            <a:r>
              <a:rPr lang="zh-TW" sz="2800" dirty="0">
                <a:latin typeface="Arial"/>
                <a:ea typeface="微軟正黑體"/>
                <a:cs typeface="Arial"/>
              </a:rPr>
              <a:t>response by return of view function</a:t>
            </a:r>
            <a:endParaRPr lang="zh-TW" sz="2800" dirty="0"/>
          </a:p>
          <a:p>
            <a:pPr marL="457200" indent="-457200">
              <a:buChar char="•"/>
            </a:pPr>
            <a:r>
              <a:rPr lang="zh-TW" sz="2800" b="0" dirty="0">
                <a:latin typeface="Arial"/>
                <a:ea typeface="微軟正黑體"/>
                <a:cs typeface="Arial"/>
              </a:rPr>
              <a:t>當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F</a:t>
            </a:r>
            <a:r>
              <a:rPr lang="zh-TW" sz="2800" b="0" dirty="0">
                <a:latin typeface="Arial"/>
                <a:ea typeface="微軟正黑體"/>
                <a:cs typeface="Arial"/>
              </a:rPr>
              <a:t>lask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調用view函數時，其返回值就是該請求</a:t>
            </a:r>
            <a:r>
              <a:rPr lang="zh-TW" sz="2800" b="0" dirty="0">
                <a:latin typeface="Arial"/>
                <a:ea typeface="微軟正黑體"/>
                <a:cs typeface="Arial"/>
              </a:rPr>
              <a:t>的</a:t>
            </a:r>
            <a:r>
              <a:rPr lang="en-US" altLang="zh-TW" sz="2800" dirty="0">
                <a:latin typeface="Arial"/>
                <a:ea typeface="微軟正黑體"/>
                <a:cs typeface="Arial"/>
              </a:rPr>
              <a:t>Response</a:t>
            </a:r>
            <a:r>
              <a:rPr lang="zh-TW" sz="2800" b="0" dirty="0">
                <a:latin typeface="Arial"/>
                <a:ea typeface="微軟正黑體"/>
                <a:cs typeface="Arial"/>
              </a:rPr>
              <a:t>。</a:t>
            </a:r>
            <a:endParaRPr lang="zh-TW" sz="2800" dirty="0"/>
          </a:p>
          <a:p>
            <a:pPr marL="457200" indent="-457200">
              <a:buChar char="•"/>
            </a:pPr>
            <a:r>
              <a:rPr lang="en-US" altLang="zh-TW" sz="2800" b="0" dirty="0">
                <a:latin typeface="Arial"/>
                <a:ea typeface="微軟正黑體"/>
                <a:cs typeface="Arial"/>
              </a:rPr>
              <a:t>View</a:t>
            </a:r>
            <a:r>
              <a:rPr lang="zh-TW" sz="2800" b="0" dirty="0">
                <a:latin typeface="Arial"/>
                <a:ea typeface="微軟正黑體"/>
                <a:cs typeface="Arial"/>
              </a:rPr>
              <a:t>函數可以返回三個參數</a:t>
            </a:r>
            <a:endParaRPr lang="zh-TW" altLang="en-US" sz="2800" b="0" dirty="0">
              <a:latin typeface="Arial"/>
              <a:ea typeface="微軟正黑體"/>
              <a:cs typeface="Arial"/>
            </a:endParaRPr>
          </a:p>
          <a:p>
            <a:pPr marL="562610" lvl="1">
              <a:buChar char="•"/>
            </a:pPr>
            <a:r>
              <a:rPr lang="en-US" altLang="zh-TW" sz="2800" b="0" dirty="0">
                <a:latin typeface="Arial"/>
                <a:ea typeface="微軟正黑體"/>
                <a:cs typeface="Arial"/>
              </a:rPr>
              <a:t>HTML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string</a:t>
            </a:r>
            <a:endParaRPr lang="zh-TW" altLang="en-US" sz="2800" b="0" dirty="0">
              <a:latin typeface="Arial"/>
              <a:ea typeface="微軟正黑體"/>
              <a:cs typeface="Arial"/>
            </a:endParaRPr>
          </a:p>
          <a:p>
            <a:pPr marL="562610" lvl="1">
              <a:buChar char="•"/>
            </a:pPr>
            <a:r>
              <a:rPr lang="en-US" altLang="zh-TW" sz="2800" b="0" dirty="0">
                <a:latin typeface="Arial"/>
                <a:ea typeface="微軟正黑體"/>
                <a:cs typeface="Arial"/>
              </a:rPr>
              <a:t>status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codes</a:t>
            </a:r>
            <a:endParaRPr lang="zh-TW" altLang="en-US" sz="2800" dirty="0"/>
          </a:p>
          <a:p>
            <a:pPr marL="562610" lvl="1">
              <a:buChar char="•"/>
            </a:pPr>
            <a:r>
              <a:rPr lang="en-US" altLang="zh-TW" sz="2800" b="0" dirty="0">
                <a:latin typeface="Arial"/>
                <a:ea typeface="微軟正黑體"/>
                <a:cs typeface="Arial"/>
              </a:rPr>
              <a:t>a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dictionary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of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headers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that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are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added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to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the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HTTP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response.</a:t>
            </a:r>
            <a:endParaRPr lang="zh-TW" altLang="en-US" sz="2800" dirty="0"/>
          </a:p>
          <a:p>
            <a:pPr marL="562610" lvl="1">
              <a:buChar char="•"/>
            </a:pPr>
            <a:endParaRPr lang="zh-TW" sz="2800" b="0" dirty="0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8544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Response</a:t>
            </a:r>
            <a:endParaRPr lang="zh-TW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297" y="965751"/>
            <a:ext cx="11338384" cy="217795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zh-TW" altLang="en-US" sz="2950" dirty="0">
                <a:latin typeface="Arial"/>
                <a:ea typeface="微軟正黑體"/>
                <a:cs typeface="Arial"/>
              </a:rPr>
              <a:t>Method2 </a:t>
            </a:r>
            <a:r>
              <a:rPr lang="zh-TW" sz="2950" dirty="0">
                <a:latin typeface="Arial"/>
                <a:ea typeface="微軟正黑體"/>
                <a:cs typeface="Arial"/>
              </a:rPr>
              <a:t>response by make_response()</a:t>
            </a:r>
            <a:endParaRPr lang="zh-TW" altLang="en-US" sz="2950" dirty="0">
              <a:latin typeface="Arial"/>
              <a:ea typeface="微軟正黑體"/>
              <a:cs typeface="Arial"/>
            </a:endParaRPr>
          </a:p>
          <a:p>
            <a:pPr marL="457200" indent="-457200">
              <a:buChar char="•"/>
            </a:pPr>
            <a:r>
              <a:rPr lang="en-US" altLang="zh-TW" sz="2950" b="0" dirty="0">
                <a:latin typeface="Arial"/>
                <a:ea typeface="微軟正黑體"/>
                <a:cs typeface="Arial"/>
              </a:rPr>
              <a:t>Flask 也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可以使用</a:t>
            </a:r>
            <a:r>
              <a:rPr lang="en-US" altLang="zh-TW" sz="2950" b="0" dirty="0" err="1">
                <a:latin typeface="Arial"/>
                <a:ea typeface="微軟正黑體"/>
                <a:cs typeface="Arial"/>
              </a:rPr>
              <a:t>make_response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()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函數產生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Response </a:t>
            </a:r>
            <a:r>
              <a:rPr lang="en-US" altLang="zh-TW" sz="2950" dirty="0" err="1">
                <a:latin typeface="Arial"/>
                <a:ea typeface="微軟正黑體"/>
                <a:cs typeface="Arial"/>
              </a:rPr>
              <a:t>物件</a:t>
            </a:r>
            <a:endParaRPr lang="zh-TW" altLang="en-US" sz="2950" b="0" dirty="0">
              <a:latin typeface="Arial"/>
              <a:ea typeface="微軟正黑體"/>
              <a:cs typeface="Arial"/>
            </a:endParaRPr>
          </a:p>
          <a:p>
            <a:pPr marL="457200" indent="-457200">
              <a:buChar char="•"/>
            </a:pPr>
            <a:r>
              <a:rPr lang="en-US" sz="2950" b="0" dirty="0" err="1">
                <a:latin typeface="Arial"/>
                <a:ea typeface="微軟正黑體"/>
                <a:cs typeface="Arial"/>
              </a:rPr>
              <a:t>make_response</a:t>
            </a:r>
            <a:r>
              <a:rPr lang="en-US" sz="2950" b="0" dirty="0">
                <a:latin typeface="Arial"/>
                <a:ea typeface="微軟正黑體"/>
                <a:cs typeface="Arial"/>
              </a:rPr>
              <a:t>()</a:t>
            </a:r>
            <a:r>
              <a:rPr lang="zh-CN" altLang="en-US" sz="2950" b="0" dirty="0">
                <a:latin typeface="Arial"/>
                <a:ea typeface="微軟正黑體"/>
                <a:cs typeface="Arial"/>
              </a:rPr>
              <a:t>也可接收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三個參數(與view函數的返回值一樣)</a:t>
            </a:r>
            <a:endParaRPr lang="zh-CN" sz="2950" b="0" dirty="0">
              <a:latin typeface="Arial"/>
              <a:ea typeface="微軟正黑體"/>
              <a:cs typeface="Arial"/>
            </a:endParaRPr>
          </a:p>
          <a:p>
            <a:pPr marL="457200" indent="-457200">
              <a:buChar char="•"/>
            </a:pPr>
            <a:r>
              <a:rPr lang="zh-TW" sz="2950" b="0" dirty="0">
                <a:latin typeface="Arial"/>
                <a:ea typeface="微軟正黑體"/>
                <a:cs typeface="Arial"/>
              </a:rPr>
              <a:t>response object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：</a:t>
            </a:r>
          </a:p>
          <a:p>
            <a:pPr marL="457200" indent="-457200">
              <a:buChar char="•"/>
            </a:pPr>
            <a:endParaRPr lang="zh-CN" altLang="en-US" sz="2950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9" name="圖片 9">
            <a:extLst>
              <a:ext uri="{FF2B5EF4-FFF2-40B4-BE49-F238E27FC236}">
                <a16:creationId xmlns:a16="http://schemas.microsoft.com/office/drawing/2014/main" id="{4DDB06D6-A3CE-41D4-9F5A-0FB7800E4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31" y="3064499"/>
            <a:ext cx="5840361" cy="3113323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9FDD3FBB-7619-467B-841D-4A38291B3EF7}"/>
              </a:ext>
            </a:extLst>
          </p:cNvPr>
          <p:cNvGrpSpPr/>
          <p:nvPr/>
        </p:nvGrpSpPr>
        <p:grpSpPr>
          <a:xfrm>
            <a:off x="6445045" y="3068434"/>
            <a:ext cx="5483942" cy="2514826"/>
            <a:chOff x="6506497" y="3068434"/>
            <a:chExt cx="5483942" cy="2514826"/>
          </a:xfrm>
        </p:grpSpPr>
        <p:pic>
          <p:nvPicPr>
            <p:cNvPr id="5" name="圖片 8">
              <a:extLst>
                <a:ext uri="{FF2B5EF4-FFF2-40B4-BE49-F238E27FC236}">
                  <a16:creationId xmlns:a16="http://schemas.microsoft.com/office/drawing/2014/main" id="{95D66993-A463-40CA-801E-D70B492165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92750"/>
            <a:stretch/>
          </p:blipFill>
          <p:spPr>
            <a:xfrm>
              <a:off x="6509744" y="3068434"/>
              <a:ext cx="5480695" cy="356449"/>
            </a:xfrm>
            <a:prstGeom prst="rect">
              <a:avLst/>
            </a:prstGeom>
          </p:spPr>
        </p:pic>
        <p:pic>
          <p:nvPicPr>
            <p:cNvPr id="11" name="圖片 11">
              <a:extLst>
                <a:ext uri="{FF2B5EF4-FFF2-40B4-BE49-F238E27FC236}">
                  <a16:creationId xmlns:a16="http://schemas.microsoft.com/office/drawing/2014/main" id="{270AC0A0-10BF-4A48-858C-16EC3A44C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6497" y="3425547"/>
              <a:ext cx="5471651" cy="2157713"/>
            </a:xfrm>
            <a:prstGeom prst="rect">
              <a:avLst/>
            </a:prstGeom>
          </p:spPr>
        </p:pic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42B794E3-00C0-4309-BC33-D9C73BB833F3}"/>
              </a:ext>
            </a:extLst>
          </p:cNvPr>
          <p:cNvSpPr txBox="1"/>
          <p:nvPr/>
        </p:nvSpPr>
        <p:spPr>
          <a:xfrm>
            <a:off x="6777925" y="5770535"/>
            <a:ext cx="48193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https://flask.palletsprojects.com/en/1.1.x/api/?highlight=get_data#flask.Response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170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abort</a:t>
            </a:r>
            <a:endParaRPr lang="zh-TW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66" y="1850886"/>
            <a:ext cx="10418234" cy="21779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zh-TW" sz="2950" dirty="0">
                <a:latin typeface="Arial"/>
                <a:ea typeface="微軟正黑體"/>
                <a:cs typeface="Arial"/>
              </a:rPr>
              <a:t>abort()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用於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引發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錯誤。</a:t>
            </a:r>
            <a:endParaRPr lang="zh-TW" dirty="0"/>
          </a:p>
        </p:txBody>
      </p:sp>
      <p:pic>
        <p:nvPicPr>
          <p:cNvPr id="4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26816149-6702-417A-8B51-CB1152151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081" y="3148180"/>
            <a:ext cx="7843683" cy="272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43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cs typeface="Arial"/>
              </a:rPr>
              <a:t>redirect</a:t>
            </a:r>
            <a:endParaRPr lang="zh-TW" dirty="0">
              <a:cs typeface="Arial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2814" y="764704"/>
            <a:ext cx="11041536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sz="2800" dirty="0">
                <a:latin typeface="Arial"/>
                <a:ea typeface="微軟正黑體"/>
                <a:cs typeface="Arial"/>
              </a:rPr>
              <a:t>redirect()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是一種特殊的response類型</a:t>
            </a:r>
            <a:r>
              <a:rPr lang="en-US" sz="2800" b="0" dirty="0">
                <a:latin typeface="Arial"/>
                <a:ea typeface="微軟正黑體"/>
                <a:cs typeface="Arial"/>
              </a:rPr>
              <a:t>，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它的response包含</a:t>
            </a:r>
            <a:r>
              <a:rPr lang="en-US" sz="2800" dirty="0" err="1">
                <a:latin typeface="Arial"/>
                <a:ea typeface="微軟正黑體"/>
                <a:cs typeface="Arial"/>
              </a:rPr>
              <a:t>URL</a:t>
            </a:r>
            <a:r>
              <a:rPr lang="en-US" sz="2800" b="0" dirty="0" err="1">
                <a:latin typeface="Arial"/>
                <a:ea typeface="微軟正黑體"/>
                <a:cs typeface="Arial"/>
              </a:rPr>
              <a:t>而不是帶有HTML代碼的字符串</a:t>
            </a:r>
            <a:r>
              <a:rPr lang="en-US" sz="2800" b="0" dirty="0">
                <a:latin typeface="Arial"/>
                <a:ea typeface="微軟正黑體"/>
                <a:cs typeface="Arial"/>
              </a:rPr>
              <a:t>。</a:t>
            </a:r>
            <a:endParaRPr lang="en-US" altLang="zh-TW" sz="2800" dirty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en-US" altLang="zh-TW" sz="2800" dirty="0">
                <a:latin typeface="Arial"/>
                <a:ea typeface="微軟正黑體"/>
                <a:cs typeface="Arial"/>
              </a:rPr>
              <a:t>redirect()</a:t>
            </a:r>
            <a:r>
              <a:rPr lang="zh-TW" altLang="en-US" sz="2800" b="0" dirty="0">
                <a:latin typeface="Arial"/>
                <a:ea typeface="微軟正黑體"/>
                <a:cs typeface="Arial"/>
              </a:rPr>
              <a:t>會回應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status code </a:t>
            </a:r>
            <a:r>
              <a:rPr lang="en-US" altLang="zh-TW" sz="2800" dirty="0">
                <a:latin typeface="Arial"/>
                <a:ea typeface="微軟正黑體"/>
                <a:cs typeface="Arial"/>
              </a:rPr>
              <a:t>302</a:t>
            </a:r>
            <a:r>
              <a:rPr lang="zh-TW" sz="2800" b="0" dirty="0">
                <a:latin typeface="Arial"/>
                <a:ea typeface="微軟正黑體"/>
                <a:cs typeface="Arial"/>
              </a:rPr>
              <a:t>和在Location標頭的轉址URL。</a:t>
            </a:r>
          </a:p>
          <a:p>
            <a:pPr marL="421640" indent="-421640"/>
            <a:r>
              <a:rPr lang="zh-TW" sz="2800" b="0">
                <a:latin typeface="Arial"/>
                <a:ea typeface="微軟正黑體"/>
                <a:cs typeface="Arial"/>
              </a:rPr>
              <a:t>當瀏覽器收到</a:t>
            </a:r>
            <a:r>
              <a:rPr lang="en-US" altLang="zh-TW" sz="2800" dirty="0">
                <a:latin typeface="Arial"/>
                <a:ea typeface="微軟正黑體"/>
                <a:cs typeface="Arial"/>
              </a:rPr>
              <a:t>redirect()</a:t>
            </a:r>
            <a:r>
              <a:rPr lang="en-US" altLang="zh-TW" sz="2800" b="0" dirty="0" err="1">
                <a:latin typeface="Arial"/>
                <a:ea typeface="微軟正黑體"/>
                <a:cs typeface="Arial"/>
              </a:rPr>
              <a:t>的response</a:t>
            </a:r>
            <a:r>
              <a:rPr lang="zh-TW" sz="2800" b="0">
                <a:latin typeface="Arial"/>
                <a:ea typeface="微軟正黑體"/>
                <a:cs typeface="Arial"/>
              </a:rPr>
              <a:t>時，它將發出針對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轉址</a:t>
            </a:r>
            <a:r>
              <a:rPr lang="zh-TW" sz="2800" b="0">
                <a:latin typeface="Arial"/>
                <a:ea typeface="微軟正黑體"/>
                <a:cs typeface="Arial"/>
              </a:rPr>
              <a:t>UR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L</a:t>
            </a:r>
            <a:r>
              <a:rPr lang="zh-TW" sz="2800" b="0">
                <a:latin typeface="Arial"/>
                <a:ea typeface="微軟正黑體"/>
                <a:cs typeface="Arial"/>
              </a:rPr>
              <a:t>的</a:t>
            </a:r>
            <a:r>
              <a:rPr lang="zh-TW" sz="2800">
                <a:latin typeface="Arial"/>
                <a:ea typeface="微軟正黑體"/>
                <a:cs typeface="Arial"/>
              </a:rPr>
              <a:t>GET</a:t>
            </a:r>
            <a:r>
              <a:rPr lang="zh-TW" sz="2800" b="0">
                <a:latin typeface="Arial"/>
                <a:ea typeface="微軟正黑體"/>
                <a:cs typeface="Arial"/>
              </a:rPr>
              <a:t>請求。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	</a:t>
            </a:r>
            <a:endParaRPr lang="zh-TW" altLang="en-US" sz="2800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3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817453B5-71AA-4B63-9DBF-4B5E4F616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721" y="3775581"/>
            <a:ext cx="9490587" cy="254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76646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3200</TotalTime>
  <Words>924</Words>
  <Application>Microsoft Office PowerPoint</Application>
  <PresentationFormat>寬螢幕</PresentationFormat>
  <Paragraphs>76</Paragraphs>
  <Slides>10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2019簡報範本_light</vt:lpstr>
      <vt:lpstr>Request &amp; Response</vt:lpstr>
      <vt:lpstr>Request-Response Cycle</vt:lpstr>
      <vt:lpstr>Request Contexts</vt:lpstr>
      <vt:lpstr>Flask request attributes</vt:lpstr>
      <vt:lpstr>※Flask context</vt:lpstr>
      <vt:lpstr>※Meaning of context</vt:lpstr>
      <vt:lpstr>Response</vt:lpstr>
      <vt:lpstr>Response</vt:lpstr>
      <vt:lpstr>abort</vt:lpstr>
      <vt:lpstr>redirect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ywt01</cp:lastModifiedBy>
  <cp:revision>1125</cp:revision>
  <cp:lastPrinted>2019-04-29T05:54:36Z</cp:lastPrinted>
  <dcterms:created xsi:type="dcterms:W3CDTF">2019-04-17T09:27:11Z</dcterms:created>
  <dcterms:modified xsi:type="dcterms:W3CDTF">2026-06-07T03:56:49Z</dcterms:modified>
  <cp:category>淺色</cp:category>
</cp:coreProperties>
</file>