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331" r:id="rId2"/>
    <p:sldId id="399" r:id="rId3"/>
    <p:sldId id="417" r:id="rId4"/>
    <p:sldId id="420" r:id="rId5"/>
    <p:sldId id="415" r:id="rId6"/>
    <p:sldId id="419" r:id="rId7"/>
    <p:sldId id="416" r:id="rId8"/>
    <p:sldId id="418" r:id="rId9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214708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584608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4211992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lask-wtf.readthedocs.io/en/stabl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tforms.readthedocs.io/en/2.3.x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err="1">
                <a:cs typeface="Arial"/>
              </a:rPr>
              <a:t>web表單與檔案上傳</a:t>
            </a:r>
            <a:endParaRPr lang="en-US" altLang="en-US" err="1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A4DF13A-3ED4-4BEB-970D-CF26B6874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>
                <a:solidFill>
                  <a:srgbClr val="0000FF"/>
                </a:solidFill>
                <a:latin typeface="Georgia"/>
                <a:ea typeface="標楷體"/>
              </a:rPr>
              <a:t>Module 07</a:t>
            </a:r>
            <a:endParaRPr lang="zh-TW" altLang="zh-TW" sz="2400" i="1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web form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9479" y="673719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用戶使用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W</a:t>
            </a:r>
            <a:r>
              <a:rPr lang="zh-TW" sz="3400" b="0">
                <a:latin typeface="Arial"/>
                <a:ea typeface="微軟正黑體"/>
                <a:cs typeface="Arial"/>
              </a:rPr>
              <a:t>e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b</a:t>
            </a:r>
            <a:r>
              <a:rPr lang="zh-TW" sz="3400" b="0">
                <a:latin typeface="Arial"/>
                <a:ea typeface="微軟正黑體"/>
                <a:cs typeface="Arial"/>
              </a:rPr>
              <a:t>表單來提供數據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給</a:t>
            </a:r>
            <a:r>
              <a:rPr lang="zh-TW" sz="3400" b="0">
                <a:latin typeface="Arial"/>
                <a:ea typeface="微軟正黑體"/>
                <a:cs typeface="Arial"/>
              </a:rPr>
              <a:t>伺服器</a:t>
            </a:r>
            <a:endParaRPr lang="zh-TW"/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表單資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料</a:t>
            </a:r>
            <a:r>
              <a:rPr lang="zh-TW" sz="3400" b="0">
                <a:latin typeface="Arial"/>
                <a:ea typeface="微軟正黑體"/>
                <a:cs typeface="Arial"/>
              </a:rPr>
              <a:t>通常以</a:t>
            </a:r>
            <a:r>
              <a:rPr lang="zh-TW" sz="3400">
                <a:latin typeface="Arial"/>
                <a:ea typeface="微軟正黑體"/>
                <a:cs typeface="Arial"/>
              </a:rPr>
              <a:t>POST</a:t>
            </a:r>
            <a:r>
              <a:rPr lang="zh-TW" sz="3400" b="0">
                <a:latin typeface="Arial"/>
                <a:ea typeface="微軟正黑體"/>
                <a:cs typeface="Arial"/>
              </a:rPr>
              <a:t>請求的形式提交。</a:t>
            </a:r>
            <a:endParaRPr lang="zh-TW"/>
          </a:p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通過</a:t>
            </a:r>
            <a:r>
              <a:rPr lang="zh-TW" sz="3400">
                <a:latin typeface="Arial"/>
                <a:ea typeface="微軟正黑體"/>
                <a:cs typeface="Arial"/>
              </a:rPr>
              <a:t>reques</a:t>
            </a:r>
            <a:r>
              <a:rPr lang="en-US" altLang="zh-TW" sz="3400" err="1">
                <a:latin typeface="Arial"/>
                <a:ea typeface="微軟正黑體"/>
                <a:cs typeface="Arial"/>
              </a:rPr>
              <a:t>t.form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存取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用戶</a:t>
            </a:r>
            <a:r>
              <a:rPr lang="zh-TW" sz="3400" b="0">
                <a:latin typeface="Arial"/>
                <a:ea typeface="微軟正黑體"/>
                <a:cs typeface="Arial"/>
              </a:rPr>
              <a:t>提供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的表單資料。</a:t>
            </a:r>
            <a:endParaRPr lang="zh-TW" sz="3400"/>
          </a:p>
          <a:p>
            <a:pPr marL="421640" indent="-421640"/>
            <a:endParaRPr lang="zh-TW" altLang="en-US" sz="3400" b="0"/>
          </a:p>
        </p:txBody>
      </p:sp>
      <p:pic>
        <p:nvPicPr>
          <p:cNvPr id="3" name="圖片 5" descr="一張含有 文字 的圖片&#10;&#10;自動產生的描述">
            <a:extLst>
              <a:ext uri="{FF2B5EF4-FFF2-40B4-BE49-F238E27FC236}">
                <a16:creationId xmlns:a16="http://schemas.microsoft.com/office/drawing/2014/main" id="{4E74E8C3-DE98-4449-BBBA-85252251F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29" y="4364330"/>
            <a:ext cx="11375407" cy="1836986"/>
          </a:xfrm>
          <a:prstGeom prst="rect">
            <a:avLst/>
          </a:prstGeom>
        </p:spPr>
      </p:pic>
      <p:pic>
        <p:nvPicPr>
          <p:cNvPr id="6" name="圖片 6">
            <a:extLst>
              <a:ext uri="{FF2B5EF4-FFF2-40B4-BE49-F238E27FC236}">
                <a16:creationId xmlns:a16="http://schemas.microsoft.com/office/drawing/2014/main" id="{57D6C2AA-BB98-4968-BE96-8E5050BE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29" y="3307833"/>
            <a:ext cx="11318543" cy="70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檔案上傳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400" b="0">
                <a:latin typeface="Arial"/>
                <a:ea typeface="微軟正黑體"/>
                <a:cs typeface="Arial"/>
              </a:rPr>
              <a:t>檔案上傳的基本概念其實很簡單， 它基本運作流程是這樣的：</a:t>
            </a:r>
            <a:endParaRPr lang="zh-TW"/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在前端網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頁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(HTML)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，</a:t>
            </a:r>
            <a:r>
              <a:rPr lang="zh-TW" sz="2950" b="0">
                <a:latin typeface="Arial"/>
                <a:ea typeface="微軟正黑體"/>
                <a:cs typeface="Arial"/>
              </a:rPr>
              <a:t>會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有一個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&lt;form&gt;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標籤，標籤有個屬性參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e</a:t>
            </a:r>
            <a:r>
              <a:rPr lang="zh-TW" sz="2950">
                <a:latin typeface="Arial"/>
                <a:ea typeface="微軟正黑體"/>
                <a:cs typeface="Arial"/>
              </a:rPr>
              <a:t>n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c</a:t>
            </a:r>
            <a:r>
              <a:rPr lang="zh-TW" sz="2950">
                <a:latin typeface="Arial"/>
                <a:ea typeface="微軟正黑體"/>
                <a:cs typeface="Arial"/>
              </a:rPr>
              <a:t>t</a:t>
            </a:r>
            <a:r>
              <a:rPr lang="en-US" altLang="zh-TW" sz="2950" err="1">
                <a:latin typeface="Arial"/>
                <a:ea typeface="微軟正黑體"/>
                <a:cs typeface="Arial"/>
              </a:rPr>
              <a:t>ype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=</a:t>
            </a:r>
            <a:r>
              <a:rPr lang="zh-TW" sz="2950">
                <a:latin typeface="Arial"/>
                <a:ea typeface="微軟正黑體"/>
                <a:cs typeface="Arial"/>
              </a:rPr>
              <a:t>m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ult</a:t>
            </a:r>
            <a:r>
              <a:rPr lang="zh-TW" sz="2950">
                <a:latin typeface="Arial"/>
                <a:ea typeface="微軟正黑體"/>
                <a:cs typeface="Arial"/>
              </a:rPr>
              <a:t>i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part/form-data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。</a:t>
            </a:r>
            <a:r>
              <a:rPr lang="zh-TW" sz="2950" b="0">
                <a:latin typeface="Arial"/>
                <a:ea typeface="微軟正黑體"/>
                <a:cs typeface="Arial"/>
              </a:rPr>
              <a:t>並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且</a:t>
            </a:r>
            <a:r>
              <a:rPr lang="zh-TW" sz="2950" b="0">
                <a:latin typeface="Arial"/>
                <a:ea typeface="微軟正黑體"/>
                <a:cs typeface="Arial"/>
              </a:rPr>
              <a:t>在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標籤裡面包含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&lt;</a:t>
            </a:r>
            <a:r>
              <a:rPr lang="en-US" altLang="zh-TW" sz="2950" b="0" err="1">
                <a:latin typeface="Arial"/>
                <a:ea typeface="微軟正黑體"/>
                <a:cs typeface="Arial"/>
              </a:rPr>
              <a:t>inpu</a:t>
            </a:r>
            <a:r>
              <a:rPr lang="zh-TW" sz="2950" b="0">
                <a:latin typeface="Arial"/>
                <a:ea typeface="微軟正黑體"/>
                <a:cs typeface="Arial"/>
              </a:rPr>
              <a:t>t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r>
              <a:rPr lang="zh-TW" sz="2950" b="0">
                <a:latin typeface="Arial"/>
                <a:ea typeface="微軟正黑體"/>
                <a:cs typeface="Arial"/>
              </a:rPr>
              <a:t>t</a:t>
            </a:r>
            <a:r>
              <a:rPr lang="en-US" altLang="zh-TW" sz="2950" b="0" err="1">
                <a:latin typeface="Arial"/>
                <a:ea typeface="微軟正黑體"/>
                <a:cs typeface="Arial"/>
              </a:rPr>
              <a:t>ype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=f</a:t>
            </a:r>
            <a:r>
              <a:rPr lang="zh-TW" sz="2950" b="0">
                <a:latin typeface="Arial"/>
                <a:ea typeface="微軟正黑體"/>
                <a:cs typeface="Arial"/>
              </a:rPr>
              <a:t>i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le name=file_100&gt;</a:t>
            </a:r>
            <a:r>
              <a:rPr lang="zh-TW" sz="2950" b="0" dirty="0">
                <a:latin typeface="Arial"/>
                <a:ea typeface="微軟正黑體"/>
                <a:cs typeface="Arial"/>
              </a:rPr>
              <a:t>。</a:t>
            </a:r>
            <a:endParaRPr lang="zh-TW" sz="2950" dirty="0"/>
          </a:p>
          <a:p>
            <a:pPr marL="878840" lvl="1" indent="-433705"/>
            <a:r>
              <a:rPr lang="en-US" altLang="zh-TW" sz="2950" b="0" dirty="0">
                <a:latin typeface="Arial"/>
                <a:ea typeface="微軟正黑體"/>
                <a:cs typeface="Arial"/>
              </a:rPr>
              <a:t>Server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上的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29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 b="0" dirty="0">
                <a:latin typeface="Arial"/>
                <a:ea typeface="微軟正黑體"/>
                <a:cs typeface="Arial"/>
              </a:rPr>
              <a:t>APP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通過 </a:t>
            </a:r>
            <a:r>
              <a:rPr lang="en-US" altLang="zh-TW" sz="2950" dirty="0" err="1">
                <a:latin typeface="Arial"/>
                <a:ea typeface="微軟正黑體"/>
                <a:cs typeface="Arial"/>
              </a:rPr>
              <a:t>requ</a:t>
            </a:r>
            <a:r>
              <a:rPr lang="zh-TW" sz="2950">
                <a:latin typeface="Arial"/>
                <a:ea typeface="微軟正黑體"/>
                <a:cs typeface="Arial"/>
              </a:rPr>
              <a:t>est.f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il</a:t>
            </a:r>
            <a:r>
              <a:rPr lang="zh-TW" sz="2950">
                <a:latin typeface="Arial"/>
                <a:ea typeface="微軟正黑體"/>
                <a:cs typeface="Arial"/>
              </a:rPr>
              <a:t>es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['file_</a:t>
            </a:r>
            <a:br>
              <a:rPr lang="en-US" altLang="zh-TW" sz="2950" dirty="0">
                <a:latin typeface="Arial"/>
                <a:ea typeface="微軟正黑體"/>
                <a:cs typeface="Arial"/>
              </a:rPr>
            </a:br>
            <a:r>
              <a:rPr lang="en-US" altLang="zh-TW" sz="2950" dirty="0">
                <a:latin typeface="Arial"/>
                <a:ea typeface="微軟正黑體"/>
                <a:cs typeface="Arial"/>
              </a:rPr>
              <a:t>100']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 讀取</a:t>
            </a:r>
            <a:r>
              <a:rPr lang="zh-TW" sz="2950" b="0">
                <a:latin typeface="Arial"/>
                <a:ea typeface="微軟正黑體"/>
                <a:cs typeface="Arial"/>
              </a:rPr>
              <a:t>檔案。</a:t>
            </a:r>
            <a:endParaRPr lang="zh-TW" sz="2950"/>
          </a:p>
          <a:p>
            <a:pPr marL="878840" lvl="1" indent="-433705"/>
            <a:r>
              <a:rPr lang="zh-TW" sz="2950" b="0">
                <a:latin typeface="Arial"/>
                <a:ea typeface="微軟正黑體"/>
                <a:cs typeface="Arial"/>
              </a:rPr>
              <a:t>使用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</a:t>
            </a:r>
            <a:r>
              <a:rPr lang="en-US" sz="2950" dirty="0" err="1">
                <a:latin typeface="Arial"/>
                <a:ea typeface="微軟正黑體"/>
                <a:cs typeface="Arial"/>
              </a:rPr>
              <a:t>requ</a:t>
            </a:r>
            <a:r>
              <a:rPr lang="en-US" altLang="zh-TW" sz="2950" dirty="0" err="1">
                <a:latin typeface="Arial"/>
                <a:ea typeface="微軟正黑體"/>
                <a:cs typeface="Arial"/>
              </a:rPr>
              <a:t>est.f</a:t>
            </a:r>
            <a:r>
              <a:rPr lang="en-US" sz="2950" dirty="0" err="1">
                <a:latin typeface="Arial"/>
                <a:ea typeface="微軟正黑體"/>
                <a:cs typeface="Arial"/>
              </a:rPr>
              <a:t>il</a:t>
            </a:r>
            <a:r>
              <a:rPr lang="en-US" altLang="zh-TW" sz="2950" dirty="0" err="1">
                <a:latin typeface="Arial"/>
                <a:ea typeface="微軟正黑體"/>
                <a:cs typeface="Arial"/>
              </a:rPr>
              <a:t>es</a:t>
            </a:r>
            <a:r>
              <a:rPr lang="en-US" sz="2950" dirty="0">
                <a:latin typeface="Arial"/>
                <a:ea typeface="微軟正黑體"/>
                <a:cs typeface="Arial"/>
              </a:rPr>
              <a:t>['file']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.save(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檔案上傳路徑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+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檔名</a:t>
            </a:r>
            <a:r>
              <a:rPr lang="en-US" altLang="zh-TW" sz="2950" dirty="0">
                <a:latin typeface="Arial"/>
                <a:ea typeface="微軟正黑體"/>
                <a:cs typeface="Arial"/>
              </a:rPr>
              <a:t>)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 將檔案上傳</a:t>
            </a:r>
            <a:r>
              <a:rPr lang="zh-TW" sz="2950" b="0">
                <a:latin typeface="Arial"/>
                <a:ea typeface="微軟正黑體"/>
                <a:cs typeface="Arial"/>
              </a:rPr>
              <a:t>到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指定</a:t>
            </a:r>
            <a:r>
              <a:rPr lang="zh-TW" sz="2950" b="0">
                <a:latin typeface="Arial"/>
                <a:ea typeface="微軟正黑體"/>
                <a:cs typeface="Arial"/>
              </a:rPr>
              <a:t>的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路</a:t>
            </a:r>
            <a:r>
              <a:rPr lang="zh-TW" sz="2950" b="0">
                <a:latin typeface="Arial"/>
                <a:ea typeface="微軟正黑體"/>
                <a:cs typeface="Arial"/>
              </a:rPr>
              <a:t>徑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。</a:t>
            </a:r>
            <a:endParaRPr lang="zh-TW" sz="2950"/>
          </a:p>
          <a:p>
            <a:pPr marL="421640" indent="-421640">
              <a:buClr>
                <a:srgbClr val="E1CB1A"/>
              </a:buClr>
            </a:pPr>
            <a:endParaRPr lang="zh-TW" sz="3400" b="0">
              <a:latin typeface="Arial"/>
              <a:ea typeface="微軟正黑體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3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880C891-CBB9-4586-BD51-149EFD51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檔案下載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F227805-609F-491A-BA9C-51FDE5EDE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b="0">
                <a:latin typeface="Arial"/>
                <a:ea typeface="微軟正黑體"/>
                <a:cs typeface="Arial"/>
              </a:rPr>
              <a:t>透過</a:t>
            </a:r>
            <a:r>
              <a:rPr lang="en-US" altLang="zh-TW" err="1">
                <a:latin typeface="Arial"/>
                <a:ea typeface="微軟正黑體"/>
                <a:cs typeface="Arial"/>
              </a:rPr>
              <a:t>send_from_directory</a:t>
            </a:r>
            <a:r>
              <a:rPr lang="en-US" altLang="zh-TW" dirty="0">
                <a:latin typeface="Arial"/>
                <a:ea typeface="微軟正黑體"/>
                <a:cs typeface="Arial"/>
              </a:rPr>
              <a:t>()</a:t>
            </a:r>
            <a:r>
              <a:rPr lang="zh-TW" altLang="en-US" b="0">
                <a:latin typeface="Arial"/>
                <a:ea typeface="微軟正黑體"/>
                <a:cs typeface="Arial"/>
              </a:rPr>
              <a:t>來傳輸檔案給客戶端</a:t>
            </a:r>
            <a:endParaRPr lang="en-US" altLang="zh-TW" b="0"/>
          </a:p>
          <a:p>
            <a:pPr marL="878840" lvl="1" indent="-433705">
              <a:buFont typeface="Courier New" pitchFamily="34" charset="0"/>
              <a:buChar char="o"/>
            </a:pPr>
            <a:r>
              <a:rPr lang="zh-TW" altLang="en-US" b="0">
                <a:latin typeface="Arial"/>
                <a:ea typeface="微軟正黑體"/>
                <a:cs typeface="Arial"/>
              </a:rPr>
              <a:t>as_attachment=True : 將檔案直接下載, 而非透過瀏覽器觀看</a:t>
            </a:r>
            <a:endParaRPr lang="zh-TW" altLang="en-US" b="0" dirty="0"/>
          </a:p>
          <a:p>
            <a:pPr marL="421640" indent="-421640"/>
            <a:endParaRPr lang="zh-TW" altLang="en-US" b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5733DFA-1B77-473F-B309-B8ED4EE2F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6" y="3007854"/>
            <a:ext cx="11771428" cy="1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9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Flask-WTF — Form Classes</a:t>
            </a:r>
            <a:endParaRPr lang="en-US" b="0">
              <a:ea typeface="+mj-lt"/>
              <a:cs typeface="+mj-lt"/>
            </a:endParaRP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400" b="0">
                <a:latin typeface="Arial"/>
                <a:ea typeface="微軟正黑體"/>
                <a:cs typeface="Arial"/>
              </a:rPr>
              <a:t>使用</a:t>
            </a:r>
            <a:r>
              <a:rPr lang="en-US" altLang="zh-TW" sz="3400" b="0">
                <a:latin typeface="Arial"/>
                <a:ea typeface="微軟正黑體"/>
                <a:cs typeface="Arial"/>
              </a:rPr>
              <a:t>Flask-WTF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時：</a:t>
            </a:r>
            <a:endParaRPr lang="en-US" altLang="zh-TW" sz="3400" b="0">
              <a:latin typeface="Arial"/>
              <a:ea typeface="微軟正黑體"/>
              <a:cs typeface="Arial"/>
            </a:endParaRPr>
          </a:p>
          <a:p>
            <a:pPr marL="878852" lvl="1" indent="-421640"/>
            <a:r>
              <a:rPr lang="en-US" altLang="zh-TW" sz="2908" b="0">
                <a:latin typeface="Arial"/>
                <a:ea typeface="微軟正黑體"/>
                <a:cs typeface="Arial"/>
              </a:rPr>
              <a:t>Web</a:t>
            </a:r>
            <a:r>
              <a:rPr lang="zh-TW" altLang="en-US" sz="2908" b="0">
                <a:latin typeface="Arial"/>
                <a:ea typeface="微軟正黑體"/>
                <a:cs typeface="Arial"/>
              </a:rPr>
              <a:t>表單內容由繼承了</a:t>
            </a:r>
            <a:r>
              <a:rPr lang="en-US" altLang="zh-TW" sz="2908" b="0" err="1">
                <a:latin typeface="Arial"/>
                <a:ea typeface="微軟正黑體"/>
                <a:cs typeface="Arial"/>
              </a:rPr>
              <a:t>FlaskForm</a:t>
            </a:r>
            <a:r>
              <a:rPr lang="zh-TW" altLang="en-US" sz="2908" b="0">
                <a:latin typeface="Arial"/>
                <a:ea typeface="微軟正黑體"/>
                <a:cs typeface="Arial"/>
              </a:rPr>
              <a:t>類別的子類別設定而成。</a:t>
            </a:r>
            <a:endParaRPr lang="en-US" altLang="zh-TW" sz="2908" b="0">
              <a:latin typeface="Arial"/>
              <a:ea typeface="微軟正黑體"/>
              <a:cs typeface="Arial"/>
            </a:endParaRPr>
          </a:p>
          <a:p>
            <a:pPr marL="878852" lvl="1" indent="-421640"/>
            <a:r>
              <a:rPr lang="zh-TW" altLang="en-US" sz="2908" b="0">
                <a:latin typeface="Arial"/>
                <a:ea typeface="微軟正黑體"/>
                <a:cs typeface="Arial"/>
              </a:rPr>
              <a:t>該類別定義表單中的欄位，每個欄位都是一個</a:t>
            </a:r>
            <a:r>
              <a:rPr lang="en-US" altLang="zh-TW" sz="2908" b="0">
                <a:latin typeface="Arial"/>
                <a:ea typeface="微軟正黑體"/>
                <a:cs typeface="Arial"/>
              </a:rPr>
              <a:t>WTF-Form</a:t>
            </a:r>
            <a:r>
              <a:rPr lang="zh-TW" altLang="en-US" sz="2908" b="0">
                <a:latin typeface="Arial"/>
                <a:ea typeface="微軟正黑體"/>
                <a:cs typeface="Arial"/>
              </a:rPr>
              <a:t>物件。   </a:t>
            </a:r>
            <a:endParaRPr lang="en-US" altLang="zh-TW" sz="2908" b="0">
              <a:latin typeface="Arial"/>
              <a:ea typeface="微軟正黑體"/>
              <a:cs typeface="Arial"/>
            </a:endParaRPr>
          </a:p>
          <a:p>
            <a:pPr marL="878852" lvl="1" indent="-421640"/>
            <a:r>
              <a:rPr lang="zh-TW" altLang="en-US" sz="2908" b="0">
                <a:latin typeface="Arial"/>
                <a:ea typeface="微軟正黑體"/>
                <a:cs typeface="Arial"/>
              </a:rPr>
              <a:t>每個欄位可以附加一個或多個驗證器。</a:t>
            </a:r>
            <a:endParaRPr lang="zh-TW" sz="2908" b="0">
              <a:latin typeface="Arial"/>
              <a:ea typeface="微軟正黑體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546856-75C1-4FF9-9280-E79DD2FF1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520" y="3739126"/>
            <a:ext cx="8343199" cy="196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6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D2BB24-14E3-41D3-B991-12AF06E1B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WTForms</a:t>
            </a:r>
            <a:r>
              <a:rPr lang="en-US" altLang="zh-TW"/>
              <a:t>-validators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F3E4E4D-704F-4844-961C-2721CEF05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9" y="2635206"/>
            <a:ext cx="11981922" cy="189771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F2A9AEA-F084-422E-8118-6A0D08DB67C7}"/>
              </a:ext>
            </a:extLst>
          </p:cNvPr>
          <p:cNvSpPr txBox="1"/>
          <p:nvPr/>
        </p:nvSpPr>
        <p:spPr>
          <a:xfrm>
            <a:off x="2999913" y="4532921"/>
            <a:ext cx="6192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https://wtforms.readthedocs.io/en/2.3.x/validators/?highlight=validators#module-wtforms.validators</a:t>
            </a:r>
          </a:p>
        </p:txBody>
      </p:sp>
    </p:spTree>
    <p:extLst>
      <p:ext uri="{BB962C8B-B14F-4D97-AF65-F5344CB8AC3E}">
        <p14:creationId xmlns:p14="http://schemas.microsoft.com/office/powerpoint/2010/main" val="2742842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WTF_form</a:t>
            </a:r>
            <a:endParaRPr lang="en-US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6D046E-31BA-4E65-9370-6ACBCD291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400" b="0">
                <a:latin typeface="Arial"/>
                <a:ea typeface="微軟正黑體"/>
                <a:cs typeface="Arial"/>
                <a:hlinkClick r:id="rId3"/>
              </a:rPr>
              <a:t>Flask-WTF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套件令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使</a:t>
            </a:r>
            <a:r>
              <a:rPr lang="zh-TW" sz="3400" b="0">
                <a:latin typeface="Arial"/>
                <a:ea typeface="微軟正黑體"/>
                <a:cs typeface="Arial"/>
              </a:rPr>
              <a:t>用Web表單的處理更加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輕鬆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  <a:br>
              <a:rPr lang="zh-TW" altLang="en-US" sz="3400" b="0">
                <a:latin typeface="Arial"/>
                <a:ea typeface="微軟正黑體"/>
                <a:cs typeface="Arial"/>
              </a:rPr>
            </a:br>
            <a:r>
              <a:rPr lang="en-US" altLang="zh-TW" sz="3400" b="0">
                <a:latin typeface="Arial"/>
                <a:ea typeface="微軟正黑體"/>
                <a:cs typeface="Arial"/>
              </a:rPr>
              <a:t>Flask-</a:t>
            </a:r>
            <a:r>
              <a:rPr lang="en-US" altLang="zh-TW" sz="3400" b="0" err="1">
                <a:latin typeface="Arial"/>
                <a:ea typeface="微軟正黑體"/>
                <a:cs typeface="Arial"/>
              </a:rPr>
              <a:t>WTF是一個整合套件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，包含了無關特定</a:t>
            </a:r>
            <a:r>
              <a:rPr lang="zh-TW" sz="3400" b="0">
                <a:latin typeface="Arial"/>
                <a:ea typeface="微軟正黑體"/>
                <a:cs typeface="Arial"/>
              </a:rPr>
              <a:t>框架的</a:t>
            </a:r>
            <a:r>
              <a:rPr lang="en-US" altLang="zh-TW" sz="3400" b="0">
                <a:latin typeface="Arial"/>
                <a:ea typeface="微軟正黑體"/>
                <a:cs typeface="Arial"/>
                <a:hlinkClick r:id="rId4"/>
              </a:rPr>
              <a:t>WTF</a:t>
            </a:r>
            <a:r>
              <a:rPr lang="zh-TW" sz="3400" b="0">
                <a:latin typeface="Arial"/>
                <a:ea typeface="微軟正黑體"/>
                <a:cs typeface="Arial"/>
                <a:hlinkClick r:id="rId4"/>
              </a:rPr>
              <a:t>orms</a:t>
            </a:r>
            <a:r>
              <a:rPr lang="zh-TW" altLang="en-US" sz="3400" b="0">
                <a:latin typeface="Arial"/>
                <a:ea typeface="微軟正黑體"/>
                <a:cs typeface="Arial"/>
              </a:rPr>
              <a:t>套件</a:t>
            </a:r>
            <a:r>
              <a:rPr lang="zh-TW" sz="3400" b="0">
                <a:latin typeface="Arial"/>
                <a:ea typeface="微軟正黑體"/>
                <a:cs typeface="Arial"/>
              </a:rPr>
              <a:t>。</a:t>
            </a:r>
            <a:endParaRPr lang="zh-TW" sz="3400"/>
          </a:p>
          <a:p>
            <a:pPr marL="878840" lvl="1" indent="-433705"/>
            <a:r>
              <a:rPr lang="en-US" altLang="zh-TW" sz="2950">
                <a:latin typeface="Arial"/>
                <a:ea typeface="微軟正黑體"/>
                <a:cs typeface="Arial"/>
              </a:rPr>
              <a:t>pip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>
                <a:latin typeface="Arial"/>
                <a:ea typeface="微軟正黑體"/>
                <a:cs typeface="Arial"/>
              </a:rPr>
              <a:t>install</a:t>
            </a:r>
            <a:r>
              <a:rPr lang="zh-TW" altLang="en-US" sz="295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950">
                <a:latin typeface="Arial"/>
                <a:ea typeface="微軟正黑體"/>
                <a:cs typeface="Arial"/>
              </a:rPr>
              <a:t>flask-wtf</a:t>
            </a:r>
          </a:p>
          <a:p>
            <a:pPr marL="421005" indent="-433705"/>
            <a:r>
              <a:rPr lang="en-US" altLang="zh-TW" sz="3442" b="0">
                <a:latin typeface="Arial"/>
                <a:ea typeface="微軟正黑體"/>
                <a:cs typeface="Arial"/>
              </a:rPr>
              <a:t>flask-wtf</a:t>
            </a:r>
            <a:r>
              <a:rPr lang="zh-TW" altLang="en-US" sz="3442" b="0">
                <a:latin typeface="Arial"/>
                <a:ea typeface="微軟正黑體"/>
                <a:cs typeface="Arial"/>
              </a:rPr>
              <a:t>設置     </a:t>
            </a:r>
            <a:endParaRPr lang="en-US" altLang="zh-TW" sz="3442" b="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950" b="0">
                <a:latin typeface="Arial"/>
                <a:ea typeface="微軟正黑體"/>
                <a:cs typeface="Arial"/>
              </a:rPr>
              <a:t>Flask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使用密鑰來保護用戶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session</a:t>
            </a:r>
            <a:r>
              <a:rPr lang="zh-TW" altLang="en-US" sz="2950" b="0">
                <a:latin typeface="Arial"/>
                <a:ea typeface="微軟正黑體"/>
                <a:cs typeface="Arial"/>
              </a:rPr>
              <a:t>的內容免遭篡改</a:t>
            </a:r>
            <a:r>
              <a:rPr lang="en-US" altLang="zh-TW" sz="2950" b="0">
                <a:latin typeface="Arial"/>
                <a:ea typeface="微軟正黑體"/>
                <a:cs typeface="Arial"/>
              </a:rPr>
              <a:t>(CSRF)</a:t>
            </a:r>
          </a:p>
          <a:p>
            <a:pPr marL="878840" lvl="1" indent="-433705"/>
            <a:r>
              <a:rPr lang="en-US" altLang="zh-TW" sz="2950" err="1">
                <a:latin typeface="Arial"/>
                <a:ea typeface="微軟正黑體"/>
                <a:cs typeface="Arial"/>
              </a:rPr>
              <a:t>app.config</a:t>
            </a:r>
            <a:r>
              <a:rPr lang="en-US" altLang="zh-TW" sz="2950">
                <a:latin typeface="Arial"/>
                <a:ea typeface="微軟正黑體"/>
                <a:cs typeface="Arial"/>
              </a:rPr>
              <a:t>['SECRET_KEY'] = 'hard to guess string'</a:t>
            </a:r>
            <a:endParaRPr lang="zh-TW" sz="295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sz="3400" b="0"/>
          </a:p>
          <a:p>
            <a:pPr marL="445135" lvl="1" indent="0">
              <a:buClr>
                <a:srgbClr val="42BBC6"/>
              </a:buClr>
              <a:buNone/>
            </a:pPr>
            <a:endParaRPr lang="en-US" altLang="zh-TW" sz="3400" b="0"/>
          </a:p>
          <a:p>
            <a:pPr marL="421640" indent="-421640"/>
            <a:endParaRPr lang="zh-TW" sz="3400" b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054DA7-CC44-4608-A55E-6D3A100F79D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7191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DAD7BD-61A6-45AF-B9FF-59E9D81C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err="1"/>
              <a:t>WTForms</a:t>
            </a:r>
            <a:r>
              <a:rPr lang="en-US" altLang="zh-TW"/>
              <a:t>-Fields</a:t>
            </a:r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CA675AE-BDCE-4FA1-BD1B-66D1D2741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93" y="764704"/>
            <a:ext cx="5355670" cy="528438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252F6715-C0B5-446D-AA66-CF4C1CA3902A}"/>
              </a:ext>
            </a:extLst>
          </p:cNvPr>
          <p:cNvSpPr txBox="1"/>
          <p:nvPr/>
        </p:nvSpPr>
        <p:spPr>
          <a:xfrm>
            <a:off x="1873189" y="6093296"/>
            <a:ext cx="8592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https://wtforms.readthedocs.io/en/2.3.x/fields/?highlight=radiofield#basic-fields</a:t>
            </a:r>
          </a:p>
        </p:txBody>
      </p:sp>
    </p:spTree>
    <p:extLst>
      <p:ext uri="{BB962C8B-B14F-4D97-AF65-F5344CB8AC3E}">
        <p14:creationId xmlns:p14="http://schemas.microsoft.com/office/powerpoint/2010/main" val="3810222079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Application>Microsoft Office PowerPoint</Application>
  <PresentationFormat>寬螢幕</PresentationFormat>
  <Slides>8</Slides>
  <Notes>5</Notes>
  <HiddenSlides>0</HiddenSlide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2019簡報範本_light</vt:lpstr>
      <vt:lpstr>web表單與檔案上傳</vt:lpstr>
      <vt:lpstr>web form</vt:lpstr>
      <vt:lpstr>檔案上傳</vt:lpstr>
      <vt:lpstr>檔案下載</vt:lpstr>
      <vt:lpstr>Flask-WTF — Form Classes</vt:lpstr>
      <vt:lpstr>WTForms-validators</vt:lpstr>
      <vt:lpstr>WTF_form</vt:lpstr>
      <vt:lpstr>WTForms-Fields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revision>26</cp:revision>
  <cp:lastPrinted>2019-04-29T05:54:36Z</cp:lastPrinted>
  <dcterms:created xsi:type="dcterms:W3CDTF">2019-04-17T09:27:11Z</dcterms:created>
  <dcterms:modified xsi:type="dcterms:W3CDTF">2026-06-09T12:35:54Z</dcterms:modified>
  <cp:category>淺色</cp:category>
</cp:coreProperties>
</file>