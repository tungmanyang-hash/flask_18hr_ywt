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331" r:id="rId2"/>
    <p:sldId id="417" r:id="rId3"/>
    <p:sldId id="418" r:id="rId4"/>
    <p:sldId id="419" r:id="rId5"/>
    <p:sldId id="399" r:id="rId6"/>
    <p:sldId id="421" r:id="rId7"/>
    <p:sldId id="420" r:id="rId8"/>
    <p:sldId id="423" r:id="rId9"/>
    <p:sldId id="416" r:id="rId10"/>
    <p:sldId id="413" r:id="rId11"/>
    <p:sldId id="400" r:id="rId12"/>
    <p:sldId id="401" r:id="rId13"/>
    <p:sldId id="411" r:id="rId14"/>
    <p:sldId id="402" r:id="rId15"/>
    <p:sldId id="403" r:id="rId16"/>
    <p:sldId id="414" r:id="rId17"/>
    <p:sldId id="412" r:id="rId18"/>
    <p:sldId id="415" r:id="rId19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2570D-A856-37F3-113B-55B376B399EE}" v="2" dt="2026-06-07T07:26:00.115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昱維 曹" userId="611d57ab1da5f08a" providerId="Windows Live" clId="Web-{83C2570D-A856-37F3-113B-55B376B399EE}"/>
    <pc:docChg chg="addSld delSld">
      <pc:chgData name="昱維 曹" userId="611d57ab1da5f08a" providerId="Windows Live" clId="Web-{83C2570D-A856-37F3-113B-55B376B399EE}" dt="2026-06-07T07:26:00.115" v="1"/>
      <pc:docMkLst>
        <pc:docMk/>
      </pc:docMkLst>
      <pc:sldChg chg="new del">
        <pc:chgData name="昱維 曹" userId="611d57ab1da5f08a" providerId="Windows Live" clId="Web-{83C2570D-A856-37F3-113B-55B376B399EE}" dt="2026-06-07T07:26:00.115" v="1"/>
        <pc:sldMkLst>
          <pc:docMk/>
          <pc:sldMk cId="2423776535" sldId="4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098573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639369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258376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http://violin-tao.blogspot.com/2017/07/ml-backpropagation.html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hlinkClick r:id="rId4"/>
              </a:rPr>
              <a:t>https://www.zhihu.com/question/27239198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zh-TW" altLang="en-US" sz="120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1656891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>
                <a:latin typeface="Arial"/>
                <a:ea typeface="微軟正黑體"/>
                <a:cs typeface="Arial"/>
              </a:rPr>
              <a:t>Statements</a:t>
            </a:r>
            <a:r>
              <a:rPr lang="zh-TW" altLang="en-US" sz="1200" b="0">
                <a:latin typeface="Arial"/>
                <a:ea typeface="微軟正黑體"/>
                <a:cs typeface="Arial"/>
              </a:rPr>
              <a:t> 陳述句</a:t>
            </a:r>
            <a:endParaRPr lang="en-US" altLang="zh-TW" sz="1200" b="0">
              <a:latin typeface="Arial"/>
              <a:ea typeface="微軟正黑體"/>
              <a:cs typeface="Arial"/>
            </a:endParaRPr>
          </a:p>
          <a:p>
            <a:r>
              <a:rPr lang="en-US" altLang="zh-TW" sz="1200" b="0">
                <a:latin typeface="Arial"/>
                <a:ea typeface="微軟正黑體"/>
                <a:cs typeface="Arial"/>
              </a:rPr>
              <a:t>Expressions</a:t>
            </a:r>
            <a:r>
              <a:rPr lang="zh-TW" altLang="en-US" sz="1200" b="0">
                <a:latin typeface="Arial"/>
                <a:ea typeface="微軟正黑體"/>
                <a:cs typeface="Arial"/>
              </a:rPr>
              <a:t> 表達式</a:t>
            </a: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6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http://violin-tao.blogspot.com/2017/07/ml-backpropagation.html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hlinkClick r:id="rId4"/>
              </a:rPr>
              <a:t>https://www.zhihu.com/question/27239198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zh-TW" altLang="en-US" sz="120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3760121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31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118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696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75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+mj-lt"/>
                <a:cs typeface="+mj-lt"/>
              </a:rPr>
              <a:t>Template-1</a:t>
            </a:r>
            <a:endParaRPr lang="en-US" altLang="en-US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2DA2C703-A167-4210-833B-EAD63CF53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>
                <a:solidFill>
                  <a:srgbClr val="0000FF"/>
                </a:solidFill>
                <a:latin typeface="Georgia"/>
                <a:ea typeface="標楷體"/>
              </a:rPr>
              <a:t>Module 04</a:t>
            </a:r>
            <a:endParaRPr lang="zh-TW" altLang="zh-TW" sz="2400" i="1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CBF416-912C-21D8-1579-80B3D216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</a:rPr>
              <a:t>Template </a:t>
            </a:r>
            <a:r>
              <a:rPr lang="zh-TW" altLang="en-US">
                <a:ea typeface="+mj-lt"/>
              </a:rPr>
              <a:t>簡介</a:t>
            </a:r>
            <a:endParaRPr lang="zh-TW" b="0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46A879-5C04-5493-902A-0193FCAB5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b="0">
                <a:latin typeface="Arial"/>
                <a:cs typeface="Arial"/>
              </a:rPr>
              <a:t>有一個正在網站上註冊新帳戶的用戶。 用戶在Web表單中輸入電子郵件地址和密碼，然後點擊“提交”按鈕。</a:t>
            </a:r>
            <a:endParaRPr lang="zh-TW" altLang="en-US"/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2603493F-FE68-C9CE-D234-E7AA80F88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790" y="2261351"/>
            <a:ext cx="3523785" cy="1331686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6" name="圖片 6">
            <a:extLst>
              <a:ext uri="{FF2B5EF4-FFF2-40B4-BE49-F238E27FC236}">
                <a16:creationId xmlns:a16="http://schemas.microsoft.com/office/drawing/2014/main" id="{5A29C37F-1D15-6B28-73CE-5B7DD1C4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790" y="4609479"/>
            <a:ext cx="3523785" cy="1216725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7" name="圖片 7">
            <a:extLst>
              <a:ext uri="{FF2B5EF4-FFF2-40B4-BE49-F238E27FC236}">
                <a16:creationId xmlns:a16="http://schemas.microsoft.com/office/drawing/2014/main" id="{52B7BAEC-2CD0-A8F0-8B87-258166BA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9" y="2865138"/>
            <a:ext cx="4332248" cy="2252137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A5F34B0-A95B-FD71-10DD-F6989DF2C37A}"/>
              </a:ext>
            </a:extLst>
          </p:cNvPr>
          <p:cNvCxnSpPr/>
          <p:nvPr/>
        </p:nvCxnSpPr>
        <p:spPr>
          <a:xfrm flipV="1">
            <a:off x="5487793" y="2898852"/>
            <a:ext cx="1602058" cy="12972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D64A748-7B4D-934E-AC4C-2672326148AD}"/>
              </a:ext>
            </a:extLst>
          </p:cNvPr>
          <p:cNvCxnSpPr>
            <a:cxnSpLocks/>
          </p:cNvCxnSpPr>
          <p:nvPr/>
        </p:nvCxnSpPr>
        <p:spPr>
          <a:xfrm>
            <a:off x="5450622" y="4205404"/>
            <a:ext cx="1639230" cy="107237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67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CBF416-912C-21D8-1579-80B3D216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</a:rPr>
              <a:t>Template </a:t>
            </a:r>
            <a:r>
              <a:rPr lang="zh-TW" altLang="en-US">
                <a:ea typeface="+mj-lt"/>
              </a:rPr>
              <a:t>簡介</a:t>
            </a:r>
            <a:endParaRPr lang="zh-TW" b="0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46A879-5C04-5493-902A-0193FCAB5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2400" b="0">
                <a:latin typeface="Arial"/>
                <a:ea typeface="微軟正黑體"/>
                <a:cs typeface="Arial"/>
              </a:rPr>
              <a:t>在伺服器上，Flask將帶有用戶輸入的數據的</a:t>
            </a:r>
            <a:r>
              <a:rPr lang="en-US" altLang="zh-TW" sz="2400" b="0">
                <a:latin typeface="Arial"/>
                <a:ea typeface="微軟正黑體"/>
                <a:cs typeface="Arial"/>
              </a:rPr>
              <a:t>request</a:t>
            </a:r>
            <a:r>
              <a:rPr lang="zh-TW" sz="2400" b="0">
                <a:latin typeface="Arial"/>
                <a:ea typeface="微軟正黑體"/>
                <a:cs typeface="Arial"/>
              </a:rPr>
              <a:t>分派到處理註冊流程的vi</a:t>
            </a:r>
            <a:r>
              <a:rPr lang="en-US" altLang="zh-TW" sz="2400" b="0" err="1">
                <a:latin typeface="Arial"/>
                <a:ea typeface="微軟正黑體"/>
                <a:cs typeface="Arial"/>
              </a:rPr>
              <a:t>ew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函數</a:t>
            </a:r>
            <a:r>
              <a:rPr lang="zh-TW" sz="2400" b="0">
                <a:latin typeface="Arial"/>
                <a:ea typeface="微軟正黑體"/>
                <a:cs typeface="Arial"/>
              </a:rPr>
              <a:t>。</a:t>
            </a:r>
          </a:p>
          <a:p>
            <a:pPr marL="421640" indent="-421640"/>
            <a:r>
              <a:rPr lang="zh-TW" altLang="en-US" sz="2400" b="0">
                <a:latin typeface="Arial"/>
                <a:ea typeface="微軟正黑體"/>
                <a:cs typeface="Arial"/>
              </a:rPr>
              <a:t>此</a:t>
            </a:r>
            <a:r>
              <a:rPr lang="en-US" altLang="zh-TW" sz="2400" b="0">
                <a:latin typeface="Arial"/>
                <a:ea typeface="微軟正黑體"/>
                <a:cs typeface="Arial"/>
              </a:rPr>
              <a:t>view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函數需要</a:t>
            </a:r>
            <a:r>
              <a:rPr lang="zh-TW" altLang="en-US" sz="2400" b="0">
                <a:solidFill>
                  <a:srgbClr val="00B0F0"/>
                </a:solidFill>
                <a:latin typeface="Arial"/>
                <a:ea typeface="微軟正黑體"/>
                <a:cs typeface="Arial"/>
              </a:rPr>
              <a:t>與資料庫連接並選擇適當的表格以添加新用戶</a:t>
            </a:r>
            <a:endParaRPr lang="zh-TW" sz="2400" b="0">
              <a:solidFill>
                <a:srgbClr val="00B0F0"/>
              </a:solidFill>
              <a:latin typeface="Arial"/>
              <a:ea typeface="微軟正黑體"/>
              <a:cs typeface="Arial"/>
            </a:endParaRPr>
          </a:p>
        </p:txBody>
      </p:sp>
      <p:pic>
        <p:nvPicPr>
          <p:cNvPr id="7" name="圖片 7">
            <a:extLst>
              <a:ext uri="{FF2B5EF4-FFF2-40B4-BE49-F238E27FC236}">
                <a16:creationId xmlns:a16="http://schemas.microsoft.com/office/drawing/2014/main" id="{52B7BAEC-2CD0-A8F0-8B87-258166BA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91" y="2642113"/>
            <a:ext cx="3217126" cy="1657405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4" name="箭號: 彎曲 13">
            <a:extLst>
              <a:ext uri="{FF2B5EF4-FFF2-40B4-BE49-F238E27FC236}">
                <a16:creationId xmlns:a16="http://schemas.microsoft.com/office/drawing/2014/main" id="{CE18BB4B-9F14-F0DB-CCB5-60B1D818A0AB}"/>
              </a:ext>
            </a:extLst>
          </p:cNvPr>
          <p:cNvSpPr/>
          <p:nvPr/>
        </p:nvSpPr>
        <p:spPr>
          <a:xfrm rot="5400000">
            <a:off x="4196456" y="2812291"/>
            <a:ext cx="1231986" cy="1509875"/>
          </a:xfrm>
          <a:prstGeom prst="ben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0506CA5-57B1-01BE-35A8-7F6A25DFF0F2}"/>
              </a:ext>
            </a:extLst>
          </p:cNvPr>
          <p:cNvGrpSpPr/>
          <p:nvPr/>
        </p:nvGrpSpPr>
        <p:grpSpPr>
          <a:xfrm>
            <a:off x="421888" y="2429107"/>
            <a:ext cx="10643294" cy="4278761"/>
            <a:chOff x="421888" y="2429107"/>
            <a:chExt cx="10643294" cy="4278761"/>
          </a:xfrm>
        </p:grpSpPr>
        <p:pic>
          <p:nvPicPr>
            <p:cNvPr id="4" name="圖片 7" descr="一張含有 文字 的圖片&#10;&#10;自動產生的描述">
              <a:extLst>
                <a:ext uri="{FF2B5EF4-FFF2-40B4-BE49-F238E27FC236}">
                  <a16:creationId xmlns:a16="http://schemas.microsoft.com/office/drawing/2014/main" id="{E126366E-4803-F5EA-1209-EC561ABC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888" y="4359285"/>
              <a:ext cx="6367345" cy="1986599"/>
            </a:xfrm>
            <a:prstGeom prst="rect">
              <a:avLst/>
            </a:prstGeom>
          </p:spPr>
        </p:pic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F5A1F4E6-11C7-AC99-89BD-1F337CED6E79}"/>
                </a:ext>
              </a:extLst>
            </p:cNvPr>
            <p:cNvGrpSpPr/>
            <p:nvPr/>
          </p:nvGrpSpPr>
          <p:grpSpPr>
            <a:xfrm>
              <a:off x="8730475" y="2429107"/>
              <a:ext cx="2014398" cy="2141446"/>
              <a:chOff x="8702597" y="1425497"/>
              <a:chExt cx="2014398" cy="2141446"/>
            </a:xfrm>
          </p:grpSpPr>
          <p:pic>
            <p:nvPicPr>
              <p:cNvPr id="8" name="圖片 8">
                <a:extLst>
                  <a:ext uri="{FF2B5EF4-FFF2-40B4-BE49-F238E27FC236}">
                    <a16:creationId xmlns:a16="http://schemas.microsoft.com/office/drawing/2014/main" id="{89F62BE2-17F1-C9DB-B0AF-A4ED243BCA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4595" y="1425497"/>
                <a:ext cx="1823226" cy="1823225"/>
              </a:xfrm>
              <a:prstGeom prst="rect">
                <a:avLst/>
              </a:prstGeom>
            </p:spPr>
          </p:pic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5E20B0A-FD34-1E30-63B4-CB6B397F02B9}"/>
                  </a:ext>
                </a:extLst>
              </p:cNvPr>
              <p:cNvSpPr txBox="1"/>
              <p:nvPr/>
            </p:nvSpPr>
            <p:spPr>
              <a:xfrm>
                <a:off x="8702597" y="3197611"/>
                <a:ext cx="2014398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zh-TW" altLang="en-US">
                    <a:solidFill>
                      <a:schemeClr val="tx1">
                        <a:lumMod val="75000"/>
                      </a:schemeClr>
                    </a:solidFill>
                    <a:cs typeface="Arial"/>
                  </a:rPr>
                  <a:t>Table for VIP user</a:t>
                </a:r>
                <a:endParaRPr lang="zh-TW" altLang="en-US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A2CBE998-55E8-39DD-E518-6605B0405F51}"/>
                </a:ext>
              </a:extLst>
            </p:cNvPr>
            <p:cNvGrpSpPr/>
            <p:nvPr/>
          </p:nvGrpSpPr>
          <p:grpSpPr>
            <a:xfrm>
              <a:off x="8674719" y="4612887"/>
              <a:ext cx="2390463" cy="2094981"/>
              <a:chOff x="8256548" y="4064619"/>
              <a:chExt cx="2390463" cy="2094981"/>
            </a:xfrm>
          </p:grpSpPr>
          <p:pic>
            <p:nvPicPr>
              <p:cNvPr id="9" name="圖片 8">
                <a:extLst>
                  <a:ext uri="{FF2B5EF4-FFF2-40B4-BE49-F238E27FC236}">
                    <a16:creationId xmlns:a16="http://schemas.microsoft.com/office/drawing/2014/main" id="{23B0B455-3351-4F45-4EF5-B295B16E3B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425" y="4064619"/>
                <a:ext cx="1823226" cy="1823226"/>
              </a:xfrm>
              <a:prstGeom prst="rect">
                <a:avLst/>
              </a:prstGeom>
            </p:spPr>
          </p:pic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5737783-8CC4-877B-010D-4FEE3A48A2EB}"/>
                  </a:ext>
                </a:extLst>
              </p:cNvPr>
              <p:cNvSpPr txBox="1"/>
              <p:nvPr/>
            </p:nvSpPr>
            <p:spPr>
              <a:xfrm>
                <a:off x="8256548" y="5790268"/>
                <a:ext cx="2390463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zh-TW" altLang="en-US">
                    <a:solidFill>
                      <a:schemeClr val="tx1">
                        <a:lumMod val="75000"/>
                      </a:schemeClr>
                    </a:solidFill>
                    <a:cs typeface="Arial"/>
                  </a:rPr>
                  <a:t>Table for Normal user</a:t>
                </a:r>
                <a:endParaRPr lang="zh-TW" altLang="en-US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F072BAD2-5B44-71D5-F8E6-F8FD421C0DC7}"/>
                </a:ext>
              </a:extLst>
            </p:cNvPr>
            <p:cNvCxnSpPr/>
            <p:nvPr/>
          </p:nvCxnSpPr>
          <p:spPr>
            <a:xfrm flipV="1">
              <a:off x="6770184" y="3428535"/>
              <a:ext cx="1936594" cy="155745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43913776-3FF7-AA09-EEAF-633F66D379B4}"/>
                </a:ext>
              </a:extLst>
            </p:cNvPr>
            <p:cNvCxnSpPr>
              <a:cxnSpLocks/>
            </p:cNvCxnSpPr>
            <p:nvPr/>
          </p:nvCxnSpPr>
          <p:spPr>
            <a:xfrm>
              <a:off x="6751598" y="4995282"/>
              <a:ext cx="1918010" cy="44047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419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CBF416-912C-21D8-1579-80B3D216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</a:rPr>
              <a:t>Template </a:t>
            </a:r>
            <a:r>
              <a:rPr lang="zh-TW" altLang="en-US">
                <a:ea typeface="+mj-lt"/>
              </a:rPr>
              <a:t>簡介</a:t>
            </a:r>
            <a:endParaRPr lang="zh-TW" b="0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46A879-5C04-5493-902A-0193FCAB5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然後</a:t>
            </a:r>
            <a:r>
              <a:rPr lang="zh-TW" b="0">
                <a:latin typeface="Arial"/>
                <a:ea typeface="微軟正黑體"/>
                <a:cs typeface="Arial"/>
              </a:rPr>
              <a:t>生</a:t>
            </a:r>
            <a:r>
              <a:rPr lang="zh-TW" altLang="en-US" b="0">
                <a:latin typeface="Arial"/>
                <a:ea typeface="微軟正黑體"/>
                <a:cs typeface="Arial"/>
              </a:rPr>
              <a:t>成包含成</a:t>
            </a:r>
            <a:r>
              <a:rPr lang="zh-TW" b="0">
                <a:latin typeface="Arial"/>
                <a:ea typeface="微軟正黑體"/>
                <a:cs typeface="Arial"/>
              </a:rPr>
              <a:t>功或失敗消息的</a:t>
            </a:r>
            <a:r>
              <a:rPr lang="en-US" altLang="zh-TW" b="0">
                <a:latin typeface="Arial"/>
                <a:ea typeface="微軟正黑體"/>
                <a:cs typeface="Arial"/>
              </a:rPr>
              <a:t>response</a:t>
            </a:r>
            <a:r>
              <a:rPr lang="zh-TW" altLang="en-US" b="0">
                <a:latin typeface="Arial"/>
                <a:ea typeface="微軟正黑體"/>
                <a:cs typeface="Arial"/>
              </a:rPr>
              <a:t>以發送回瀏覽器</a:t>
            </a:r>
            <a:r>
              <a:rPr lang="zh-TW" b="0">
                <a:latin typeface="Arial"/>
                <a:ea typeface="微軟正黑體"/>
                <a:cs typeface="Arial"/>
              </a:rPr>
              <a:t>。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A0520360-AFEA-1545-3585-A4545C3C3C1E}"/>
              </a:ext>
            </a:extLst>
          </p:cNvPr>
          <p:cNvGrpSpPr/>
          <p:nvPr/>
        </p:nvGrpSpPr>
        <p:grpSpPr>
          <a:xfrm>
            <a:off x="245327" y="2177717"/>
            <a:ext cx="11506199" cy="3564853"/>
            <a:chOff x="245327" y="2177717"/>
            <a:chExt cx="11506199" cy="3564853"/>
          </a:xfrm>
        </p:grpSpPr>
        <p:pic>
          <p:nvPicPr>
            <p:cNvPr id="4" name="圖片 7" descr="一張含有 文字 的圖片&#10;&#10;自動產生的描述">
              <a:extLst>
                <a:ext uri="{FF2B5EF4-FFF2-40B4-BE49-F238E27FC236}">
                  <a16:creationId xmlns:a16="http://schemas.microsoft.com/office/drawing/2014/main" id="{E126366E-4803-F5EA-1209-EC561ABC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5327" y="2993261"/>
              <a:ext cx="6367345" cy="1986599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878FCEFE-06F8-7C92-DF54-DD5F9D2AF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7741" y="2177717"/>
              <a:ext cx="3523785" cy="1331686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127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8" name="圖片 6">
              <a:extLst>
                <a:ext uri="{FF2B5EF4-FFF2-40B4-BE49-F238E27FC236}">
                  <a16:creationId xmlns:a16="http://schemas.microsoft.com/office/drawing/2014/main" id="{961BA8A1-8721-6726-853C-C61B18847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7741" y="4525845"/>
              <a:ext cx="3523785" cy="1216725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127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8E9B3B55-3DD8-99B5-6250-140FC285BA15}"/>
                </a:ext>
              </a:extLst>
            </p:cNvPr>
            <p:cNvCxnSpPr/>
            <p:nvPr/>
          </p:nvCxnSpPr>
          <p:spPr>
            <a:xfrm flipV="1">
              <a:off x="5524964" y="2815218"/>
              <a:ext cx="2642838" cy="140877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BA1B4A4D-07AC-524B-EFF6-355B58EB64C9}"/>
                </a:ext>
              </a:extLst>
            </p:cNvPr>
            <p:cNvCxnSpPr>
              <a:cxnSpLocks/>
            </p:cNvCxnSpPr>
            <p:nvPr/>
          </p:nvCxnSpPr>
          <p:spPr>
            <a:xfrm>
              <a:off x="5143964" y="4790843"/>
              <a:ext cx="2930912" cy="48693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89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  <a:cs typeface="+mj-lt"/>
              </a:rPr>
              <a:t>Template 簡介</a:t>
            </a:r>
            <a:endParaRPr lang="en-US" altLang="zh-TW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E79371-9F01-4287-820D-B77AAA2F0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zh-TW" altLang="en-US" sz="3400" b="0">
                <a:latin typeface="Arial"/>
                <a:ea typeface="微軟正黑體"/>
                <a:cs typeface="Arial"/>
              </a:rPr>
              <a:t>有一個正在網站上註冊新帳戶的用戶。 用戶在Web表單中輸入</a:t>
            </a:r>
            <a:r>
              <a:rPr lang="zh-TW" sz="3400" b="0">
                <a:latin typeface="Arial"/>
                <a:ea typeface="微軟正黑體"/>
                <a:cs typeface="Arial"/>
              </a:rPr>
              <a:t>電子郵件地址和密碼，然後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點擊</a:t>
            </a:r>
            <a:r>
              <a:rPr lang="zh-TW" sz="3400" b="0">
                <a:latin typeface="Arial"/>
                <a:ea typeface="微軟正黑體"/>
                <a:cs typeface="Arial"/>
              </a:rPr>
              <a:t>“提交”按鈕。</a:t>
            </a:r>
            <a:endParaRPr lang="zh-TW" altLang="en-US" sz="3400">
              <a:latin typeface="Arial"/>
              <a:ea typeface="微軟正黑體"/>
              <a:cs typeface="Arial"/>
            </a:endParaRPr>
          </a:p>
          <a:p>
            <a:pPr marL="0" indent="0">
              <a:buNone/>
            </a:pPr>
            <a:r>
              <a:rPr lang="zh-TW" sz="3400" b="0">
                <a:latin typeface="Arial"/>
                <a:ea typeface="微軟正黑體"/>
                <a:cs typeface="Arial"/>
              </a:rPr>
              <a:t>在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伺服</a:t>
            </a:r>
            <a:r>
              <a:rPr lang="zh-TW" sz="3400" b="0">
                <a:latin typeface="Arial"/>
                <a:ea typeface="微軟正黑體"/>
                <a:cs typeface="Arial"/>
              </a:rPr>
              <a:t>器上，Flask將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帶有用戶輸入的數據的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request</a:t>
            </a:r>
            <a:r>
              <a:rPr lang="zh-TW" sz="3400" b="0">
                <a:latin typeface="Arial"/>
                <a:ea typeface="微軟正黑體"/>
                <a:cs typeface="Arial"/>
              </a:rPr>
              <a:t>分派到處理註冊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流</a:t>
            </a:r>
            <a:r>
              <a:rPr lang="zh-TW" sz="3400" b="0">
                <a:latin typeface="Arial"/>
                <a:ea typeface="微軟正黑體"/>
                <a:cs typeface="Arial"/>
              </a:rPr>
              <a:t>程的vi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ew函數</a:t>
            </a:r>
            <a:r>
              <a:rPr lang="zh-TW" sz="3400" b="0">
                <a:latin typeface="Arial"/>
                <a:ea typeface="微軟正黑體"/>
                <a:cs typeface="Arial"/>
              </a:rPr>
              <a:t>。</a:t>
            </a:r>
            <a:endParaRPr lang="zh-TW" sz="3400">
              <a:latin typeface="Arial"/>
              <a:ea typeface="微軟正黑體"/>
              <a:cs typeface="Arial"/>
            </a:endParaRPr>
          </a:p>
          <a:p>
            <a:pPr marL="0" indent="0">
              <a:buNone/>
            </a:pPr>
            <a:r>
              <a:rPr lang="zh-TW" sz="3400" b="0">
                <a:latin typeface="Arial"/>
                <a:ea typeface="微軟正黑體"/>
                <a:cs typeface="Arial"/>
              </a:rPr>
              <a:t>此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view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函數</a:t>
            </a:r>
            <a:r>
              <a:rPr lang="zh-TW" sz="3400" b="0">
                <a:latin typeface="Arial"/>
                <a:ea typeface="微軟正黑體"/>
                <a:cs typeface="Arial"/>
              </a:rPr>
              <a:t>需要與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資料</a:t>
            </a:r>
            <a:r>
              <a:rPr lang="zh-TW" sz="3400" b="0">
                <a:latin typeface="Arial"/>
                <a:ea typeface="微軟正黑體"/>
                <a:cs typeface="Arial"/>
              </a:rPr>
              <a:t>庫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連接並選擇適當的表格</a:t>
            </a:r>
            <a:r>
              <a:rPr lang="zh-TW" sz="3400" b="0">
                <a:latin typeface="Arial"/>
                <a:ea typeface="微軟正黑體"/>
                <a:cs typeface="Arial"/>
              </a:rPr>
              <a:t>以添加新用戶，然後生成包含成功或失敗消息的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response</a:t>
            </a:r>
            <a:r>
              <a:rPr lang="zh-TW" sz="3400" b="0">
                <a:latin typeface="Arial"/>
                <a:ea typeface="微軟正黑體"/>
                <a:cs typeface="Arial"/>
              </a:rPr>
              <a:t>以發送回瀏覽器。</a:t>
            </a:r>
          </a:p>
          <a:p>
            <a:pPr marL="457200" indent="-457200"/>
            <a:r>
              <a:rPr lang="zh-TW" altLang="en-US" sz="3400" b="0">
                <a:latin typeface="Arial"/>
                <a:ea typeface="微軟正黑體"/>
                <a:cs typeface="Arial"/>
              </a:rPr>
              <a:t>商業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(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業務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)</a:t>
            </a:r>
            <a:r>
              <a:rPr lang="zh-TW" sz="3400" b="0">
                <a:latin typeface="Arial"/>
                <a:ea typeface="微軟正黑體"/>
                <a:cs typeface="Arial"/>
              </a:rPr>
              <a:t>邏輯⇒與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資料</a:t>
            </a:r>
            <a:r>
              <a:rPr lang="zh-TW" sz="3400" b="0">
                <a:latin typeface="Arial"/>
                <a:ea typeface="微軟正黑體"/>
                <a:cs typeface="Arial"/>
              </a:rPr>
              <a:t>庫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連接並選擇適當的表格</a:t>
            </a:r>
            <a:r>
              <a:rPr lang="zh-TW" sz="3400" b="0">
                <a:latin typeface="Arial"/>
                <a:ea typeface="微軟正黑體"/>
                <a:cs typeface="Arial"/>
              </a:rPr>
              <a:t>以添加新用戶</a:t>
            </a:r>
            <a:endParaRPr lang="zh-TW"/>
          </a:p>
          <a:p>
            <a:pPr marL="457200" indent="-457200"/>
            <a:r>
              <a:rPr lang="zh-TW" altLang="en-US" sz="3400" b="0">
                <a:latin typeface="Arial"/>
                <a:ea typeface="微軟正黑體"/>
                <a:cs typeface="Arial"/>
              </a:rPr>
              <a:t>展</a:t>
            </a:r>
            <a:r>
              <a:rPr lang="zh-TW" sz="3400" b="0">
                <a:latin typeface="Arial"/>
                <a:ea typeface="微軟正黑體"/>
                <a:cs typeface="Arial"/>
              </a:rPr>
              <a:t>示邏輯⇒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包含成功或失敗消息的</a:t>
            </a:r>
            <a:r>
              <a:rPr lang="en-US" sz="3400" b="0">
                <a:latin typeface="Arial"/>
                <a:ea typeface="微軟正黑體"/>
                <a:cs typeface="Arial"/>
              </a:rPr>
              <a:t>response</a:t>
            </a:r>
            <a:r>
              <a:rPr lang="zh-TW" sz="3400" b="0">
                <a:latin typeface="Arial"/>
                <a:ea typeface="微軟正黑體"/>
                <a:cs typeface="Arial"/>
              </a:rPr>
              <a:t>以發送回瀏覽器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  <a:cs typeface="+mj-lt"/>
              </a:rPr>
              <a:t>Template 簡介</a:t>
            </a:r>
            <a:endParaRPr lang="en-US" altLang="zh-TW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E79371-9F01-4287-820D-B77AAA2F0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zh-TW" altLang="en-US" sz="2800" b="0">
                <a:latin typeface="Arial"/>
                <a:ea typeface="微軟正黑體"/>
                <a:cs typeface="Arial"/>
              </a:rPr>
              <a:t>商業</a:t>
            </a:r>
            <a:r>
              <a:rPr lang="en-US" altLang="zh-TW" sz="2800" b="0">
                <a:latin typeface="Arial"/>
                <a:ea typeface="微軟正黑體"/>
                <a:cs typeface="Arial"/>
              </a:rPr>
              <a:t>(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業務</a:t>
            </a:r>
            <a:r>
              <a:rPr lang="en-US" altLang="zh-TW" sz="2800" b="0">
                <a:latin typeface="Arial"/>
                <a:ea typeface="微軟正黑體"/>
                <a:cs typeface="Arial"/>
              </a:rPr>
              <a:t>)</a:t>
            </a:r>
            <a:r>
              <a:rPr lang="zh-TW" sz="2800" b="0">
                <a:latin typeface="Arial"/>
                <a:ea typeface="微軟正黑體"/>
                <a:cs typeface="Arial"/>
              </a:rPr>
              <a:t>邏輯⇒與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資料</a:t>
            </a:r>
            <a:r>
              <a:rPr lang="zh-TW" sz="2800" b="0">
                <a:latin typeface="Arial"/>
                <a:ea typeface="微軟正黑體"/>
                <a:cs typeface="Arial"/>
              </a:rPr>
              <a:t>庫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連接並選擇適當的表格</a:t>
            </a:r>
            <a:r>
              <a:rPr lang="zh-TW" sz="2800" b="0">
                <a:latin typeface="Arial"/>
                <a:ea typeface="微軟正黑體"/>
                <a:cs typeface="Arial"/>
              </a:rPr>
              <a:t>以添加新用戶</a:t>
            </a:r>
            <a:endParaRPr lang="zh-TW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4FE12AFE-F180-4ADA-FA97-D9C6B5972B44}"/>
              </a:ext>
            </a:extLst>
          </p:cNvPr>
          <p:cNvGrpSpPr/>
          <p:nvPr/>
        </p:nvGrpSpPr>
        <p:grpSpPr>
          <a:xfrm>
            <a:off x="775010" y="1945888"/>
            <a:ext cx="10643294" cy="4278761"/>
            <a:chOff x="421888" y="2429107"/>
            <a:chExt cx="10643294" cy="4278761"/>
          </a:xfrm>
        </p:grpSpPr>
        <p:pic>
          <p:nvPicPr>
            <p:cNvPr id="5" name="圖片 7" descr="一張含有 文字 的圖片&#10;&#10;自動產生的描述">
              <a:extLst>
                <a:ext uri="{FF2B5EF4-FFF2-40B4-BE49-F238E27FC236}">
                  <a16:creationId xmlns:a16="http://schemas.microsoft.com/office/drawing/2014/main" id="{01021443-D713-03E3-BC14-64D9E188D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888" y="4359285"/>
              <a:ext cx="6367345" cy="1986599"/>
            </a:xfrm>
            <a:prstGeom prst="rect">
              <a:avLst/>
            </a:prstGeom>
          </p:spPr>
        </p:pic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DB7B4F1E-71E4-52C5-AA03-1A4F19056178}"/>
                </a:ext>
              </a:extLst>
            </p:cNvPr>
            <p:cNvGrpSpPr/>
            <p:nvPr/>
          </p:nvGrpSpPr>
          <p:grpSpPr>
            <a:xfrm>
              <a:off x="8730475" y="2429107"/>
              <a:ext cx="2014398" cy="2141446"/>
              <a:chOff x="8702597" y="1425497"/>
              <a:chExt cx="2014398" cy="2141446"/>
            </a:xfrm>
          </p:grpSpPr>
          <p:pic>
            <p:nvPicPr>
              <p:cNvPr id="12" name="圖片 8">
                <a:extLst>
                  <a:ext uri="{FF2B5EF4-FFF2-40B4-BE49-F238E27FC236}">
                    <a16:creationId xmlns:a16="http://schemas.microsoft.com/office/drawing/2014/main" id="{16B1FD49-C6D4-0295-4316-B2E66D284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4595" y="1425497"/>
                <a:ext cx="1823226" cy="1823225"/>
              </a:xfrm>
              <a:prstGeom prst="rect">
                <a:avLst/>
              </a:prstGeom>
            </p:spPr>
          </p:pic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35B1164-0122-9BAB-83CE-8D13A14A767F}"/>
                  </a:ext>
                </a:extLst>
              </p:cNvPr>
              <p:cNvSpPr txBox="1"/>
              <p:nvPr/>
            </p:nvSpPr>
            <p:spPr>
              <a:xfrm>
                <a:off x="8702597" y="3197611"/>
                <a:ext cx="2014398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zh-TW" altLang="en-US">
                    <a:solidFill>
                      <a:schemeClr val="tx1">
                        <a:lumMod val="75000"/>
                      </a:schemeClr>
                    </a:solidFill>
                    <a:cs typeface="Arial"/>
                  </a:rPr>
                  <a:t>Table for VIP user</a:t>
                </a:r>
                <a:endParaRPr lang="zh-TW" altLang="en-US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0DE2F7D1-8B66-E6D4-FC0D-1F8E23FE4AA1}"/>
                </a:ext>
              </a:extLst>
            </p:cNvPr>
            <p:cNvGrpSpPr/>
            <p:nvPr/>
          </p:nvGrpSpPr>
          <p:grpSpPr>
            <a:xfrm>
              <a:off x="8674719" y="4612887"/>
              <a:ext cx="2390463" cy="2094981"/>
              <a:chOff x="8256548" y="4064619"/>
              <a:chExt cx="2390463" cy="2094981"/>
            </a:xfrm>
          </p:grpSpPr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AEEA1E53-FA7D-E514-1C90-9C16FCA8CF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425" y="4064619"/>
                <a:ext cx="1823226" cy="1823226"/>
              </a:xfrm>
              <a:prstGeom prst="rect">
                <a:avLst/>
              </a:prstGeom>
            </p:spPr>
          </p:pic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D5FDA70-B235-DDCC-60ED-BC3DB19DD727}"/>
                  </a:ext>
                </a:extLst>
              </p:cNvPr>
              <p:cNvSpPr txBox="1"/>
              <p:nvPr/>
            </p:nvSpPr>
            <p:spPr>
              <a:xfrm>
                <a:off x="8256548" y="5790268"/>
                <a:ext cx="2390463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zh-TW" altLang="en-US">
                    <a:solidFill>
                      <a:schemeClr val="tx1">
                        <a:lumMod val="75000"/>
                      </a:schemeClr>
                    </a:solidFill>
                    <a:cs typeface="Arial"/>
                  </a:rPr>
                  <a:t>Table for Normal user</a:t>
                </a:r>
                <a:endParaRPr lang="zh-TW" altLang="en-US" err="1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84A1143D-60A2-6C9A-A13D-8D4D95763AC0}"/>
                </a:ext>
              </a:extLst>
            </p:cNvPr>
            <p:cNvCxnSpPr/>
            <p:nvPr/>
          </p:nvCxnSpPr>
          <p:spPr>
            <a:xfrm flipV="1">
              <a:off x="6770184" y="3428535"/>
              <a:ext cx="1936594" cy="155745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7450C407-668B-ABDD-D65E-1F2BC6CF4190}"/>
                </a:ext>
              </a:extLst>
            </p:cNvPr>
            <p:cNvCxnSpPr>
              <a:cxnSpLocks/>
            </p:cNvCxnSpPr>
            <p:nvPr/>
          </p:nvCxnSpPr>
          <p:spPr>
            <a:xfrm>
              <a:off x="6751598" y="4995282"/>
              <a:ext cx="1918010" cy="44047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045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CBF416-912C-21D8-1579-80B3D216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</a:rPr>
              <a:t>Template </a:t>
            </a:r>
            <a:r>
              <a:rPr lang="zh-TW" altLang="en-US">
                <a:ea typeface="+mj-lt"/>
              </a:rPr>
              <a:t>簡介</a:t>
            </a:r>
            <a:endParaRPr lang="zh-TW" b="0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46A879-5C04-5493-902A-0193FCAB5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zh-TW" b="0">
                <a:latin typeface="Arial"/>
                <a:ea typeface="微軟正黑體"/>
                <a:cs typeface="Arial"/>
              </a:rPr>
              <a:t>展示邏</a:t>
            </a:r>
            <a:r>
              <a:rPr lang="zh-TW" altLang="en-US" b="0">
                <a:latin typeface="Arial"/>
                <a:ea typeface="微軟正黑體"/>
                <a:cs typeface="Arial"/>
              </a:rPr>
              <a:t>輯</a:t>
            </a:r>
            <a:r>
              <a:rPr lang="zh-TW" b="0">
                <a:latin typeface="Arial"/>
                <a:ea typeface="微軟正黑體"/>
                <a:cs typeface="Arial"/>
              </a:rPr>
              <a:t>⇒包含成功或失敗消息的</a:t>
            </a:r>
            <a:r>
              <a:rPr lang="en-US" b="0">
                <a:latin typeface="Arial"/>
                <a:ea typeface="微軟正黑體"/>
                <a:cs typeface="Arial"/>
              </a:rPr>
              <a:t>response</a:t>
            </a:r>
            <a:r>
              <a:rPr lang="zh-TW" b="0">
                <a:latin typeface="Arial"/>
                <a:ea typeface="微軟正黑體"/>
                <a:cs typeface="Arial"/>
              </a:rPr>
              <a:t>以發送回瀏覽器</a:t>
            </a:r>
          </a:p>
          <a:p>
            <a:pPr marL="421640" indent="-421640"/>
            <a:endParaRPr lang="zh-TW" b="0">
              <a:latin typeface="Arial"/>
              <a:ea typeface="微軟正黑體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78FCEFE-06F8-7C92-DF54-DD5F9D2AF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107" y="1713083"/>
            <a:ext cx="3523785" cy="1331686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8" name="圖片 6">
            <a:extLst>
              <a:ext uri="{FF2B5EF4-FFF2-40B4-BE49-F238E27FC236}">
                <a16:creationId xmlns:a16="http://schemas.microsoft.com/office/drawing/2014/main" id="{961BA8A1-8721-6726-853C-C61B18847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107" y="4953308"/>
            <a:ext cx="3523785" cy="1216725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5" name="箭號: 上-下雙向 4">
            <a:extLst>
              <a:ext uri="{FF2B5EF4-FFF2-40B4-BE49-F238E27FC236}">
                <a16:creationId xmlns:a16="http://schemas.microsoft.com/office/drawing/2014/main" id="{848F546C-3759-9843-BD05-67ADF0CC4742}"/>
              </a:ext>
            </a:extLst>
          </p:cNvPr>
          <p:cNvSpPr/>
          <p:nvPr/>
        </p:nvSpPr>
        <p:spPr>
          <a:xfrm>
            <a:off x="5612074" y="3099704"/>
            <a:ext cx="921388" cy="1755127"/>
          </a:xfrm>
          <a:prstGeom prst="upDown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98D1881-BBBB-0C81-64B0-87664186FF27}"/>
              </a:ext>
            </a:extLst>
          </p:cNvPr>
          <p:cNvSpPr txBox="1"/>
          <p:nvPr/>
        </p:nvSpPr>
        <p:spPr>
          <a:xfrm>
            <a:off x="6486291" y="3788626"/>
            <a:ext cx="127068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2800">
                <a:solidFill>
                  <a:schemeClr val="accent4">
                    <a:lumMod val="75000"/>
                  </a:schemeClr>
                </a:solidFill>
                <a:cs typeface="Arial"/>
              </a:rPr>
              <a:t>similar</a:t>
            </a:r>
          </a:p>
        </p:txBody>
      </p:sp>
    </p:spTree>
    <p:extLst>
      <p:ext uri="{BB962C8B-B14F-4D97-AF65-F5344CB8AC3E}">
        <p14:creationId xmlns:p14="http://schemas.microsoft.com/office/powerpoint/2010/main" val="335065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  <a:cs typeface="+mj-lt"/>
              </a:rPr>
              <a:t>Template 簡介</a:t>
            </a:r>
            <a:endParaRPr lang="en-US" altLang="zh-TW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E79371-9F01-4287-820D-B77AAA2F0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zh-TW" altLang="en-US" sz="3200" b="0">
                <a:latin typeface="Arial"/>
                <a:ea typeface="微軟正黑體"/>
                <a:cs typeface="Arial"/>
              </a:rPr>
              <a:t>展</a:t>
            </a:r>
            <a:r>
              <a:rPr lang="zh-TW" sz="3200" b="0">
                <a:latin typeface="Arial"/>
                <a:ea typeface="微軟正黑體"/>
                <a:cs typeface="Arial"/>
              </a:rPr>
              <a:t>示邏輯⇒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包含成功或失敗消息的</a:t>
            </a:r>
            <a:r>
              <a:rPr lang="en-US" sz="3200" b="0">
                <a:latin typeface="Arial"/>
                <a:ea typeface="微軟正黑體"/>
                <a:cs typeface="Arial"/>
              </a:rPr>
              <a:t>response</a:t>
            </a:r>
            <a:r>
              <a:rPr lang="zh-TW" sz="3200" b="0">
                <a:latin typeface="Arial"/>
                <a:ea typeface="微軟正黑體"/>
                <a:cs typeface="Arial"/>
              </a:rPr>
              <a:t>以發送回瀏覽器</a:t>
            </a:r>
            <a:endParaRPr lang="en-US" altLang="zh-TW" sz="3200" b="0">
              <a:latin typeface="Arial"/>
              <a:ea typeface="微軟正黑體"/>
              <a:cs typeface="Arial"/>
            </a:endParaRPr>
          </a:p>
          <a:p>
            <a:pPr marL="914412" lvl="1" indent="-457200"/>
            <a:r>
              <a:rPr lang="zh-TW" altLang="en-US" sz="2800" b="0">
                <a:latin typeface="Arial"/>
                <a:ea typeface="微軟正黑體"/>
                <a:cs typeface="Arial"/>
              </a:rPr>
              <a:t>展示內容受到</a:t>
            </a:r>
            <a:r>
              <a:rPr lang="en-US" altLang="zh-TW" sz="2800" b="0">
                <a:latin typeface="Arial"/>
                <a:ea typeface="微軟正黑體"/>
                <a:cs typeface="Arial"/>
              </a:rPr>
              <a:t>view function 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裡的數值</a:t>
            </a:r>
            <a:r>
              <a:rPr lang="en-US" altLang="zh-TW" sz="2800" b="0">
                <a:latin typeface="Arial"/>
                <a:ea typeface="微軟正黑體"/>
                <a:cs typeface="Arial"/>
              </a:rPr>
              <a:t>(db_enroll_status)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影響</a:t>
            </a:r>
            <a:endParaRPr lang="en-US" altLang="zh-TW" sz="2800" b="0">
              <a:latin typeface="Arial"/>
              <a:ea typeface="微軟正黑體"/>
              <a:cs typeface="Arial"/>
            </a:endParaRPr>
          </a:p>
          <a:p>
            <a:pPr marL="914412" lvl="1" indent="-457200"/>
            <a:endParaRPr lang="zh-TW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25B00A8-32D1-4B72-ACE2-EA58191932D1}"/>
              </a:ext>
            </a:extLst>
          </p:cNvPr>
          <p:cNvGrpSpPr/>
          <p:nvPr/>
        </p:nvGrpSpPr>
        <p:grpSpPr>
          <a:xfrm>
            <a:off x="342900" y="2960491"/>
            <a:ext cx="11506199" cy="3564853"/>
            <a:chOff x="245327" y="2177717"/>
            <a:chExt cx="11506199" cy="3564853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06C4D138-CD8C-586D-F129-8B1162435537}"/>
                </a:ext>
              </a:extLst>
            </p:cNvPr>
            <p:cNvGrpSpPr/>
            <p:nvPr/>
          </p:nvGrpSpPr>
          <p:grpSpPr>
            <a:xfrm>
              <a:off x="245327" y="2177717"/>
              <a:ext cx="11506199" cy="3564853"/>
              <a:chOff x="245327" y="2177717"/>
              <a:chExt cx="11506199" cy="3564853"/>
            </a:xfrm>
          </p:grpSpPr>
          <p:pic>
            <p:nvPicPr>
              <p:cNvPr id="5" name="圖片 7" descr="一張含有 文字 的圖片&#10;&#10;自動產生的描述">
                <a:extLst>
                  <a:ext uri="{FF2B5EF4-FFF2-40B4-BE49-F238E27FC236}">
                    <a16:creationId xmlns:a16="http://schemas.microsoft.com/office/drawing/2014/main" id="{6AEBF98C-7C24-1581-CE52-77F071042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327" y="2993261"/>
                <a:ext cx="6367345" cy="1986599"/>
              </a:xfrm>
              <a:prstGeom prst="rect">
                <a:avLst/>
              </a:prstGeom>
            </p:spPr>
          </p:pic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78667D7A-4CF0-AF7D-69D7-E2C4530E70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7741" y="2177717"/>
                <a:ext cx="3523785" cy="1331686"/>
              </a:xfrm>
              <a:prstGeom prst="rect">
                <a:avLst/>
              </a:prstGeom>
              <a:solidFill>
                <a:srgbClr val="000000">
                  <a:shade val="95000"/>
                </a:srgbClr>
              </a:solidFill>
              <a:ln w="12700" cap="sq">
                <a:solidFill>
                  <a:srgbClr val="000000"/>
                </a:solidFill>
                <a:miter lim="800000"/>
              </a:ln>
              <a:effectLst>
                <a:outerShdw blurRad="254000" dist="190500" dir="2700000" sy="90000" algn="bl" rotWithShape="0">
                  <a:srgbClr val="000000">
                    <a:alpha val="40000"/>
                  </a:srgbClr>
                </a:outerShdw>
              </a:effectLst>
            </p:spPr>
          </p:pic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A33D48D3-2D4E-A84B-5268-C325B35350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27741" y="4525845"/>
                <a:ext cx="3523785" cy="1216725"/>
              </a:xfrm>
              <a:prstGeom prst="rect">
                <a:avLst/>
              </a:prstGeom>
              <a:solidFill>
                <a:srgbClr val="000000">
                  <a:shade val="95000"/>
                </a:srgbClr>
              </a:solidFill>
              <a:ln w="12700" cap="sq">
                <a:solidFill>
                  <a:srgbClr val="000000"/>
                </a:solidFill>
                <a:miter lim="800000"/>
              </a:ln>
              <a:effectLst>
                <a:outerShdw blurRad="254000" dist="190500" dir="2700000" sy="90000" algn="bl" rotWithShape="0">
                  <a:srgbClr val="000000">
                    <a:alpha val="40000"/>
                  </a:srgbClr>
                </a:outerShdw>
              </a:effectLst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7F2FF7CF-980B-1EAD-78F0-AAE74FD37A72}"/>
                  </a:ext>
                </a:extLst>
              </p:cNvPr>
              <p:cNvCxnSpPr/>
              <p:nvPr/>
            </p:nvCxnSpPr>
            <p:spPr>
              <a:xfrm flipV="1">
                <a:off x="5524964" y="2815218"/>
                <a:ext cx="2642838" cy="1408771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9" name="直線單箭頭接點 8">
                <a:extLst>
                  <a:ext uri="{FF2B5EF4-FFF2-40B4-BE49-F238E27FC236}">
                    <a16:creationId xmlns:a16="http://schemas.microsoft.com/office/drawing/2014/main" id="{F37F030C-9BCE-030A-7D46-41C4BFE317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3964" y="4790843"/>
                <a:ext cx="2930912" cy="486936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8C219241-F258-F2D6-62AC-FC246D1A8A92}"/>
                </a:ext>
              </a:extLst>
            </p:cNvPr>
            <p:cNvSpPr/>
            <p:nvPr/>
          </p:nvSpPr>
          <p:spPr>
            <a:xfrm>
              <a:off x="1131849" y="3817434"/>
              <a:ext cx="2642838" cy="28351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153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360DEF-457D-432A-AE8E-7F59AB20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MVC</a:t>
            </a:r>
            <a:endParaRPr lang="zh-TW" altLang="en-US"/>
          </a:p>
        </p:txBody>
      </p:sp>
      <p:pic>
        <p:nvPicPr>
          <p:cNvPr id="1026" name="Picture 2" descr="Model-View-Controller (MVC) Explained – With Legos – Real Python">
            <a:extLst>
              <a:ext uri="{FF2B5EF4-FFF2-40B4-BE49-F238E27FC236}">
                <a16:creationId xmlns:a16="http://schemas.microsoft.com/office/drawing/2014/main" id="{86D7737B-C698-48F2-A923-816923797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180" y="1390404"/>
            <a:ext cx="6943879" cy="442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537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  <a:cs typeface="+mj-lt"/>
              </a:rPr>
              <a:t>Template 簡介</a:t>
            </a:r>
            <a:endParaRPr lang="en-US" altLang="zh-TW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E79371-9F01-4287-820D-B77AAA2F0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將展示邏輯移動到模板中有助於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提高Flask web a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p</a:t>
            </a:r>
            <a:r>
              <a:rPr lang="en-US" altLang="en-US" sz="3400" b="0">
                <a:latin typeface="Arial"/>
                <a:ea typeface="微軟正黑體"/>
                <a:cs typeface="Arial"/>
              </a:rPr>
              <a:t>p</a:t>
            </a:r>
            <a:r>
              <a:rPr lang="zh-TW" sz="3400" b="0">
                <a:latin typeface="Arial"/>
                <a:ea typeface="微軟正黑體"/>
                <a:cs typeface="Arial"/>
              </a:rPr>
              <a:t>的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可維護性</a:t>
            </a:r>
            <a:r>
              <a:rPr lang="zh-TW" sz="3400" b="0">
                <a:latin typeface="Arial"/>
                <a:ea typeface="微軟正黑體"/>
                <a:cs typeface="Arial"/>
              </a:rPr>
              <a:t>。</a:t>
            </a:r>
            <a:endParaRPr lang="zh-TW"/>
          </a:p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模板是一個文件，其中包含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HTML</a:t>
            </a:r>
            <a:r>
              <a:rPr lang="zh-TW" sz="3400" b="0">
                <a:latin typeface="Arial"/>
                <a:ea typeface="微軟正黑體"/>
                <a:cs typeface="Arial"/>
              </a:rPr>
              <a:t>的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程式碼</a:t>
            </a:r>
            <a:r>
              <a:rPr lang="zh-TW" sz="3400" b="0">
                <a:latin typeface="Arial"/>
                <a:ea typeface="微軟正黑體"/>
                <a:cs typeface="Arial"/>
              </a:rPr>
              <a:t>，以及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受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flask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控制</a:t>
            </a:r>
            <a:r>
              <a:rPr lang="zh-TW" sz="3400" b="0">
                <a:latin typeface="Arial"/>
                <a:ea typeface="微軟正黑體"/>
                <a:cs typeface="Arial"/>
              </a:rPr>
              <a:t>的動態變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數</a:t>
            </a:r>
            <a:r>
              <a:rPr lang="zh-TW" sz="3400" b="0">
                <a:latin typeface="Arial"/>
                <a:ea typeface="微軟正黑體"/>
                <a:cs typeface="Arial"/>
              </a:rPr>
              <a:t>。</a:t>
            </a:r>
          </a:p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用實際值替換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動態</a:t>
            </a:r>
            <a:r>
              <a:rPr lang="zh-TW" sz="3400" b="0">
                <a:latin typeface="Arial"/>
                <a:ea typeface="微軟正黑體"/>
                <a:cs typeface="Arial"/>
              </a:rPr>
              <a:t>變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數</a:t>
            </a:r>
            <a:r>
              <a:rPr lang="zh-TW" sz="3400" b="0">
                <a:latin typeface="Arial"/>
                <a:ea typeface="微軟正黑體"/>
                <a:cs typeface="Arial"/>
              </a:rPr>
              <a:t>並返回最終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response</a:t>
            </a:r>
            <a:r>
              <a:rPr lang="zh-TW" sz="3400" b="0">
                <a:latin typeface="Arial"/>
                <a:ea typeface="微軟正黑體"/>
                <a:cs typeface="Arial"/>
              </a:rPr>
              <a:t>字符串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(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一般是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HTML)</a:t>
            </a:r>
            <a:r>
              <a:rPr lang="zh-TW" sz="3400" b="0">
                <a:latin typeface="Arial"/>
                <a:ea typeface="微軟正黑體"/>
                <a:cs typeface="Arial"/>
              </a:rPr>
              <a:t>的過程稱為</a:t>
            </a:r>
            <a:r>
              <a:rPr lang="zh-TW" sz="3400">
                <a:latin typeface="Arial"/>
                <a:ea typeface="微軟正黑體"/>
                <a:cs typeface="Arial"/>
              </a:rPr>
              <a:t>re</a:t>
            </a:r>
            <a:r>
              <a:rPr lang="en-US" altLang="zh-TW" sz="3400" err="1">
                <a:latin typeface="Arial"/>
                <a:ea typeface="微軟正黑體"/>
                <a:cs typeface="Arial"/>
              </a:rPr>
              <a:t>nder</a:t>
            </a:r>
            <a:r>
              <a:rPr lang="zh-TW" sz="3400" b="0">
                <a:latin typeface="Arial"/>
                <a:ea typeface="微軟正黑體"/>
                <a:cs typeface="Arial"/>
              </a:rPr>
              <a:t>。</a:t>
            </a:r>
          </a:p>
          <a:p>
            <a:pPr marL="421640" indent="-421640"/>
            <a:r>
              <a:rPr lang="en-US" altLang="zh-TW" sz="3400" b="0">
                <a:latin typeface="Arial"/>
                <a:ea typeface="微軟正黑體"/>
                <a:cs typeface="Arial"/>
              </a:rPr>
              <a:t>Flask 使用Jinja2作為模板引擎</a:t>
            </a:r>
            <a:endParaRPr lang="zh-TW" sz="3400" b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7763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100" err="1">
                <a:ea typeface="+mj-lt"/>
                <a:cs typeface="+mj-lt"/>
              </a:rPr>
              <a:t>Templ</a:t>
            </a:r>
            <a:r>
              <a:rPr lang="zh-TW" sz="3100">
                <a:ea typeface="+mj-lt"/>
                <a:cs typeface="+mj-lt"/>
              </a:rPr>
              <a:t>ate</a:t>
            </a:r>
            <a:r>
              <a:rPr lang="zh-TW" altLang="en-US" sz="3100">
                <a:ea typeface="+mj-lt"/>
                <a:cs typeface="+mj-lt"/>
              </a:rPr>
              <a:t> 存放位置</a:t>
            </a:r>
            <a:endParaRPr lang="zh-TW"/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5629E39-22BE-423A-B5D5-076D62175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模板的默認目錄稱為</a:t>
            </a:r>
            <a:r>
              <a:rPr lang="zh-TW" sz="3400">
                <a:latin typeface="Arial"/>
                <a:ea typeface="微軟正黑體"/>
                <a:cs typeface="Arial"/>
              </a:rPr>
              <a:t>templates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（與Flask web 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app.py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處於同</a:t>
            </a:r>
            <a:r>
              <a:rPr lang="zh-TW" sz="3400" b="0">
                <a:latin typeface="Arial"/>
                <a:ea typeface="微軟正黑體"/>
                <a:cs typeface="Arial"/>
              </a:rPr>
              <a:t>一層目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錄）</a:t>
            </a:r>
          </a:p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設置模板目錄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:</a:t>
            </a:r>
            <a:endParaRPr lang="zh-TW" altLang="en-US" sz="3400" b="0"/>
          </a:p>
          <a:p>
            <a:pPr marL="878840" lvl="1" indent="-433705">
              <a:buClr>
                <a:srgbClr val="42BBC6"/>
              </a:buClr>
            </a:pPr>
            <a:r>
              <a:rPr lang="en-US" sz="3000" b="0">
                <a:latin typeface="Arial"/>
                <a:ea typeface="微軟正黑體"/>
                <a:cs typeface="Arial"/>
              </a:rPr>
              <a:t>app = FLASK(__name__, </a:t>
            </a:r>
            <a:r>
              <a:rPr lang="en-US" sz="3000" b="0" err="1">
                <a:latin typeface="Arial"/>
                <a:ea typeface="微軟正黑體"/>
                <a:cs typeface="Arial"/>
              </a:rPr>
              <a:t>template_folder</a:t>
            </a:r>
            <a:r>
              <a:rPr lang="en-US" sz="3000" b="0">
                <a:latin typeface="Arial"/>
                <a:ea typeface="微軟正黑體"/>
                <a:cs typeface="Arial"/>
              </a:rPr>
              <a:t>='./')，</a:t>
            </a:r>
            <a:r>
              <a:rPr lang="en-US" sz="3000" b="0" err="1">
                <a:latin typeface="Arial"/>
                <a:ea typeface="微軟正黑體"/>
                <a:cs typeface="Arial"/>
              </a:rPr>
              <a:t>裡面的</a:t>
            </a:r>
            <a:r>
              <a:rPr lang="en-US" sz="3000" b="0">
                <a:latin typeface="Arial"/>
                <a:ea typeface="微軟正黑體"/>
                <a:cs typeface="Arial"/>
              </a:rPr>
              <a:t> </a:t>
            </a:r>
            <a:r>
              <a:rPr lang="en-US" sz="3000" err="1">
                <a:latin typeface="Arial"/>
                <a:ea typeface="微軟正黑體"/>
                <a:cs typeface="Arial"/>
              </a:rPr>
              <a:t>template_folder</a:t>
            </a:r>
            <a:r>
              <a:rPr lang="en-US" sz="3000">
                <a:latin typeface="Arial"/>
                <a:ea typeface="微軟正黑體"/>
                <a:cs typeface="Arial"/>
              </a:rPr>
              <a:t>='./'</a:t>
            </a:r>
            <a:r>
              <a:rPr lang="en-US" sz="3000" b="0">
                <a:latin typeface="Arial"/>
                <a:ea typeface="微軟正黑體"/>
                <a:cs typeface="Arial"/>
              </a:rPr>
              <a:t> </a:t>
            </a:r>
            <a:r>
              <a:rPr lang="en-US" sz="3000" b="0" err="1">
                <a:latin typeface="Arial"/>
                <a:ea typeface="微軟正黑體"/>
                <a:cs typeface="Arial"/>
              </a:rPr>
              <a:t>就是設定</a:t>
            </a:r>
            <a:r>
              <a:rPr lang="en-US" sz="3000" b="0">
                <a:latin typeface="Arial"/>
                <a:ea typeface="微軟正黑體"/>
                <a:cs typeface="Arial"/>
              </a:rPr>
              <a:t> templates </a:t>
            </a:r>
            <a:r>
              <a:rPr lang="zh-TW" altLang="en-US" sz="3000" b="0">
                <a:latin typeface="Arial"/>
                <a:ea typeface="微軟正黑體"/>
                <a:cs typeface="Arial"/>
              </a:rPr>
              <a:t>資料夾位置</a:t>
            </a:r>
            <a:endParaRPr lang="zh-TW" altLang="en-US" sz="3000" b="0"/>
          </a:p>
          <a:p>
            <a:pPr marL="421640" indent="-421640"/>
            <a:endParaRPr lang="zh-TW" altLang="en-US" sz="3400" b="0"/>
          </a:p>
        </p:txBody>
      </p:sp>
    </p:spTree>
    <p:extLst>
      <p:ext uri="{BB962C8B-B14F-4D97-AF65-F5344CB8AC3E}">
        <p14:creationId xmlns:p14="http://schemas.microsoft.com/office/powerpoint/2010/main" val="731008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  <a:cs typeface="+mj-lt"/>
              </a:rPr>
              <a:t>Jinja</a:t>
            </a:r>
            <a:r>
              <a:rPr lang="zh-TW" altLang="en-US">
                <a:ea typeface="+mj-lt"/>
                <a:cs typeface="+mj-lt"/>
              </a:rPr>
              <a:t> </a:t>
            </a:r>
            <a:r>
              <a:rPr lang="en-US" altLang="zh-TW" err="1">
                <a:ea typeface="+mj-lt"/>
                <a:cs typeface="+mj-lt"/>
              </a:rPr>
              <a:t>delimi</a:t>
            </a:r>
            <a:r>
              <a:rPr lang="zh-TW">
                <a:ea typeface="+mj-lt"/>
                <a:cs typeface="+mj-lt"/>
              </a:rPr>
              <a:t>ters</a:t>
            </a:r>
            <a:endParaRPr lang="zh-TW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5EAE18-F06A-4A15-9485-E2A2880BD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sz="3400">
                <a:latin typeface="Arial"/>
                <a:ea typeface="微軟正黑體"/>
                <a:cs typeface="Arial"/>
              </a:rPr>
              <a:t>{% ... %} </a:t>
            </a:r>
            <a:r>
              <a:rPr lang="en-US" sz="3400" b="0">
                <a:latin typeface="Arial"/>
                <a:ea typeface="微軟正黑體"/>
                <a:cs typeface="Arial"/>
              </a:rPr>
              <a:t>for Statements</a:t>
            </a:r>
          </a:p>
          <a:p>
            <a:pPr marL="878840" lvl="1" indent="-433705"/>
            <a:r>
              <a:rPr lang="zh-CN" altLang="en-US" sz="3000" b="0">
                <a:latin typeface="Arial"/>
                <a:ea typeface="微軟正黑體"/>
                <a:cs typeface="Arial"/>
              </a:rPr>
              <a:t>for loop</a:t>
            </a:r>
          </a:p>
          <a:p>
            <a:pPr marL="878840" lvl="1" indent="-433705">
              <a:buClr>
                <a:srgbClr val="42BBC6"/>
              </a:buClr>
            </a:pPr>
            <a:r>
              <a:rPr lang="zh-CN" altLang="en-US" sz="3000" b="0">
                <a:latin typeface="Arial"/>
                <a:ea typeface="微軟正黑體"/>
                <a:cs typeface="Arial"/>
              </a:rPr>
              <a:t>if statement</a:t>
            </a:r>
          </a:p>
          <a:p>
            <a:pPr marL="878840" lvl="1" indent="-433705">
              <a:buClr>
                <a:srgbClr val="42BBC6"/>
              </a:buClr>
            </a:pPr>
            <a:r>
              <a:rPr lang="zh-CN" altLang="en-US" sz="3000" b="0">
                <a:latin typeface="Arial"/>
                <a:ea typeface="微軟正黑體"/>
                <a:cs typeface="Arial"/>
              </a:rPr>
              <a:t>etc.</a:t>
            </a:r>
          </a:p>
          <a:p>
            <a:pPr marL="421640" indent="-421640">
              <a:buClr>
                <a:srgbClr val="E1CB1A"/>
              </a:buClr>
            </a:pPr>
            <a:r>
              <a:rPr lang="en-US" sz="3400">
                <a:latin typeface="Arial"/>
                <a:ea typeface="微軟正黑體"/>
                <a:cs typeface="Arial"/>
              </a:rPr>
              <a:t>{{ ... }} </a:t>
            </a:r>
            <a:r>
              <a:rPr lang="en-US" sz="3400" b="0">
                <a:latin typeface="Arial"/>
                <a:ea typeface="微軟正黑體"/>
                <a:cs typeface="Arial"/>
              </a:rPr>
              <a:t>for Expressions to print to the template output</a:t>
            </a:r>
            <a:endParaRPr lang="zh-CN"/>
          </a:p>
          <a:p>
            <a:pPr marL="878840" lvl="1" indent="-433705"/>
            <a:r>
              <a:rPr lang="zh-CN" altLang="en-US" sz="3000" b="0">
                <a:latin typeface="Arial"/>
                <a:ea typeface="微軟正黑體"/>
                <a:cs typeface="Arial"/>
              </a:rPr>
              <a:t>變數</a:t>
            </a:r>
            <a:endParaRPr lang="en-US" sz="3000" b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CN" altLang="en-US" sz="3000" b="0">
                <a:latin typeface="Arial"/>
                <a:ea typeface="微軟正黑體"/>
                <a:cs typeface="Arial"/>
              </a:rPr>
              <a:t>etc.</a:t>
            </a:r>
          </a:p>
          <a:p>
            <a:pPr marL="421640" indent="-421640"/>
            <a:r>
              <a:rPr lang="en-US" sz="3400">
                <a:latin typeface="Arial"/>
                <a:ea typeface="微軟正黑體"/>
                <a:cs typeface="Arial"/>
              </a:rPr>
              <a:t>{# ... #} </a:t>
            </a:r>
            <a:r>
              <a:rPr lang="en-US" sz="3400" b="0">
                <a:latin typeface="Arial"/>
                <a:ea typeface="微軟正黑體"/>
                <a:cs typeface="Arial"/>
              </a:rPr>
              <a:t>for Comments not included in the template output</a:t>
            </a:r>
          </a:p>
        </p:txBody>
      </p:sp>
    </p:spTree>
    <p:extLst>
      <p:ext uri="{BB962C8B-B14F-4D97-AF65-F5344CB8AC3E}">
        <p14:creationId xmlns:p14="http://schemas.microsoft.com/office/powerpoint/2010/main" val="2793615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+mj-lt"/>
                <a:cs typeface="+mj-lt"/>
              </a:rPr>
              <a:t>Rendering</a:t>
            </a:r>
            <a:r>
              <a:rPr lang="zh-TW" altLang="en-US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Temp</a:t>
            </a:r>
            <a:r>
              <a:rPr lang="zh-TW">
                <a:ea typeface="+mj-lt"/>
                <a:cs typeface="+mj-lt"/>
              </a:rPr>
              <a:t>lates</a:t>
            </a:r>
            <a:endParaRPr lang="zh-TW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58589E7E-C5E1-4AAF-99CE-943834FAE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>
                <a:latin typeface="Arial"/>
                <a:ea typeface="微軟正黑體"/>
                <a:cs typeface="Arial"/>
              </a:rPr>
              <a:t>render_</a:t>
            </a:r>
            <a:r>
              <a:rPr lang="zh-TW" sz="3400">
                <a:latin typeface="Arial"/>
                <a:ea typeface="微軟正黑體"/>
                <a:cs typeface="Arial"/>
              </a:rPr>
              <a:t>template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()</a:t>
            </a:r>
            <a:r>
              <a:rPr lang="zh-TW" sz="3400" b="0">
                <a:latin typeface="Arial"/>
                <a:ea typeface="微軟正黑體"/>
                <a:cs typeface="Arial"/>
              </a:rPr>
              <a:t>將Jinja2模板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引擎與</a:t>
            </a:r>
            <a:r>
              <a:rPr lang="zh-TW" sz="3400" b="0">
                <a:latin typeface="Arial"/>
                <a:ea typeface="微軟正黑體"/>
                <a:cs typeface="Arial"/>
              </a:rPr>
              <a:t>Flask web a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pp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集結在一起。</a:t>
            </a:r>
          </a:p>
          <a:p>
            <a:pPr marL="421640" indent="-421640"/>
            <a:r>
              <a:rPr lang="en-US" altLang="zh-TW" sz="3400" err="1">
                <a:latin typeface="Arial"/>
                <a:ea typeface="微軟正黑體"/>
                <a:cs typeface="Arial"/>
              </a:rPr>
              <a:t>render_template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()</a:t>
            </a:r>
            <a:r>
              <a:rPr lang="zh-TW" sz="3400" b="0">
                <a:latin typeface="Arial"/>
                <a:ea typeface="微軟正黑體"/>
                <a:cs typeface="Arial"/>
              </a:rPr>
              <a:t>將模板的檔名作為其第一個參數。 其他變量都是關鍵字引數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(key word 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arg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)</a:t>
            </a:r>
            <a:r>
              <a:rPr lang="zh-TW" sz="3400" b="0">
                <a:latin typeface="Arial"/>
                <a:ea typeface="微軟正黑體"/>
                <a:cs typeface="Arial"/>
              </a:rPr>
              <a:t>，它們代表模板中引用的變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數</a:t>
            </a:r>
            <a:r>
              <a:rPr lang="zh-TW" sz="3400" b="0">
                <a:latin typeface="Arial"/>
                <a:ea typeface="微軟正黑體"/>
                <a:cs typeface="Arial"/>
              </a:rPr>
              <a:t>的實際值。</a:t>
            </a:r>
            <a:endParaRPr lang="zh-TW" altLang="en-US" sz="3400" b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684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100">
                <a:ea typeface="+mj-lt"/>
                <a:cs typeface="+mj-lt"/>
              </a:rPr>
              <a:t>Jinja2 fi</a:t>
            </a:r>
            <a:r>
              <a:rPr lang="zh-TW" sz="3100">
                <a:ea typeface="+mj-lt"/>
                <a:cs typeface="+mj-lt"/>
              </a:rPr>
              <a:t>lter</a:t>
            </a:r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3EF6C1E8-D516-4F15-BD50-46EBBF80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可以使用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fi</a:t>
            </a:r>
            <a:r>
              <a:rPr lang="zh-TW" sz="3400">
                <a:latin typeface="Arial"/>
                <a:ea typeface="微軟正黑體"/>
                <a:cs typeface="Arial"/>
              </a:rPr>
              <a:t>lter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修改變數，這些過濾器會在</a:t>
            </a:r>
            <a:r>
              <a:rPr lang="zh-TW" sz="3400" b="0">
                <a:latin typeface="Arial"/>
                <a:ea typeface="微軟正黑體"/>
                <a:cs typeface="Arial"/>
              </a:rPr>
              <a:t>變數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名後添加，並以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｜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作為分隔符。</a:t>
            </a:r>
            <a:endParaRPr lang="zh-TW" altLang="en-US"/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1B82AEAF-31F0-4C5C-939E-683A39E4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80" y="1937004"/>
            <a:ext cx="6979920" cy="417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32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</a:t>
            </a:r>
            <a:r>
              <a:rPr lang="en-US" altLang="en-US" b="0">
                <a:ea typeface="+mj-lt"/>
                <a:cs typeface="+mj-lt"/>
              </a:rPr>
              <a:t> if</a:t>
            </a:r>
            <a:endParaRPr lang="zh-TW" altLang="en-US"/>
          </a:p>
        </p:txBody>
      </p:sp>
      <p:pic>
        <p:nvPicPr>
          <p:cNvPr id="4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734B6B97-F00D-410D-9196-48752A5A7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990" y="1796098"/>
            <a:ext cx="4599940" cy="326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44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Jinja2</a:t>
            </a:r>
            <a:r>
              <a:rPr lang="en-US" altLang="en-US">
                <a:ea typeface="+mj-lt"/>
                <a:cs typeface="+mj-lt"/>
              </a:rPr>
              <a:t> for</a:t>
            </a:r>
            <a:endParaRPr lang="zh-TW" altLang="en-US"/>
          </a:p>
        </p:txBody>
      </p:sp>
      <p:pic>
        <p:nvPicPr>
          <p:cNvPr id="3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ECC22170-3A93-45E3-BBA2-6B50BE038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80" y="2190626"/>
            <a:ext cx="6451600" cy="285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19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ea typeface="+mj-lt"/>
                <a:cs typeface="+mj-lt"/>
              </a:rPr>
              <a:t>Jinja2 </a:t>
            </a:r>
            <a:r>
              <a:rPr lang="zh-TW" sz="3100">
                <a:ea typeface="+mj-lt"/>
                <a:cs typeface="+mj-lt"/>
              </a:rPr>
              <a:t>巨集</a:t>
            </a:r>
            <a:endParaRPr lang="zh-TW" altLang="en-US"/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AA42B275-6492-406E-BCAF-AE8C2044D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400" y="83582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sz="3400" b="0">
                <a:latin typeface="Arial"/>
                <a:ea typeface="微軟正黑體"/>
                <a:cs typeface="Arial"/>
              </a:rPr>
              <a:t>Jinja2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 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提供一個功能叫做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巨集</a:t>
            </a:r>
            <a:r>
              <a:rPr lang="en-US" sz="3400" b="0">
                <a:latin typeface="Arial"/>
                <a:ea typeface="微軟正黑體"/>
                <a:cs typeface="Arial"/>
              </a:rPr>
              <a:t>(</a:t>
            </a:r>
            <a:r>
              <a:rPr lang="en-US" altLang="zh-CN" sz="3400" b="0">
                <a:latin typeface="Arial"/>
                <a:ea typeface="微軟正黑體"/>
                <a:cs typeface="Arial"/>
              </a:rPr>
              <a:t>macro)</a:t>
            </a:r>
            <a:r>
              <a:rPr lang="zh-CN" altLang="en-US" sz="3400" b="0">
                <a:latin typeface="Arial"/>
                <a:ea typeface="微軟正黑體"/>
                <a:cs typeface="Arial"/>
              </a:rPr>
              <a:t>，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其實就可以類比成</a:t>
            </a:r>
            <a:r>
              <a:rPr lang="en-US" sz="3400" b="0">
                <a:latin typeface="Arial"/>
                <a:ea typeface="微軟正黑體"/>
                <a:cs typeface="Arial"/>
              </a:rPr>
              <a:t> Python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裡面的函數。當我們發現同一段程式碼會不停的在我們的網頁中重複出現時，就可以考慮使用巨集。</a:t>
            </a: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定義巨集：</a:t>
            </a:r>
          </a:p>
          <a:p>
            <a:pPr marL="421640" indent="-421640"/>
            <a:endParaRPr lang="zh-TW" altLang="en-US" sz="3400" b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3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使用巨集：</a:t>
            </a:r>
            <a:endParaRPr lang="zh-TW" sz="3400" b="0">
              <a:latin typeface="Arial"/>
              <a:ea typeface="微軟正黑體"/>
              <a:cs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ED5654D-9A35-4315-85D7-355062A1FDF2}"/>
              </a:ext>
            </a:extLst>
          </p:cNvPr>
          <p:cNvSpPr txBox="1"/>
          <p:nvPr/>
        </p:nvSpPr>
        <p:spPr>
          <a:xfrm>
            <a:off x="2909703" y="2979457"/>
            <a:ext cx="543450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/>
              <a:t>Jinja2 </a:t>
            </a:r>
            <a:r>
              <a:rPr lang="zh-TW" altLang="en-US" sz="2400"/>
              <a:t>在創造巨集時，則需使用</a:t>
            </a:r>
            <a:endParaRPr lang="en-US" altLang="zh-TW" sz="2400">
              <a:cs typeface="Arial"/>
            </a:endParaRPr>
          </a:p>
          <a:p>
            <a:r>
              <a:rPr lang="en-US" altLang="zh-TW" sz="2400"/>
              <a:t>{% macro </a:t>
            </a:r>
            <a:r>
              <a:rPr lang="zh-TW" altLang="en-US" sz="2400"/>
              <a:t>巨集的名稱</a:t>
            </a:r>
            <a:r>
              <a:rPr lang="en-US" altLang="zh-TW" sz="2400"/>
              <a:t>(</a:t>
            </a:r>
            <a:r>
              <a:rPr lang="zh-TW" altLang="en-US" sz="2400"/>
              <a:t>巨集的參數</a:t>
            </a:r>
            <a:r>
              <a:rPr lang="en-US" altLang="zh-TW" sz="2400"/>
              <a:t>) %}</a:t>
            </a:r>
            <a:endParaRPr lang="en-US" altLang="zh-TW" sz="2400">
              <a:cs typeface="Arial"/>
            </a:endParaRPr>
          </a:p>
          <a:p>
            <a:r>
              <a:rPr lang="zh-TW" altLang="en-US" sz="2400"/>
              <a:t>來開頭，並在巨集結束的地方，用</a:t>
            </a:r>
            <a:endParaRPr lang="en-US" altLang="zh-TW" sz="2400">
              <a:cs typeface="Arial"/>
            </a:endParaRPr>
          </a:p>
          <a:p>
            <a:r>
              <a:rPr lang="en-US" altLang="zh-TW" sz="2400"/>
              <a:t>{% </a:t>
            </a:r>
            <a:r>
              <a:rPr lang="en-US" altLang="zh-TW" sz="2400" err="1"/>
              <a:t>endmacro</a:t>
            </a:r>
            <a:r>
              <a:rPr lang="en-US" altLang="zh-TW" sz="2400"/>
              <a:t> %}</a:t>
            </a:r>
            <a:endParaRPr lang="en-US" altLang="zh-TW" sz="2400"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A0DC11-5AC1-45C1-93C4-C1A995880A63}"/>
              </a:ext>
            </a:extLst>
          </p:cNvPr>
          <p:cNvSpPr txBox="1"/>
          <p:nvPr/>
        </p:nvSpPr>
        <p:spPr>
          <a:xfrm>
            <a:off x="2904699" y="5270310"/>
            <a:ext cx="41328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/>
              <a:t> {{ </a:t>
            </a:r>
            <a:r>
              <a:rPr lang="zh-TW" altLang="en-US" sz="2400">
                <a:ea typeface="+mn-lt"/>
                <a:cs typeface="+mn-lt"/>
              </a:rPr>
              <a:t>巨集的名稱</a:t>
            </a:r>
            <a:r>
              <a:rPr lang="en-US" altLang="zh-TW" sz="2400">
                <a:ea typeface="+mn-lt"/>
                <a:cs typeface="+mn-lt"/>
              </a:rPr>
              <a:t>(</a:t>
            </a:r>
            <a:r>
              <a:rPr lang="zh-TW" altLang="en-US" sz="2400">
                <a:ea typeface="+mn-lt"/>
                <a:cs typeface="+mn-lt"/>
              </a:rPr>
              <a:t>巨集的參數</a:t>
            </a:r>
            <a:r>
              <a:rPr lang="en-US" altLang="zh-TW" sz="2400">
                <a:ea typeface="+mn-lt"/>
                <a:cs typeface="+mn-lt"/>
              </a:rPr>
              <a:t>)</a:t>
            </a:r>
            <a:r>
              <a:rPr lang="en-US" altLang="zh-TW" sz="2400"/>
              <a:t> </a:t>
            </a:r>
            <a:r>
              <a:rPr lang="zh-TW" sz="2400"/>
              <a:t>}}</a:t>
            </a:r>
            <a:endParaRPr lang="zh-TW" altLang="en-US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9932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ea typeface="+mj-lt"/>
                <a:cs typeface="+mj-lt"/>
              </a:rPr>
              <a:t>Jinja2 </a:t>
            </a:r>
            <a:r>
              <a:rPr lang="en-US" altLang="en-US" sz="3100">
                <a:ea typeface="+mj-lt"/>
                <a:cs typeface="+mj-lt"/>
              </a:rPr>
              <a:t>import</a:t>
            </a:r>
            <a:endParaRPr lang="en-US" altLang="zh-TW" sz="3100"/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AA42B275-6492-406E-BCAF-AE8C2044D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400" y="83582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為了讓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macr</a:t>
            </a:r>
            <a:r>
              <a:rPr lang="zh-TW" sz="3400" b="0">
                <a:latin typeface="Arial"/>
                <a:ea typeface="微軟正黑體"/>
                <a:cs typeface="Arial"/>
              </a:rPr>
              <a:t>o(巨集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更容易重複使用，</a:t>
            </a:r>
            <a:r>
              <a:rPr lang="zh-TW" sz="3400" b="0">
                <a:latin typeface="Arial"/>
                <a:ea typeface="微軟正黑體"/>
                <a:cs typeface="Arial"/>
              </a:rPr>
              <a:t>你可以將巨集放在一個獨立的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html</a:t>
            </a:r>
            <a:r>
              <a:rPr lang="zh-TW" sz="3400" b="0">
                <a:latin typeface="Arial"/>
                <a:ea typeface="微軟正黑體"/>
                <a:cs typeface="Arial"/>
              </a:rPr>
              <a:t>檔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案</a:t>
            </a:r>
            <a:r>
              <a:rPr lang="zh-TW" sz="3400" b="0">
                <a:latin typeface="Arial"/>
                <a:ea typeface="微軟正黑體"/>
                <a:cs typeface="Arial"/>
              </a:rPr>
              <a:t>中，讓需要的模板都可以匯入他們。</a:t>
            </a:r>
            <a:endParaRPr lang="zh-TW"/>
          </a:p>
        </p:txBody>
      </p:sp>
      <p:pic>
        <p:nvPicPr>
          <p:cNvPr id="3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D6417BAE-55B2-4D3E-8540-DFFC6792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535" y="2736132"/>
            <a:ext cx="7554035" cy="267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3192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Widescreen</PresentationFormat>
  <Slides>18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2019簡報範本_light</vt:lpstr>
      <vt:lpstr>Template-1</vt:lpstr>
      <vt:lpstr>Template 簡介</vt:lpstr>
      <vt:lpstr>Template 簡介</vt:lpstr>
      <vt:lpstr>Template 簡介</vt:lpstr>
      <vt:lpstr>Template 簡介</vt:lpstr>
      <vt:lpstr>Template 簡介</vt:lpstr>
      <vt:lpstr>Template 簡介</vt:lpstr>
      <vt:lpstr>Template 簡介</vt:lpstr>
      <vt:lpstr>MVC</vt:lpstr>
      <vt:lpstr>Template 簡介</vt:lpstr>
      <vt:lpstr>Template 存放位置</vt:lpstr>
      <vt:lpstr>Jinja delimiters</vt:lpstr>
      <vt:lpstr>Rendering Templates</vt:lpstr>
      <vt:lpstr>Jinja2 filter</vt:lpstr>
      <vt:lpstr>Jinja2 if</vt:lpstr>
      <vt:lpstr>Jinja2 for</vt:lpstr>
      <vt:lpstr>Jinja2 巨集</vt:lpstr>
      <vt:lpstr>Jinja2 import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1</cp:revision>
  <cp:lastPrinted>2019-04-29T05:54:36Z</cp:lastPrinted>
  <dcterms:created xsi:type="dcterms:W3CDTF">2019-04-17T09:27:11Z</dcterms:created>
  <dcterms:modified xsi:type="dcterms:W3CDTF">2026-06-07T07:26:11Z</dcterms:modified>
  <cp:category>淺色</cp:category>
</cp:coreProperties>
</file>